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4"/>
    <p:restoredTop sz="94694"/>
  </p:normalViewPr>
  <p:slideViewPr>
    <p:cSldViewPr>
      <p:cViewPr varScale="1">
        <p:scale>
          <a:sx n="121" d="100"/>
          <a:sy n="121" d="100"/>
        </p:scale>
        <p:origin x="28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50172" y="2484967"/>
            <a:ext cx="5708650" cy="11294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125914" y="3831167"/>
            <a:ext cx="5940171" cy="883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738" y="558796"/>
            <a:ext cx="11272522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17887"/>
            <a:ext cx="9537065" cy="3712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277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6119" y="962342"/>
            <a:ext cx="5193093" cy="4659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0203" y="2315624"/>
            <a:ext cx="6648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310" dirty="0">
                <a:latin typeface="Liberation Sans Narrow"/>
                <a:cs typeface="Liberation Sans Narrow"/>
              </a:rPr>
              <a:t>AI</a:t>
            </a:r>
            <a:r>
              <a:rPr sz="7200" spc="180" dirty="0">
                <a:latin typeface="Liberation Sans Narrow"/>
                <a:cs typeface="Liberation Sans Narrow"/>
              </a:rPr>
              <a:t> </a:t>
            </a:r>
            <a:r>
              <a:rPr sz="7200" spc="1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Governance</a:t>
            </a:r>
            <a:endParaRPr sz="7200" dirty="0">
              <a:latin typeface="Liberation Sans Narrow"/>
              <a:cs typeface="Liberation Sans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0" y="3352800"/>
            <a:ext cx="4689475" cy="101346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75"/>
              </a:spcBef>
            </a:pPr>
            <a:r>
              <a:rPr sz="2800" b="1" spc="7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Óscar</a:t>
            </a:r>
            <a:r>
              <a:rPr sz="2800" b="1" spc="-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400" b="1" spc="70" dirty="0">
                <a:latin typeface="Liberation Sans Narrow"/>
                <a:cs typeface="Liberation Sans Narrow"/>
              </a:rPr>
              <a:t>Lara-</a:t>
            </a:r>
            <a:r>
              <a:rPr sz="2400" b="1" spc="75" dirty="0">
                <a:latin typeface="Liberation Sans Narrow"/>
                <a:cs typeface="Liberation Sans Narrow"/>
              </a:rPr>
              <a:t>Yejas,</a:t>
            </a:r>
            <a:r>
              <a:rPr sz="2400" b="1" spc="-30" dirty="0">
                <a:latin typeface="Liberation Sans Narrow"/>
                <a:cs typeface="Liberation Sans Narrow"/>
              </a:rPr>
              <a:t> </a:t>
            </a:r>
            <a:r>
              <a:rPr sz="2400" b="1" spc="114" dirty="0">
                <a:latin typeface="Liberation Sans Narrow"/>
                <a:cs typeface="Liberation Sans Narrow"/>
              </a:rPr>
              <a:t>Ph.D.</a:t>
            </a:r>
            <a:endParaRPr sz="2400" dirty="0">
              <a:latin typeface="Liberation Sans Narrow"/>
              <a:cs typeface="Liberation Sans Narrow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2000" spc="9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Principal</a:t>
            </a:r>
            <a:r>
              <a:rPr sz="2000" spc="-14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10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AI</a:t>
            </a:r>
            <a:r>
              <a:rPr sz="2000" spc="-4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8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Engineer,</a:t>
            </a:r>
            <a:r>
              <a:rPr sz="2000" spc="-4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125" dirty="0">
                <a:solidFill>
                  <a:srgbClr val="7F7F7F"/>
                </a:solidFill>
                <a:latin typeface="Liberation Sans Narrow"/>
                <a:cs typeface="Liberation Sans Narrow"/>
              </a:rPr>
              <a:t>IBM</a:t>
            </a:r>
            <a:r>
              <a:rPr sz="2000" spc="-13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10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Client</a:t>
            </a:r>
            <a:r>
              <a:rPr sz="2000" spc="-4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9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Engineering</a:t>
            </a:r>
            <a:endParaRPr sz="2000" dirty="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75000" y="1794941"/>
            <a:ext cx="5825490" cy="4689475"/>
            <a:chOff x="3175000" y="1794941"/>
            <a:chExt cx="5825490" cy="4689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2727" y="2017534"/>
              <a:ext cx="3197650" cy="446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5000" y="1794941"/>
              <a:ext cx="2480729" cy="20743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1270" y="3048000"/>
              <a:ext cx="1828800" cy="163407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000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100"/>
              </a:spcBef>
            </a:pPr>
            <a:r>
              <a:rPr sz="3600" spc="-120" dirty="0">
                <a:latin typeface="Trebuchet MS"/>
                <a:cs typeface="Trebuchet MS"/>
              </a:rPr>
              <a:t>Let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10" dirty="0">
                <a:latin typeface="Trebuchet MS"/>
                <a:cs typeface="Trebuchet MS"/>
              </a:rPr>
              <a:t>me</a:t>
            </a:r>
            <a:r>
              <a:rPr sz="3600" spc="-345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tell</a:t>
            </a:r>
            <a:r>
              <a:rPr sz="3600" spc="-330" dirty="0">
                <a:latin typeface="Trebuchet MS"/>
                <a:cs typeface="Trebuchet MS"/>
              </a:rPr>
              <a:t> </a:t>
            </a:r>
            <a:r>
              <a:rPr sz="3600" spc="-70" dirty="0">
                <a:latin typeface="Trebuchet MS"/>
                <a:cs typeface="Trebuchet MS"/>
              </a:rPr>
              <a:t>you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50" dirty="0">
                <a:latin typeface="Trebuchet MS"/>
                <a:cs typeface="Trebuchet MS"/>
              </a:rPr>
              <a:t>the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05" dirty="0">
                <a:latin typeface="Trebuchet MS"/>
                <a:cs typeface="Trebuchet MS"/>
              </a:rPr>
              <a:t>story</a:t>
            </a:r>
            <a:r>
              <a:rPr sz="3600" spc="-345" dirty="0">
                <a:latin typeface="Trebuchet MS"/>
                <a:cs typeface="Trebuchet MS"/>
              </a:rPr>
              <a:t> </a:t>
            </a:r>
            <a:r>
              <a:rPr sz="3600" spc="-105" dirty="0">
                <a:latin typeface="Trebuchet MS"/>
                <a:cs typeface="Trebuchet MS"/>
              </a:rPr>
              <a:t>of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0000"/>
                </a:solidFill>
                <a:latin typeface="Trebuchet MS"/>
                <a:cs typeface="Trebuchet MS"/>
              </a:rPr>
              <a:t>María…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7690" y="935786"/>
            <a:ext cx="3449294" cy="344610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03082" y="4354037"/>
            <a:ext cx="9677400" cy="143129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580"/>
              </a:spcBef>
            </a:pPr>
            <a:r>
              <a:rPr sz="2800" spc="-50" dirty="0">
                <a:latin typeface="Trebuchet MS"/>
                <a:cs typeface="Trebuchet MS"/>
              </a:rPr>
              <a:t>María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brilliant</a:t>
            </a:r>
            <a:r>
              <a:rPr sz="2800" spc="-390" dirty="0"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AI</a:t>
            </a:r>
            <a:r>
              <a:rPr sz="2800" spc="-25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rebuchet MS"/>
                <a:cs typeface="Trebuchet MS"/>
              </a:rPr>
              <a:t>Engineer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3600" spc="-100" dirty="0">
                <a:latin typeface="Trebuchet MS"/>
                <a:cs typeface="Trebuchet MS"/>
              </a:rPr>
              <a:t>and</a:t>
            </a:r>
            <a:r>
              <a:rPr sz="3600" spc="-315" dirty="0">
                <a:latin typeface="Trebuchet MS"/>
                <a:cs typeface="Trebuchet MS"/>
              </a:rPr>
              <a:t> </a:t>
            </a:r>
            <a:r>
              <a:rPr sz="3600" spc="-130" dirty="0">
                <a:latin typeface="Trebuchet MS"/>
                <a:cs typeface="Trebuchet MS"/>
              </a:rPr>
              <a:t>builds</a:t>
            </a:r>
            <a:r>
              <a:rPr sz="3600" spc="-310" dirty="0">
                <a:latin typeface="Trebuchet MS"/>
                <a:cs typeface="Trebuchet MS"/>
              </a:rPr>
              <a:t> </a:t>
            </a:r>
            <a:r>
              <a:rPr sz="3600" spc="-145" dirty="0">
                <a:solidFill>
                  <a:srgbClr val="FF0000"/>
                </a:solidFill>
                <a:latin typeface="Trebuchet MS"/>
                <a:cs typeface="Trebuchet MS"/>
              </a:rPr>
              <a:t>generative</a:t>
            </a:r>
            <a:r>
              <a:rPr sz="3600" spc="-3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latin typeface="Trebuchet MS"/>
                <a:cs typeface="Trebuchet MS"/>
              </a:rPr>
              <a:t>and</a:t>
            </a:r>
            <a:r>
              <a:rPr sz="3600" spc="-315" dirty="0">
                <a:latin typeface="Trebuchet MS"/>
                <a:cs typeface="Trebuchet MS"/>
              </a:rPr>
              <a:t> </a:t>
            </a:r>
            <a:r>
              <a:rPr sz="3600" spc="-180" dirty="0">
                <a:solidFill>
                  <a:srgbClr val="FF0000"/>
                </a:solidFill>
                <a:latin typeface="Trebuchet MS"/>
                <a:cs typeface="Trebuchet MS"/>
              </a:rPr>
              <a:t>predictive</a:t>
            </a:r>
            <a:r>
              <a:rPr sz="3600" spc="-4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AI</a:t>
            </a:r>
            <a:r>
              <a:rPr sz="3600" spc="-305" dirty="0">
                <a:latin typeface="Trebuchet MS"/>
                <a:cs typeface="Trebuchet MS"/>
              </a:rPr>
              <a:t> </a:t>
            </a:r>
            <a:r>
              <a:rPr sz="3600" spc="-100" dirty="0">
                <a:latin typeface="Trebuchet MS"/>
                <a:cs typeface="Trebuchet MS"/>
              </a:rPr>
              <a:t>applications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95070" y="0"/>
            <a:ext cx="3276600" cy="2074545"/>
            <a:chOff x="7095070" y="0"/>
            <a:chExt cx="3276600" cy="20745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5529" y="0"/>
              <a:ext cx="2506129" cy="1625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5070" y="474129"/>
              <a:ext cx="973667" cy="1600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8414" y="503763"/>
            <a:ext cx="2713990" cy="88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latin typeface="Trebuchet MS"/>
                <a:cs typeface="Trebuchet MS"/>
              </a:rPr>
              <a:t>Her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team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has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built</a:t>
            </a:r>
            <a:endParaRPr sz="2800">
              <a:latin typeface="Trebuchet MS"/>
              <a:cs typeface="Trebuchet MS"/>
            </a:endParaRPr>
          </a:p>
          <a:p>
            <a:pPr marL="83820">
              <a:lnSpc>
                <a:spcPct val="100000"/>
              </a:lnSpc>
              <a:spcBef>
                <a:spcPts val="40"/>
              </a:spcBef>
            </a:pPr>
            <a:r>
              <a:rPr sz="2800" b="1" spc="140" dirty="0">
                <a:latin typeface="Liberation Sans Narrow"/>
                <a:cs typeface="Liberation Sans Narrow"/>
              </a:rPr>
              <a:t>prototypes</a:t>
            </a:r>
            <a:r>
              <a:rPr sz="2800" b="1" spc="-50" dirty="0">
                <a:latin typeface="Liberation Sans Narrow"/>
                <a:cs typeface="Liberation Sans Narrow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for: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5744" y="613829"/>
            <a:ext cx="2736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80" dirty="0">
                <a:latin typeface="Trebuchet MS"/>
                <a:cs typeface="Trebuchet MS"/>
              </a:rPr>
              <a:t>Summarization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2688" y="1875366"/>
            <a:ext cx="1507112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RAG</a:t>
            </a:r>
            <a:endParaRPr sz="4800" dirty="0">
              <a:latin typeface="Liberation Sans Narrow"/>
              <a:cs typeface="Liberation Sans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151" y="5490625"/>
            <a:ext cx="36556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50" dirty="0">
                <a:latin typeface="Liberation Sans Narrow"/>
                <a:cs typeface="Liberation Sans Narrow"/>
              </a:rPr>
              <a:t>Code</a:t>
            </a:r>
            <a:r>
              <a:rPr sz="4000" b="1" spc="-95" dirty="0">
                <a:latin typeface="Liberation Sans Narrow"/>
                <a:cs typeface="Liberation Sans Narrow"/>
              </a:rPr>
              <a:t> </a:t>
            </a:r>
            <a:r>
              <a:rPr sz="4000" b="1" spc="19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generation</a:t>
            </a:r>
            <a:endParaRPr sz="4000">
              <a:latin typeface="Liberation Sans Narrow"/>
              <a:cs typeface="Liberation Sans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01317" y="5499096"/>
            <a:ext cx="34391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5" dirty="0">
                <a:latin typeface="Trebuchet MS"/>
                <a:cs typeface="Trebuchet MS"/>
              </a:rPr>
              <a:t>Predictive</a:t>
            </a:r>
            <a:r>
              <a:rPr sz="3200" b="1" spc="-260" dirty="0">
                <a:latin typeface="Trebuchet MS"/>
                <a:cs typeface="Trebuchet MS"/>
              </a:rPr>
              <a:t> </a:t>
            </a:r>
            <a:r>
              <a:rPr sz="3200" b="1" spc="-85" dirty="0">
                <a:latin typeface="Trebuchet MS"/>
                <a:cs typeface="Trebuchet MS"/>
              </a:rPr>
              <a:t>analytics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4773" y="681563"/>
            <a:ext cx="5387340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15"/>
              </a:lnSpc>
              <a:spcBef>
                <a:spcPts val="100"/>
              </a:spcBef>
            </a:pPr>
            <a:r>
              <a:rPr sz="2800" spc="-50" dirty="0">
                <a:latin typeface="Trebuchet MS"/>
                <a:cs typeface="Trebuchet MS"/>
              </a:rPr>
              <a:t>Management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wants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to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b="1" spc="13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go</a:t>
            </a:r>
            <a:r>
              <a:rPr sz="2800" b="1" spc="-4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b="1" spc="21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to</a:t>
            </a:r>
            <a:r>
              <a:rPr sz="2800" b="1" spc="-3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b="1" spc="18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market</a:t>
            </a:r>
            <a:endParaRPr sz="2800">
              <a:latin typeface="Liberation Sans Narrow"/>
              <a:cs typeface="Liberation Sans Narrow"/>
            </a:endParaRPr>
          </a:p>
          <a:p>
            <a:pPr marR="5080" algn="r">
              <a:lnSpc>
                <a:spcPts val="5235"/>
              </a:lnSpc>
            </a:pPr>
            <a:r>
              <a:rPr sz="4400" b="1" spc="20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ASAP</a:t>
            </a:r>
            <a:endParaRPr sz="4400">
              <a:latin typeface="Liberation Sans Narrow"/>
              <a:cs typeface="Liberation Sans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1385" y="1028696"/>
            <a:ext cx="3519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latin typeface="Trebuchet MS"/>
                <a:cs typeface="Trebuchet MS"/>
              </a:rPr>
              <a:t>Results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are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promising</a:t>
            </a:r>
            <a:r>
              <a:rPr sz="2800" spc="-10" dirty="0">
                <a:latin typeface="Trebuchet MS"/>
                <a:cs typeface="Trebuchet MS"/>
              </a:rPr>
              <a:t>!!!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2311" y="2218947"/>
            <a:ext cx="4531931" cy="43513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9658" y="2218956"/>
            <a:ext cx="3064471" cy="3064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6288" y="1875367"/>
            <a:ext cx="5450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60" dirty="0">
                <a:latin typeface="Trebuchet MS"/>
                <a:cs typeface="Trebuchet MS"/>
              </a:rPr>
              <a:t>many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b="1" spc="8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challenges</a:t>
            </a:r>
            <a:r>
              <a:rPr sz="2800" b="1" spc="-5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to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go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to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production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7969" y="3619496"/>
            <a:ext cx="222203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4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Risks!!!</a:t>
            </a:r>
            <a:endParaRPr sz="4400" dirty="0">
              <a:latin typeface="Liberation Sans Narrow"/>
              <a:cs typeface="Liberation Sans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4565" y="1000099"/>
            <a:ext cx="3189880" cy="44663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9116"/>
            <a:ext cx="11992610" cy="5878830"/>
            <a:chOff x="0" y="979116"/>
            <a:chExt cx="11992610" cy="5878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79116"/>
              <a:ext cx="11992131" cy="58784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061" y="1346984"/>
              <a:ext cx="5864019" cy="8293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6166" y="1354767"/>
              <a:ext cx="5855970" cy="816610"/>
            </a:xfrm>
            <a:custGeom>
              <a:avLst/>
              <a:gdLst/>
              <a:ahLst/>
              <a:cxnLst/>
              <a:rect l="l" t="t" r="r" b="b"/>
              <a:pathLst>
                <a:path w="5855970" h="816610">
                  <a:moveTo>
                    <a:pt x="2328" y="10190"/>
                  </a:moveTo>
                  <a:lnTo>
                    <a:pt x="54743" y="14156"/>
                  </a:lnTo>
                  <a:lnTo>
                    <a:pt x="108480" y="16216"/>
                  </a:lnTo>
                  <a:lnTo>
                    <a:pt x="163191" y="16680"/>
                  </a:lnTo>
                  <a:lnTo>
                    <a:pt x="218526" y="15857"/>
                  </a:lnTo>
                  <a:lnTo>
                    <a:pt x="274136" y="14056"/>
                  </a:lnTo>
                  <a:lnTo>
                    <a:pt x="329671" y="11585"/>
                  </a:lnTo>
                  <a:lnTo>
                    <a:pt x="384781" y="8754"/>
                  </a:lnTo>
                  <a:lnTo>
                    <a:pt x="439117" y="5870"/>
                  </a:lnTo>
                  <a:lnTo>
                    <a:pt x="492329" y="3245"/>
                  </a:lnTo>
                  <a:lnTo>
                    <a:pt x="544069" y="1185"/>
                  </a:lnTo>
                  <a:lnTo>
                    <a:pt x="593985" y="0"/>
                  </a:lnTo>
                  <a:lnTo>
                    <a:pt x="641730" y="0"/>
                  </a:lnTo>
                  <a:lnTo>
                    <a:pt x="686954" y="1492"/>
                  </a:lnTo>
                  <a:lnTo>
                    <a:pt x="729306" y="4785"/>
                  </a:lnTo>
                  <a:lnTo>
                    <a:pt x="768437" y="10190"/>
                  </a:lnTo>
                  <a:lnTo>
                    <a:pt x="810826" y="16206"/>
                  </a:lnTo>
                  <a:lnTo>
                    <a:pt x="857357" y="20349"/>
                  </a:lnTo>
                  <a:lnTo>
                    <a:pt x="907310" y="22855"/>
                  </a:lnTo>
                  <a:lnTo>
                    <a:pt x="959961" y="23961"/>
                  </a:lnTo>
                  <a:lnTo>
                    <a:pt x="1014590" y="23906"/>
                  </a:lnTo>
                  <a:lnTo>
                    <a:pt x="1070474" y="22925"/>
                  </a:lnTo>
                  <a:lnTo>
                    <a:pt x="1126892" y="21255"/>
                  </a:lnTo>
                  <a:lnTo>
                    <a:pt x="1183121" y="19133"/>
                  </a:lnTo>
                  <a:lnTo>
                    <a:pt x="1238441" y="16797"/>
                  </a:lnTo>
                  <a:lnTo>
                    <a:pt x="1292128" y="14483"/>
                  </a:lnTo>
                  <a:lnTo>
                    <a:pt x="1343461" y="12429"/>
                  </a:lnTo>
                  <a:lnTo>
                    <a:pt x="1391719" y="10870"/>
                  </a:lnTo>
                  <a:lnTo>
                    <a:pt x="1436178" y="10045"/>
                  </a:lnTo>
                  <a:lnTo>
                    <a:pt x="1476119" y="10190"/>
                  </a:lnTo>
                  <a:lnTo>
                    <a:pt x="1516646" y="10845"/>
                  </a:lnTo>
                  <a:lnTo>
                    <a:pt x="1557771" y="11299"/>
                  </a:lnTo>
                  <a:lnTo>
                    <a:pt x="1599757" y="11577"/>
                  </a:lnTo>
                  <a:lnTo>
                    <a:pt x="1642871" y="11705"/>
                  </a:lnTo>
                  <a:lnTo>
                    <a:pt x="1687376" y="11706"/>
                  </a:lnTo>
                  <a:lnTo>
                    <a:pt x="1733539" y="11607"/>
                  </a:lnTo>
                  <a:lnTo>
                    <a:pt x="1781625" y="11433"/>
                  </a:lnTo>
                  <a:lnTo>
                    <a:pt x="1831898" y="11207"/>
                  </a:lnTo>
                  <a:lnTo>
                    <a:pt x="1884624" y="10955"/>
                  </a:lnTo>
                  <a:lnTo>
                    <a:pt x="1940068" y="10703"/>
                  </a:lnTo>
                  <a:lnTo>
                    <a:pt x="1998495" y="10475"/>
                  </a:lnTo>
                  <a:lnTo>
                    <a:pt x="2060170" y="10295"/>
                  </a:lnTo>
                  <a:lnTo>
                    <a:pt x="2125359" y="10190"/>
                  </a:lnTo>
                  <a:lnTo>
                    <a:pt x="2188819" y="9881"/>
                  </a:lnTo>
                  <a:lnTo>
                    <a:pt x="2245880" y="9157"/>
                  </a:lnTo>
                  <a:lnTo>
                    <a:pt x="2297673" y="8146"/>
                  </a:lnTo>
                  <a:lnTo>
                    <a:pt x="2345329" y="6975"/>
                  </a:lnTo>
                  <a:lnTo>
                    <a:pt x="2389978" y="5771"/>
                  </a:lnTo>
                  <a:lnTo>
                    <a:pt x="2432751" y="4661"/>
                  </a:lnTo>
                  <a:lnTo>
                    <a:pt x="2474778" y="3772"/>
                  </a:lnTo>
                  <a:lnTo>
                    <a:pt x="2517191" y="3231"/>
                  </a:lnTo>
                  <a:lnTo>
                    <a:pt x="2561120" y="3165"/>
                  </a:lnTo>
                  <a:lnTo>
                    <a:pt x="2607695" y="3700"/>
                  </a:lnTo>
                  <a:lnTo>
                    <a:pt x="2658048" y="4965"/>
                  </a:lnTo>
                  <a:lnTo>
                    <a:pt x="2713310" y="7086"/>
                  </a:lnTo>
                  <a:lnTo>
                    <a:pt x="2774609" y="10190"/>
                  </a:lnTo>
                  <a:lnTo>
                    <a:pt x="2831231" y="12760"/>
                  </a:lnTo>
                  <a:lnTo>
                    <a:pt x="2888705" y="14270"/>
                  </a:lnTo>
                  <a:lnTo>
                    <a:pt x="2946653" y="14881"/>
                  </a:lnTo>
                  <a:lnTo>
                    <a:pt x="3004695" y="14753"/>
                  </a:lnTo>
                  <a:lnTo>
                    <a:pt x="3062451" y="14044"/>
                  </a:lnTo>
                  <a:lnTo>
                    <a:pt x="3119541" y="12914"/>
                  </a:lnTo>
                  <a:lnTo>
                    <a:pt x="3175585" y="11524"/>
                  </a:lnTo>
                  <a:lnTo>
                    <a:pt x="3230203" y="10033"/>
                  </a:lnTo>
                  <a:lnTo>
                    <a:pt x="3283017" y="8601"/>
                  </a:lnTo>
                  <a:lnTo>
                    <a:pt x="3333645" y="7388"/>
                  </a:lnTo>
                  <a:lnTo>
                    <a:pt x="3381709" y="6553"/>
                  </a:lnTo>
                  <a:lnTo>
                    <a:pt x="3426828" y="6256"/>
                  </a:lnTo>
                  <a:lnTo>
                    <a:pt x="3468623" y="6656"/>
                  </a:lnTo>
                  <a:lnTo>
                    <a:pt x="3506713" y="7914"/>
                  </a:lnTo>
                  <a:lnTo>
                    <a:pt x="3540720" y="10190"/>
                  </a:lnTo>
                  <a:lnTo>
                    <a:pt x="3576963" y="12944"/>
                  </a:lnTo>
                  <a:lnTo>
                    <a:pt x="3617178" y="15148"/>
                  </a:lnTo>
                  <a:lnTo>
                    <a:pt x="3660922" y="16832"/>
                  </a:lnTo>
                  <a:lnTo>
                    <a:pt x="3707752" y="18029"/>
                  </a:lnTo>
                  <a:lnTo>
                    <a:pt x="3757225" y="18771"/>
                  </a:lnTo>
                  <a:lnTo>
                    <a:pt x="3808899" y="19089"/>
                  </a:lnTo>
                  <a:lnTo>
                    <a:pt x="3862331" y="19015"/>
                  </a:lnTo>
                  <a:lnTo>
                    <a:pt x="3917079" y="18581"/>
                  </a:lnTo>
                  <a:lnTo>
                    <a:pt x="3972698" y="17819"/>
                  </a:lnTo>
                  <a:lnTo>
                    <a:pt x="4028748" y="16759"/>
                  </a:lnTo>
                  <a:lnTo>
                    <a:pt x="4084785" y="15435"/>
                  </a:lnTo>
                  <a:lnTo>
                    <a:pt x="4140366" y="13878"/>
                  </a:lnTo>
                  <a:lnTo>
                    <a:pt x="4195049" y="12119"/>
                  </a:lnTo>
                  <a:lnTo>
                    <a:pt x="4248390" y="10190"/>
                  </a:lnTo>
                  <a:lnTo>
                    <a:pt x="4322924" y="8233"/>
                  </a:lnTo>
                  <a:lnTo>
                    <a:pt x="4385084" y="8186"/>
                  </a:lnTo>
                  <a:lnTo>
                    <a:pt x="4437831" y="9442"/>
                  </a:lnTo>
                  <a:lnTo>
                    <a:pt x="4484123" y="11389"/>
                  </a:lnTo>
                  <a:lnTo>
                    <a:pt x="4526919" y="13420"/>
                  </a:lnTo>
                  <a:lnTo>
                    <a:pt x="4569180" y="14924"/>
                  </a:lnTo>
                  <a:lnTo>
                    <a:pt x="4613864" y="15294"/>
                  </a:lnTo>
                  <a:lnTo>
                    <a:pt x="4663931" y="13919"/>
                  </a:lnTo>
                  <a:lnTo>
                    <a:pt x="4722341" y="10190"/>
                  </a:lnTo>
                  <a:lnTo>
                    <a:pt x="4749660" y="8494"/>
                  </a:lnTo>
                  <a:lnTo>
                    <a:pt x="4779573" y="7529"/>
                  </a:lnTo>
                  <a:lnTo>
                    <a:pt x="4812029" y="7210"/>
                  </a:lnTo>
                  <a:lnTo>
                    <a:pt x="4846979" y="7451"/>
                  </a:lnTo>
                  <a:lnTo>
                    <a:pt x="4924160" y="9272"/>
                  </a:lnTo>
                  <a:lnTo>
                    <a:pt x="4966291" y="10681"/>
                  </a:lnTo>
                  <a:lnTo>
                    <a:pt x="5010716" y="12308"/>
                  </a:lnTo>
                  <a:lnTo>
                    <a:pt x="5057385" y="14069"/>
                  </a:lnTo>
                  <a:lnTo>
                    <a:pt x="5106248" y="15877"/>
                  </a:lnTo>
                  <a:lnTo>
                    <a:pt x="5157255" y="17647"/>
                  </a:lnTo>
                  <a:lnTo>
                    <a:pt x="5210355" y="19294"/>
                  </a:lnTo>
                  <a:lnTo>
                    <a:pt x="5265500" y="20732"/>
                  </a:lnTo>
                  <a:lnTo>
                    <a:pt x="5322639" y="21876"/>
                  </a:lnTo>
                  <a:lnTo>
                    <a:pt x="5381722" y="22641"/>
                  </a:lnTo>
                  <a:lnTo>
                    <a:pt x="5442699" y="22941"/>
                  </a:lnTo>
                  <a:lnTo>
                    <a:pt x="5505520" y="22690"/>
                  </a:lnTo>
                  <a:lnTo>
                    <a:pt x="5570135" y="21803"/>
                  </a:lnTo>
                  <a:lnTo>
                    <a:pt x="5636495" y="20195"/>
                  </a:lnTo>
                  <a:lnTo>
                    <a:pt x="5704550" y="17781"/>
                  </a:lnTo>
                  <a:lnTo>
                    <a:pt x="5774248" y="14474"/>
                  </a:lnTo>
                  <a:lnTo>
                    <a:pt x="5845541" y="10190"/>
                  </a:lnTo>
                  <a:lnTo>
                    <a:pt x="5846322" y="58181"/>
                  </a:lnTo>
                  <a:lnTo>
                    <a:pt x="5845873" y="108838"/>
                  </a:lnTo>
                  <a:lnTo>
                    <a:pt x="5844697" y="161323"/>
                  </a:lnTo>
                  <a:lnTo>
                    <a:pt x="5843299" y="214795"/>
                  </a:lnTo>
                  <a:lnTo>
                    <a:pt x="5842180" y="268418"/>
                  </a:lnTo>
                  <a:lnTo>
                    <a:pt x="5841846" y="321351"/>
                  </a:lnTo>
                  <a:lnTo>
                    <a:pt x="5842798" y="372755"/>
                  </a:lnTo>
                  <a:lnTo>
                    <a:pt x="5845541" y="421793"/>
                  </a:lnTo>
                  <a:lnTo>
                    <a:pt x="5849177" y="469253"/>
                  </a:lnTo>
                  <a:lnTo>
                    <a:pt x="5852297" y="516542"/>
                  </a:lnTo>
                  <a:lnTo>
                    <a:pt x="5854640" y="563751"/>
                  </a:lnTo>
                  <a:lnTo>
                    <a:pt x="5855944" y="610969"/>
                  </a:lnTo>
                  <a:lnTo>
                    <a:pt x="5855947" y="658287"/>
                  </a:lnTo>
                  <a:lnTo>
                    <a:pt x="5854389" y="705794"/>
                  </a:lnTo>
                  <a:lnTo>
                    <a:pt x="5851008" y="753580"/>
                  </a:lnTo>
                  <a:lnTo>
                    <a:pt x="5845541" y="801735"/>
                  </a:lnTo>
                  <a:lnTo>
                    <a:pt x="5804662" y="807615"/>
                  </a:lnTo>
                  <a:lnTo>
                    <a:pt x="5760739" y="811875"/>
                  </a:lnTo>
                  <a:lnTo>
                    <a:pt x="5714285" y="814662"/>
                  </a:lnTo>
                  <a:lnTo>
                    <a:pt x="5665814" y="816125"/>
                  </a:lnTo>
                  <a:lnTo>
                    <a:pt x="5615838" y="816413"/>
                  </a:lnTo>
                  <a:lnTo>
                    <a:pt x="5564873" y="815672"/>
                  </a:lnTo>
                  <a:lnTo>
                    <a:pt x="5513430" y="814052"/>
                  </a:lnTo>
                  <a:lnTo>
                    <a:pt x="5462024" y="811700"/>
                  </a:lnTo>
                  <a:lnTo>
                    <a:pt x="5411168" y="808765"/>
                  </a:lnTo>
                  <a:lnTo>
                    <a:pt x="5361376" y="805394"/>
                  </a:lnTo>
                  <a:lnTo>
                    <a:pt x="5313161" y="801735"/>
                  </a:lnTo>
                  <a:lnTo>
                    <a:pt x="5276083" y="799039"/>
                  </a:lnTo>
                  <a:lnTo>
                    <a:pt x="5234540" y="796492"/>
                  </a:lnTo>
                  <a:lnTo>
                    <a:pt x="5189102" y="794147"/>
                  </a:lnTo>
                  <a:lnTo>
                    <a:pt x="5140336" y="792060"/>
                  </a:lnTo>
                  <a:lnTo>
                    <a:pt x="5088813" y="790285"/>
                  </a:lnTo>
                  <a:lnTo>
                    <a:pt x="5035101" y="788877"/>
                  </a:lnTo>
                  <a:lnTo>
                    <a:pt x="4979768" y="787891"/>
                  </a:lnTo>
                  <a:lnTo>
                    <a:pt x="4923384" y="787381"/>
                  </a:lnTo>
                  <a:lnTo>
                    <a:pt x="4866518" y="787402"/>
                  </a:lnTo>
                  <a:lnTo>
                    <a:pt x="4809738" y="788008"/>
                  </a:lnTo>
                  <a:lnTo>
                    <a:pt x="4753614" y="789255"/>
                  </a:lnTo>
                  <a:lnTo>
                    <a:pt x="4698715" y="791196"/>
                  </a:lnTo>
                  <a:lnTo>
                    <a:pt x="4645608" y="793887"/>
                  </a:lnTo>
                  <a:lnTo>
                    <a:pt x="4594864" y="797382"/>
                  </a:lnTo>
                  <a:lnTo>
                    <a:pt x="4547051" y="801735"/>
                  </a:lnTo>
                  <a:lnTo>
                    <a:pt x="4489381" y="806647"/>
                  </a:lnTo>
                  <a:lnTo>
                    <a:pt x="4432014" y="809594"/>
                  </a:lnTo>
                  <a:lnTo>
                    <a:pt x="4375320" y="810896"/>
                  </a:lnTo>
                  <a:lnTo>
                    <a:pt x="4319666" y="810877"/>
                  </a:lnTo>
                  <a:lnTo>
                    <a:pt x="4265423" y="809858"/>
                  </a:lnTo>
                  <a:lnTo>
                    <a:pt x="4212959" y="808160"/>
                  </a:lnTo>
                  <a:lnTo>
                    <a:pt x="4162644" y="806105"/>
                  </a:lnTo>
                  <a:lnTo>
                    <a:pt x="4114848" y="804015"/>
                  </a:lnTo>
                  <a:lnTo>
                    <a:pt x="4069939" y="802211"/>
                  </a:lnTo>
                  <a:lnTo>
                    <a:pt x="4028287" y="801016"/>
                  </a:lnTo>
                  <a:lnTo>
                    <a:pt x="3990261" y="800750"/>
                  </a:lnTo>
                  <a:lnTo>
                    <a:pt x="3956230" y="801735"/>
                  </a:lnTo>
                  <a:lnTo>
                    <a:pt x="3928215" y="802606"/>
                  </a:lnTo>
                  <a:lnTo>
                    <a:pt x="3895449" y="802587"/>
                  </a:lnTo>
                  <a:lnTo>
                    <a:pt x="3858269" y="801853"/>
                  </a:lnTo>
                  <a:lnTo>
                    <a:pt x="3817010" y="800583"/>
                  </a:lnTo>
                  <a:lnTo>
                    <a:pt x="3772009" y="798953"/>
                  </a:lnTo>
                  <a:lnTo>
                    <a:pt x="3723602" y="797140"/>
                  </a:lnTo>
                  <a:lnTo>
                    <a:pt x="3672125" y="795320"/>
                  </a:lnTo>
                  <a:lnTo>
                    <a:pt x="3617914" y="793671"/>
                  </a:lnTo>
                  <a:lnTo>
                    <a:pt x="3561305" y="792368"/>
                  </a:lnTo>
                  <a:lnTo>
                    <a:pt x="3502634" y="791589"/>
                  </a:lnTo>
                  <a:lnTo>
                    <a:pt x="3442238" y="791510"/>
                  </a:lnTo>
                  <a:lnTo>
                    <a:pt x="3380453" y="792309"/>
                  </a:lnTo>
                  <a:lnTo>
                    <a:pt x="3317614" y="794161"/>
                  </a:lnTo>
                  <a:lnTo>
                    <a:pt x="3254057" y="797245"/>
                  </a:lnTo>
                  <a:lnTo>
                    <a:pt x="3190120" y="801735"/>
                  </a:lnTo>
                  <a:lnTo>
                    <a:pt x="3108765" y="807440"/>
                  </a:lnTo>
                  <a:lnTo>
                    <a:pt x="3038328" y="810549"/>
                  </a:lnTo>
                  <a:lnTo>
                    <a:pt x="2977366" y="811547"/>
                  </a:lnTo>
                  <a:lnTo>
                    <a:pt x="2924438" y="810920"/>
                  </a:lnTo>
                  <a:lnTo>
                    <a:pt x="2878102" y="809152"/>
                  </a:lnTo>
                  <a:lnTo>
                    <a:pt x="2836914" y="806728"/>
                  </a:lnTo>
                  <a:lnTo>
                    <a:pt x="2799434" y="804132"/>
                  </a:lnTo>
                  <a:lnTo>
                    <a:pt x="2764218" y="801851"/>
                  </a:lnTo>
                  <a:lnTo>
                    <a:pt x="2729826" y="800367"/>
                  </a:lnTo>
                  <a:lnTo>
                    <a:pt x="2694813" y="800167"/>
                  </a:lnTo>
                  <a:lnTo>
                    <a:pt x="2657739" y="801735"/>
                  </a:lnTo>
                  <a:lnTo>
                    <a:pt x="2611480" y="804478"/>
                  </a:lnTo>
                  <a:lnTo>
                    <a:pt x="2566266" y="806366"/>
                  </a:lnTo>
                  <a:lnTo>
                    <a:pt x="2520963" y="807471"/>
                  </a:lnTo>
                  <a:lnTo>
                    <a:pt x="2474438" y="807866"/>
                  </a:lnTo>
                  <a:lnTo>
                    <a:pt x="2425557" y="807624"/>
                  </a:lnTo>
                  <a:lnTo>
                    <a:pt x="2373185" y="806817"/>
                  </a:lnTo>
                  <a:lnTo>
                    <a:pt x="2316189" y="805518"/>
                  </a:lnTo>
                  <a:lnTo>
                    <a:pt x="2253435" y="803800"/>
                  </a:lnTo>
                  <a:lnTo>
                    <a:pt x="2183789" y="801735"/>
                  </a:lnTo>
                  <a:lnTo>
                    <a:pt x="2116415" y="799448"/>
                  </a:lnTo>
                  <a:lnTo>
                    <a:pt x="2059336" y="797173"/>
                  </a:lnTo>
                  <a:lnTo>
                    <a:pt x="2009715" y="795150"/>
                  </a:lnTo>
                  <a:lnTo>
                    <a:pt x="1964719" y="793619"/>
                  </a:lnTo>
                  <a:lnTo>
                    <a:pt x="1921510" y="792820"/>
                  </a:lnTo>
                  <a:lnTo>
                    <a:pt x="1877253" y="792993"/>
                  </a:lnTo>
                  <a:lnTo>
                    <a:pt x="1829112" y="794376"/>
                  </a:lnTo>
                  <a:lnTo>
                    <a:pt x="1774253" y="797210"/>
                  </a:lnTo>
                  <a:lnTo>
                    <a:pt x="1709839" y="801735"/>
                  </a:lnTo>
                  <a:lnTo>
                    <a:pt x="1662909" y="805003"/>
                  </a:lnTo>
                  <a:lnTo>
                    <a:pt x="1612739" y="807792"/>
                  </a:lnTo>
                  <a:lnTo>
                    <a:pt x="1560000" y="810098"/>
                  </a:lnTo>
                  <a:lnTo>
                    <a:pt x="1505362" y="811914"/>
                  </a:lnTo>
                  <a:lnTo>
                    <a:pt x="1449496" y="813233"/>
                  </a:lnTo>
                  <a:lnTo>
                    <a:pt x="1393074" y="814050"/>
                  </a:lnTo>
                  <a:lnTo>
                    <a:pt x="1336766" y="814358"/>
                  </a:lnTo>
                  <a:lnTo>
                    <a:pt x="1281243" y="814151"/>
                  </a:lnTo>
                  <a:lnTo>
                    <a:pt x="1227176" y="813422"/>
                  </a:lnTo>
                  <a:lnTo>
                    <a:pt x="1175237" y="812165"/>
                  </a:lnTo>
                  <a:lnTo>
                    <a:pt x="1126095" y="810375"/>
                  </a:lnTo>
                  <a:lnTo>
                    <a:pt x="1080422" y="808044"/>
                  </a:lnTo>
                  <a:lnTo>
                    <a:pt x="1038889" y="805166"/>
                  </a:lnTo>
                  <a:lnTo>
                    <a:pt x="975988" y="799124"/>
                  </a:lnTo>
                  <a:lnTo>
                    <a:pt x="945394" y="796513"/>
                  </a:lnTo>
                  <a:lnTo>
                    <a:pt x="872233" y="791476"/>
                  </a:lnTo>
                  <a:lnTo>
                    <a:pt x="830302" y="789141"/>
                  </a:lnTo>
                  <a:lnTo>
                    <a:pt x="785228" y="786990"/>
                  </a:lnTo>
                  <a:lnTo>
                    <a:pt x="737329" y="785068"/>
                  </a:lnTo>
                  <a:lnTo>
                    <a:pt x="686923" y="783420"/>
                  </a:lnTo>
                  <a:lnTo>
                    <a:pt x="634329" y="782093"/>
                  </a:lnTo>
                  <a:lnTo>
                    <a:pt x="579864" y="781133"/>
                  </a:lnTo>
                  <a:lnTo>
                    <a:pt x="523847" y="780585"/>
                  </a:lnTo>
                  <a:lnTo>
                    <a:pt x="466596" y="780494"/>
                  </a:lnTo>
                  <a:lnTo>
                    <a:pt x="408428" y="780907"/>
                  </a:lnTo>
                  <a:lnTo>
                    <a:pt x="349663" y="781869"/>
                  </a:lnTo>
                  <a:lnTo>
                    <a:pt x="290618" y="783426"/>
                  </a:lnTo>
                  <a:lnTo>
                    <a:pt x="231611" y="785623"/>
                  </a:lnTo>
                  <a:lnTo>
                    <a:pt x="172960" y="788508"/>
                  </a:lnTo>
                  <a:lnTo>
                    <a:pt x="114984" y="792124"/>
                  </a:lnTo>
                  <a:lnTo>
                    <a:pt x="58001" y="796518"/>
                  </a:lnTo>
                  <a:lnTo>
                    <a:pt x="2328" y="801735"/>
                  </a:lnTo>
                  <a:lnTo>
                    <a:pt x="6024" y="741521"/>
                  </a:lnTo>
                  <a:lnTo>
                    <a:pt x="6942" y="692278"/>
                  </a:lnTo>
                  <a:lnTo>
                    <a:pt x="5944" y="650053"/>
                  </a:lnTo>
                  <a:lnTo>
                    <a:pt x="3891" y="610899"/>
                  </a:lnTo>
                  <a:lnTo>
                    <a:pt x="1641" y="570863"/>
                  </a:lnTo>
                  <a:lnTo>
                    <a:pt x="58" y="525995"/>
                  </a:lnTo>
                  <a:lnTo>
                    <a:pt x="0" y="472345"/>
                  </a:lnTo>
                  <a:lnTo>
                    <a:pt x="2328" y="405963"/>
                  </a:lnTo>
                  <a:lnTo>
                    <a:pt x="5984" y="339533"/>
                  </a:lnTo>
                  <a:lnTo>
                    <a:pt x="9150" y="285768"/>
                  </a:lnTo>
                  <a:lnTo>
                    <a:pt x="11548" y="240757"/>
                  </a:lnTo>
                  <a:lnTo>
                    <a:pt x="12903" y="200591"/>
                  </a:lnTo>
                  <a:lnTo>
                    <a:pt x="12935" y="161361"/>
                  </a:lnTo>
                  <a:lnTo>
                    <a:pt x="11368" y="119157"/>
                  </a:lnTo>
                  <a:lnTo>
                    <a:pt x="7925" y="70070"/>
                  </a:lnTo>
                  <a:lnTo>
                    <a:pt x="2328" y="1019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2314" y="5134474"/>
              <a:ext cx="4639678" cy="5732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42314" y="5707747"/>
              <a:ext cx="4632325" cy="24130"/>
            </a:xfrm>
            <a:custGeom>
              <a:avLst/>
              <a:gdLst/>
              <a:ahLst/>
              <a:cxnLst/>
              <a:rect l="l" t="t" r="r" b="b"/>
              <a:pathLst>
                <a:path w="4632325" h="24129">
                  <a:moveTo>
                    <a:pt x="1621286" y="4094"/>
                  </a:moveTo>
                  <a:lnTo>
                    <a:pt x="518343" y="4478"/>
                  </a:lnTo>
                  <a:lnTo>
                    <a:pt x="555494" y="5232"/>
                  </a:lnTo>
                  <a:lnTo>
                    <a:pt x="603699" y="7056"/>
                  </a:lnTo>
                  <a:lnTo>
                    <a:pt x="654335" y="9894"/>
                  </a:lnTo>
                  <a:lnTo>
                    <a:pt x="779391" y="19189"/>
                  </a:lnTo>
                  <a:lnTo>
                    <a:pt x="839775" y="22432"/>
                  </a:lnTo>
                  <a:lnTo>
                    <a:pt x="891723" y="23943"/>
                  </a:lnTo>
                  <a:lnTo>
                    <a:pt x="937754" y="24053"/>
                  </a:lnTo>
                  <a:lnTo>
                    <a:pt x="980389" y="23095"/>
                  </a:lnTo>
                  <a:lnTo>
                    <a:pt x="996800" y="22429"/>
                  </a:lnTo>
                  <a:lnTo>
                    <a:pt x="1113116" y="17125"/>
                  </a:lnTo>
                  <a:lnTo>
                    <a:pt x="1167366" y="15209"/>
                  </a:lnTo>
                  <a:lnTo>
                    <a:pt x="1621286" y="4094"/>
                  </a:lnTo>
                  <a:close/>
                </a:path>
                <a:path w="4632325" h="24129">
                  <a:moveTo>
                    <a:pt x="4631956" y="8842"/>
                  </a:moveTo>
                  <a:lnTo>
                    <a:pt x="3869590" y="8842"/>
                  </a:lnTo>
                  <a:lnTo>
                    <a:pt x="3920630" y="9065"/>
                  </a:lnTo>
                  <a:lnTo>
                    <a:pt x="3969817" y="10643"/>
                  </a:lnTo>
                  <a:lnTo>
                    <a:pt x="4016705" y="13882"/>
                  </a:lnTo>
                  <a:lnTo>
                    <a:pt x="4064845" y="17817"/>
                  </a:lnTo>
                  <a:lnTo>
                    <a:pt x="4110993" y="20658"/>
                  </a:lnTo>
                  <a:lnTo>
                    <a:pt x="4155917" y="22518"/>
                  </a:lnTo>
                  <a:lnTo>
                    <a:pt x="4200387" y="23512"/>
                  </a:lnTo>
                  <a:lnTo>
                    <a:pt x="4245172" y="23753"/>
                  </a:lnTo>
                  <a:lnTo>
                    <a:pt x="4291042" y="23354"/>
                  </a:lnTo>
                  <a:lnTo>
                    <a:pt x="4326158" y="22429"/>
                  </a:lnTo>
                  <a:lnTo>
                    <a:pt x="4632121" y="13882"/>
                  </a:lnTo>
                  <a:lnTo>
                    <a:pt x="4631956" y="8842"/>
                  </a:lnTo>
                  <a:close/>
                </a:path>
                <a:path w="4632325" h="24129">
                  <a:moveTo>
                    <a:pt x="4631897" y="7044"/>
                  </a:moveTo>
                  <a:lnTo>
                    <a:pt x="2395764" y="7044"/>
                  </a:lnTo>
                  <a:lnTo>
                    <a:pt x="2459508" y="7129"/>
                  </a:lnTo>
                  <a:lnTo>
                    <a:pt x="2527712" y="9239"/>
                  </a:lnTo>
                  <a:lnTo>
                    <a:pt x="2660342" y="17878"/>
                  </a:lnTo>
                  <a:lnTo>
                    <a:pt x="2719015" y="20297"/>
                  </a:lnTo>
                  <a:lnTo>
                    <a:pt x="2776558" y="21370"/>
                  </a:lnTo>
                  <a:lnTo>
                    <a:pt x="2832904" y="21330"/>
                  </a:lnTo>
                  <a:lnTo>
                    <a:pt x="2887987" y="20410"/>
                  </a:lnTo>
                  <a:lnTo>
                    <a:pt x="2941744" y="18842"/>
                  </a:lnTo>
                  <a:lnTo>
                    <a:pt x="3142179" y="10731"/>
                  </a:lnTo>
                  <a:lnTo>
                    <a:pt x="3188312" y="9405"/>
                  </a:lnTo>
                  <a:lnTo>
                    <a:pt x="3232723" y="8825"/>
                  </a:lnTo>
                  <a:lnTo>
                    <a:pt x="4631955" y="8825"/>
                  </a:lnTo>
                  <a:lnTo>
                    <a:pt x="4631897" y="7044"/>
                  </a:lnTo>
                  <a:close/>
                </a:path>
                <a:path w="4632325" h="24129">
                  <a:moveTo>
                    <a:pt x="4631744" y="2394"/>
                  </a:moveTo>
                  <a:lnTo>
                    <a:pt x="1791466" y="2493"/>
                  </a:lnTo>
                  <a:lnTo>
                    <a:pt x="1832494" y="2942"/>
                  </a:lnTo>
                  <a:lnTo>
                    <a:pt x="1878531" y="4251"/>
                  </a:lnTo>
                  <a:lnTo>
                    <a:pt x="1919834" y="6436"/>
                  </a:lnTo>
                  <a:lnTo>
                    <a:pt x="1955643" y="9608"/>
                  </a:lnTo>
                  <a:lnTo>
                    <a:pt x="2019048" y="18525"/>
                  </a:lnTo>
                  <a:lnTo>
                    <a:pt x="2055308" y="20635"/>
                  </a:lnTo>
                  <a:lnTo>
                    <a:pt x="2094207" y="20720"/>
                  </a:lnTo>
                  <a:lnTo>
                    <a:pt x="2135972" y="19284"/>
                  </a:lnTo>
                  <a:lnTo>
                    <a:pt x="2280744" y="10927"/>
                  </a:lnTo>
                  <a:lnTo>
                    <a:pt x="2336252" y="8479"/>
                  </a:lnTo>
                  <a:lnTo>
                    <a:pt x="2395764" y="7044"/>
                  </a:lnTo>
                  <a:lnTo>
                    <a:pt x="4631897" y="7044"/>
                  </a:lnTo>
                  <a:lnTo>
                    <a:pt x="4631744" y="2394"/>
                  </a:lnTo>
                  <a:close/>
                </a:path>
                <a:path w="4632325" h="24129">
                  <a:moveTo>
                    <a:pt x="4631955" y="8825"/>
                  </a:moveTo>
                  <a:lnTo>
                    <a:pt x="3232723" y="8825"/>
                  </a:lnTo>
                  <a:lnTo>
                    <a:pt x="3275347" y="9223"/>
                  </a:lnTo>
                  <a:lnTo>
                    <a:pt x="3316119" y="10831"/>
                  </a:lnTo>
                  <a:lnTo>
                    <a:pt x="3400114" y="17370"/>
                  </a:lnTo>
                  <a:lnTo>
                    <a:pt x="3447846" y="19155"/>
                  </a:lnTo>
                  <a:lnTo>
                    <a:pt x="3497723" y="19544"/>
                  </a:lnTo>
                  <a:lnTo>
                    <a:pt x="3549308" y="18842"/>
                  </a:lnTo>
                  <a:lnTo>
                    <a:pt x="3817141" y="9668"/>
                  </a:lnTo>
                  <a:lnTo>
                    <a:pt x="3869590" y="8842"/>
                  </a:lnTo>
                  <a:lnTo>
                    <a:pt x="4631956" y="8842"/>
                  </a:lnTo>
                  <a:close/>
                </a:path>
                <a:path w="4632325" h="24129">
                  <a:moveTo>
                    <a:pt x="4631665" y="0"/>
                  </a:moveTo>
                  <a:lnTo>
                    <a:pt x="1772" y="0"/>
                  </a:lnTo>
                  <a:lnTo>
                    <a:pt x="0" y="13882"/>
                  </a:lnTo>
                  <a:lnTo>
                    <a:pt x="123912" y="12409"/>
                  </a:lnTo>
                  <a:lnTo>
                    <a:pt x="418969" y="4512"/>
                  </a:lnTo>
                  <a:lnTo>
                    <a:pt x="518343" y="4478"/>
                  </a:lnTo>
                  <a:lnTo>
                    <a:pt x="509070" y="4289"/>
                  </a:lnTo>
                  <a:lnTo>
                    <a:pt x="1621286" y="4094"/>
                  </a:lnTo>
                  <a:lnTo>
                    <a:pt x="1729256" y="2495"/>
                  </a:lnTo>
                  <a:lnTo>
                    <a:pt x="1791466" y="2493"/>
                  </a:lnTo>
                  <a:lnTo>
                    <a:pt x="1782483" y="2394"/>
                  </a:lnTo>
                  <a:lnTo>
                    <a:pt x="4631744" y="2394"/>
                  </a:lnTo>
                  <a:lnTo>
                    <a:pt x="4631665" y="0"/>
                  </a:lnTo>
                  <a:close/>
                </a:path>
                <a:path w="4632325" h="24129">
                  <a:moveTo>
                    <a:pt x="1621286" y="4094"/>
                  </a:moveTo>
                  <a:lnTo>
                    <a:pt x="463778" y="4094"/>
                  </a:lnTo>
                  <a:lnTo>
                    <a:pt x="509070" y="4289"/>
                  </a:lnTo>
                  <a:lnTo>
                    <a:pt x="518343" y="4478"/>
                  </a:lnTo>
                  <a:lnTo>
                    <a:pt x="1621286" y="4094"/>
                  </a:lnTo>
                  <a:close/>
                </a:path>
                <a:path w="4632325" h="24129">
                  <a:moveTo>
                    <a:pt x="4631744" y="2394"/>
                  </a:moveTo>
                  <a:lnTo>
                    <a:pt x="1782483" y="2394"/>
                  </a:lnTo>
                  <a:lnTo>
                    <a:pt x="1791466" y="2493"/>
                  </a:lnTo>
                  <a:lnTo>
                    <a:pt x="4631744" y="2394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81994" y="531662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20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9514" y="5144025"/>
              <a:ext cx="4635500" cy="593725"/>
            </a:xfrm>
            <a:custGeom>
              <a:avLst/>
              <a:gdLst/>
              <a:ahLst/>
              <a:cxnLst/>
              <a:rect l="l" t="t" r="r" b="b"/>
              <a:pathLst>
                <a:path w="4635500" h="593725">
                  <a:moveTo>
                    <a:pt x="2799" y="14588"/>
                  </a:moveTo>
                  <a:lnTo>
                    <a:pt x="44804" y="14292"/>
                  </a:lnTo>
                  <a:lnTo>
                    <a:pt x="91276" y="14330"/>
                  </a:lnTo>
                  <a:lnTo>
                    <a:pt x="141381" y="14618"/>
                  </a:lnTo>
                  <a:lnTo>
                    <a:pt x="194285" y="15070"/>
                  </a:lnTo>
                  <a:lnTo>
                    <a:pt x="249154" y="15605"/>
                  </a:lnTo>
                  <a:lnTo>
                    <a:pt x="305154" y="16137"/>
                  </a:lnTo>
                  <a:lnTo>
                    <a:pt x="361452" y="16583"/>
                  </a:lnTo>
                  <a:lnTo>
                    <a:pt x="417212" y="16859"/>
                  </a:lnTo>
                  <a:lnTo>
                    <a:pt x="471603" y="16881"/>
                  </a:lnTo>
                  <a:lnTo>
                    <a:pt x="523788" y="16566"/>
                  </a:lnTo>
                  <a:lnTo>
                    <a:pt x="572935" y="15830"/>
                  </a:lnTo>
                  <a:lnTo>
                    <a:pt x="618210" y="14588"/>
                  </a:lnTo>
                  <a:lnTo>
                    <a:pt x="670568" y="13705"/>
                  </a:lnTo>
                  <a:lnTo>
                    <a:pt x="724019" y="14374"/>
                  </a:lnTo>
                  <a:lnTo>
                    <a:pt x="778147" y="16085"/>
                  </a:lnTo>
                  <a:lnTo>
                    <a:pt x="832535" y="18331"/>
                  </a:lnTo>
                  <a:lnTo>
                    <a:pt x="886766" y="20604"/>
                  </a:lnTo>
                  <a:lnTo>
                    <a:pt x="940423" y="22395"/>
                  </a:lnTo>
                  <a:lnTo>
                    <a:pt x="993090" y="23197"/>
                  </a:lnTo>
                  <a:lnTo>
                    <a:pt x="1044350" y="22502"/>
                  </a:lnTo>
                  <a:lnTo>
                    <a:pt x="1093785" y="19802"/>
                  </a:lnTo>
                  <a:lnTo>
                    <a:pt x="1140980" y="14588"/>
                  </a:lnTo>
                  <a:lnTo>
                    <a:pt x="1181941" y="10210"/>
                  </a:lnTo>
                  <a:lnTo>
                    <a:pt x="1227688" y="7891"/>
                  </a:lnTo>
                  <a:lnTo>
                    <a:pt x="1277348" y="7252"/>
                  </a:lnTo>
                  <a:lnTo>
                    <a:pt x="1330049" y="7915"/>
                  </a:lnTo>
                  <a:lnTo>
                    <a:pt x="1384917" y="9499"/>
                  </a:lnTo>
                  <a:lnTo>
                    <a:pt x="1441080" y="11627"/>
                  </a:lnTo>
                  <a:lnTo>
                    <a:pt x="1497666" y="13919"/>
                  </a:lnTo>
                  <a:lnTo>
                    <a:pt x="1553802" y="15997"/>
                  </a:lnTo>
                  <a:lnTo>
                    <a:pt x="1608615" y="17481"/>
                  </a:lnTo>
                  <a:lnTo>
                    <a:pt x="1661232" y="17994"/>
                  </a:lnTo>
                  <a:lnTo>
                    <a:pt x="1710782" y="17156"/>
                  </a:lnTo>
                  <a:lnTo>
                    <a:pt x="1756390" y="14588"/>
                  </a:lnTo>
                  <a:lnTo>
                    <a:pt x="1795358" y="12191"/>
                  </a:lnTo>
                  <a:lnTo>
                    <a:pt x="1837690" y="10968"/>
                  </a:lnTo>
                  <a:lnTo>
                    <a:pt x="1882990" y="10718"/>
                  </a:lnTo>
                  <a:lnTo>
                    <a:pt x="1930865" y="11239"/>
                  </a:lnTo>
                  <a:lnTo>
                    <a:pt x="1980920" y="12331"/>
                  </a:lnTo>
                  <a:lnTo>
                    <a:pt x="2032760" y="13791"/>
                  </a:lnTo>
                  <a:lnTo>
                    <a:pt x="2085992" y="15418"/>
                  </a:lnTo>
                  <a:lnTo>
                    <a:pt x="2140220" y="17011"/>
                  </a:lnTo>
                  <a:lnTo>
                    <a:pt x="2195052" y="18370"/>
                  </a:lnTo>
                  <a:lnTo>
                    <a:pt x="2250091" y="19292"/>
                  </a:lnTo>
                  <a:lnTo>
                    <a:pt x="2304944" y="19576"/>
                  </a:lnTo>
                  <a:lnTo>
                    <a:pt x="2359216" y="19020"/>
                  </a:lnTo>
                  <a:lnTo>
                    <a:pt x="2412513" y="17425"/>
                  </a:lnTo>
                  <a:lnTo>
                    <a:pt x="2464441" y="14588"/>
                  </a:lnTo>
                  <a:lnTo>
                    <a:pt x="2527345" y="11015"/>
                  </a:lnTo>
                  <a:lnTo>
                    <a:pt x="2586329" y="9068"/>
                  </a:lnTo>
                  <a:lnTo>
                    <a:pt x="2641955" y="8442"/>
                  </a:lnTo>
                  <a:lnTo>
                    <a:pt x="2694786" y="8835"/>
                  </a:lnTo>
                  <a:lnTo>
                    <a:pt x="2745383" y="9943"/>
                  </a:lnTo>
                  <a:lnTo>
                    <a:pt x="2794309" y="11461"/>
                  </a:lnTo>
                  <a:lnTo>
                    <a:pt x="2842124" y="13086"/>
                  </a:lnTo>
                  <a:lnTo>
                    <a:pt x="2889393" y="14515"/>
                  </a:lnTo>
                  <a:lnTo>
                    <a:pt x="2936675" y="15444"/>
                  </a:lnTo>
                  <a:lnTo>
                    <a:pt x="2984534" y="15570"/>
                  </a:lnTo>
                  <a:lnTo>
                    <a:pt x="3033531" y="14588"/>
                  </a:lnTo>
                  <a:lnTo>
                    <a:pt x="3081580" y="12637"/>
                  </a:lnTo>
                  <a:lnTo>
                    <a:pt x="3126980" y="10245"/>
                  </a:lnTo>
                  <a:lnTo>
                    <a:pt x="3170857" y="7689"/>
                  </a:lnTo>
                  <a:lnTo>
                    <a:pt x="3214343" y="5245"/>
                  </a:lnTo>
                  <a:lnTo>
                    <a:pt x="3258567" y="3192"/>
                  </a:lnTo>
                  <a:lnTo>
                    <a:pt x="3304656" y="1805"/>
                  </a:lnTo>
                  <a:lnTo>
                    <a:pt x="3353741" y="1364"/>
                  </a:lnTo>
                  <a:lnTo>
                    <a:pt x="3406951" y="2144"/>
                  </a:lnTo>
                  <a:lnTo>
                    <a:pt x="3465415" y="4423"/>
                  </a:lnTo>
                  <a:lnTo>
                    <a:pt x="3530262" y="8479"/>
                  </a:lnTo>
                  <a:lnTo>
                    <a:pt x="3602621" y="14588"/>
                  </a:lnTo>
                  <a:lnTo>
                    <a:pt x="3643110" y="17740"/>
                  </a:lnTo>
                  <a:lnTo>
                    <a:pt x="3684443" y="19716"/>
                  </a:lnTo>
                  <a:lnTo>
                    <a:pt x="3726624" y="20652"/>
                  </a:lnTo>
                  <a:lnTo>
                    <a:pt x="3769657" y="20683"/>
                  </a:lnTo>
                  <a:lnTo>
                    <a:pt x="3813545" y="19945"/>
                  </a:lnTo>
                  <a:lnTo>
                    <a:pt x="3858292" y="18575"/>
                  </a:lnTo>
                  <a:lnTo>
                    <a:pt x="3903902" y="16708"/>
                  </a:lnTo>
                  <a:lnTo>
                    <a:pt x="3950376" y="14481"/>
                  </a:lnTo>
                  <a:lnTo>
                    <a:pt x="3997721" y="12029"/>
                  </a:lnTo>
                  <a:lnTo>
                    <a:pt x="4045937" y="9488"/>
                  </a:lnTo>
                  <a:lnTo>
                    <a:pt x="4095030" y="6995"/>
                  </a:lnTo>
                  <a:lnTo>
                    <a:pt x="4145003" y="4685"/>
                  </a:lnTo>
                  <a:lnTo>
                    <a:pt x="4195859" y="2695"/>
                  </a:lnTo>
                  <a:lnTo>
                    <a:pt x="4247602" y="1160"/>
                  </a:lnTo>
                  <a:lnTo>
                    <a:pt x="4300235" y="216"/>
                  </a:lnTo>
                  <a:lnTo>
                    <a:pt x="4353761" y="0"/>
                  </a:lnTo>
                  <a:lnTo>
                    <a:pt x="4408185" y="646"/>
                  </a:lnTo>
                  <a:lnTo>
                    <a:pt x="4463509" y="2293"/>
                  </a:lnTo>
                  <a:lnTo>
                    <a:pt x="4519738" y="5074"/>
                  </a:lnTo>
                  <a:lnTo>
                    <a:pt x="4576874" y="9127"/>
                  </a:lnTo>
                  <a:lnTo>
                    <a:pt x="4634922" y="14588"/>
                  </a:lnTo>
                  <a:lnTo>
                    <a:pt x="4630646" y="56150"/>
                  </a:lnTo>
                  <a:lnTo>
                    <a:pt x="4628109" y="99722"/>
                  </a:lnTo>
                  <a:lnTo>
                    <a:pt x="4627017" y="145275"/>
                  </a:lnTo>
                  <a:lnTo>
                    <a:pt x="4627075" y="192780"/>
                  </a:lnTo>
                  <a:lnTo>
                    <a:pt x="4627989" y="242210"/>
                  </a:lnTo>
                  <a:lnTo>
                    <a:pt x="4629463" y="293535"/>
                  </a:lnTo>
                  <a:lnTo>
                    <a:pt x="4631203" y="346728"/>
                  </a:lnTo>
                  <a:lnTo>
                    <a:pt x="4632913" y="401760"/>
                  </a:lnTo>
                  <a:lnTo>
                    <a:pt x="4634300" y="458603"/>
                  </a:lnTo>
                  <a:lnTo>
                    <a:pt x="4635068" y="517228"/>
                  </a:lnTo>
                  <a:lnTo>
                    <a:pt x="4634922" y="577608"/>
                  </a:lnTo>
                  <a:lnTo>
                    <a:pt x="4566467" y="575649"/>
                  </a:lnTo>
                  <a:lnTo>
                    <a:pt x="4506236" y="574119"/>
                  </a:lnTo>
                  <a:lnTo>
                    <a:pt x="4452602" y="573005"/>
                  </a:lnTo>
                  <a:lnTo>
                    <a:pt x="4403940" y="572296"/>
                  </a:lnTo>
                  <a:lnTo>
                    <a:pt x="4358622" y="571978"/>
                  </a:lnTo>
                  <a:lnTo>
                    <a:pt x="4315020" y="572040"/>
                  </a:lnTo>
                  <a:lnTo>
                    <a:pt x="4271509" y="572469"/>
                  </a:lnTo>
                  <a:lnTo>
                    <a:pt x="4226462" y="573253"/>
                  </a:lnTo>
                  <a:lnTo>
                    <a:pt x="4178251" y="574379"/>
                  </a:lnTo>
                  <a:lnTo>
                    <a:pt x="4125250" y="575835"/>
                  </a:lnTo>
                  <a:lnTo>
                    <a:pt x="4065832" y="577608"/>
                  </a:lnTo>
                  <a:lnTo>
                    <a:pt x="4005782" y="578674"/>
                  </a:lnTo>
                  <a:lnTo>
                    <a:pt x="3951138" y="578291"/>
                  </a:lnTo>
                  <a:lnTo>
                    <a:pt x="3900652" y="576870"/>
                  </a:lnTo>
                  <a:lnTo>
                    <a:pt x="3853078" y="574825"/>
                  </a:lnTo>
                  <a:lnTo>
                    <a:pt x="3807166" y="572566"/>
                  </a:lnTo>
                  <a:lnTo>
                    <a:pt x="3761670" y="570506"/>
                  </a:lnTo>
                  <a:lnTo>
                    <a:pt x="3715340" y="569057"/>
                  </a:lnTo>
                  <a:lnTo>
                    <a:pt x="3666931" y="568630"/>
                  </a:lnTo>
                  <a:lnTo>
                    <a:pt x="3615193" y="569639"/>
                  </a:lnTo>
                  <a:lnTo>
                    <a:pt x="3558879" y="572494"/>
                  </a:lnTo>
                  <a:lnTo>
                    <a:pt x="3496741" y="577608"/>
                  </a:lnTo>
                  <a:lnTo>
                    <a:pt x="3429904" y="583067"/>
                  </a:lnTo>
                  <a:lnTo>
                    <a:pt x="3371995" y="585787"/>
                  </a:lnTo>
                  <a:lnTo>
                    <a:pt x="3320878" y="586340"/>
                  </a:lnTo>
                  <a:lnTo>
                    <a:pt x="3274419" y="585298"/>
                  </a:lnTo>
                  <a:lnTo>
                    <a:pt x="3230485" y="583235"/>
                  </a:lnTo>
                  <a:lnTo>
                    <a:pt x="3186940" y="580721"/>
                  </a:lnTo>
                  <a:lnTo>
                    <a:pt x="3141651" y="578329"/>
                  </a:lnTo>
                  <a:lnTo>
                    <a:pt x="3092483" y="576632"/>
                  </a:lnTo>
                  <a:lnTo>
                    <a:pt x="3037301" y="576201"/>
                  </a:lnTo>
                  <a:lnTo>
                    <a:pt x="2973971" y="577608"/>
                  </a:lnTo>
                  <a:lnTo>
                    <a:pt x="2910789" y="579055"/>
                  </a:lnTo>
                  <a:lnTo>
                    <a:pt x="2855984" y="578724"/>
                  </a:lnTo>
                  <a:lnTo>
                    <a:pt x="2807323" y="577162"/>
                  </a:lnTo>
                  <a:lnTo>
                    <a:pt x="2762575" y="574915"/>
                  </a:lnTo>
                  <a:lnTo>
                    <a:pt x="2719506" y="572529"/>
                  </a:lnTo>
                  <a:lnTo>
                    <a:pt x="2675884" y="570548"/>
                  </a:lnTo>
                  <a:lnTo>
                    <a:pt x="2629476" y="569520"/>
                  </a:lnTo>
                  <a:lnTo>
                    <a:pt x="2578049" y="569990"/>
                  </a:lnTo>
                  <a:lnTo>
                    <a:pt x="2519372" y="572504"/>
                  </a:lnTo>
                  <a:lnTo>
                    <a:pt x="2451211" y="577608"/>
                  </a:lnTo>
                  <a:lnTo>
                    <a:pt x="2394244" y="582255"/>
                  </a:lnTo>
                  <a:lnTo>
                    <a:pt x="2336905" y="586081"/>
                  </a:lnTo>
                  <a:lnTo>
                    <a:pt x="2279570" y="589098"/>
                  </a:lnTo>
                  <a:lnTo>
                    <a:pt x="2222616" y="591320"/>
                  </a:lnTo>
                  <a:lnTo>
                    <a:pt x="2166422" y="592758"/>
                  </a:lnTo>
                  <a:lnTo>
                    <a:pt x="2111363" y="593426"/>
                  </a:lnTo>
                  <a:lnTo>
                    <a:pt x="2057818" y="593337"/>
                  </a:lnTo>
                  <a:lnTo>
                    <a:pt x="2006165" y="592503"/>
                  </a:lnTo>
                  <a:lnTo>
                    <a:pt x="1956780" y="590937"/>
                  </a:lnTo>
                  <a:lnTo>
                    <a:pt x="1910040" y="588651"/>
                  </a:lnTo>
                  <a:lnTo>
                    <a:pt x="1866324" y="585660"/>
                  </a:lnTo>
                  <a:lnTo>
                    <a:pt x="1826008" y="581974"/>
                  </a:lnTo>
                  <a:lnTo>
                    <a:pt x="1789470" y="577608"/>
                  </a:lnTo>
                  <a:lnTo>
                    <a:pt x="1751580" y="574136"/>
                  </a:lnTo>
                  <a:lnTo>
                    <a:pt x="1707657" y="572836"/>
                  </a:lnTo>
                  <a:lnTo>
                    <a:pt x="1658756" y="573273"/>
                  </a:lnTo>
                  <a:lnTo>
                    <a:pt x="1605929" y="575012"/>
                  </a:lnTo>
                  <a:lnTo>
                    <a:pt x="1550232" y="577620"/>
                  </a:lnTo>
                  <a:lnTo>
                    <a:pt x="1492717" y="580662"/>
                  </a:lnTo>
                  <a:lnTo>
                    <a:pt x="1434439" y="583703"/>
                  </a:lnTo>
                  <a:lnTo>
                    <a:pt x="1376450" y="586309"/>
                  </a:lnTo>
                  <a:lnTo>
                    <a:pt x="1319806" y="588045"/>
                  </a:lnTo>
                  <a:lnTo>
                    <a:pt x="1265559" y="588478"/>
                  </a:lnTo>
                  <a:lnTo>
                    <a:pt x="1214763" y="587172"/>
                  </a:lnTo>
                  <a:lnTo>
                    <a:pt x="1168472" y="583694"/>
                  </a:lnTo>
                  <a:lnTo>
                    <a:pt x="1127740" y="577608"/>
                  </a:lnTo>
                  <a:lnTo>
                    <a:pt x="1103110" y="573828"/>
                  </a:lnTo>
                  <a:lnTo>
                    <a:pt x="1073868" y="571303"/>
                  </a:lnTo>
                  <a:lnTo>
                    <a:pt x="1040326" y="569899"/>
                  </a:lnTo>
                  <a:lnTo>
                    <a:pt x="1002797" y="569481"/>
                  </a:lnTo>
                  <a:lnTo>
                    <a:pt x="961596" y="569915"/>
                  </a:lnTo>
                  <a:lnTo>
                    <a:pt x="917035" y="571068"/>
                  </a:lnTo>
                  <a:lnTo>
                    <a:pt x="869427" y="572804"/>
                  </a:lnTo>
                  <a:lnTo>
                    <a:pt x="819086" y="574989"/>
                  </a:lnTo>
                  <a:lnTo>
                    <a:pt x="766326" y="577490"/>
                  </a:lnTo>
                  <a:lnTo>
                    <a:pt x="711459" y="580172"/>
                  </a:lnTo>
                  <a:lnTo>
                    <a:pt x="654799" y="582900"/>
                  </a:lnTo>
                  <a:lnTo>
                    <a:pt x="596659" y="585541"/>
                  </a:lnTo>
                  <a:lnTo>
                    <a:pt x="537353" y="587960"/>
                  </a:lnTo>
                  <a:lnTo>
                    <a:pt x="477193" y="590024"/>
                  </a:lnTo>
                  <a:lnTo>
                    <a:pt x="416494" y="591597"/>
                  </a:lnTo>
                  <a:lnTo>
                    <a:pt x="355568" y="592545"/>
                  </a:lnTo>
                  <a:lnTo>
                    <a:pt x="294729" y="592736"/>
                  </a:lnTo>
                  <a:lnTo>
                    <a:pt x="234290" y="592033"/>
                  </a:lnTo>
                  <a:lnTo>
                    <a:pt x="174564" y="590303"/>
                  </a:lnTo>
                  <a:lnTo>
                    <a:pt x="115864" y="587412"/>
                  </a:lnTo>
                  <a:lnTo>
                    <a:pt x="58505" y="583225"/>
                  </a:lnTo>
                  <a:lnTo>
                    <a:pt x="2799" y="577608"/>
                  </a:lnTo>
                  <a:lnTo>
                    <a:pt x="516" y="536680"/>
                  </a:lnTo>
                  <a:lnTo>
                    <a:pt x="0" y="492599"/>
                  </a:lnTo>
                  <a:lnTo>
                    <a:pt x="812" y="445731"/>
                  </a:lnTo>
                  <a:lnTo>
                    <a:pt x="2519" y="396444"/>
                  </a:lnTo>
                  <a:lnTo>
                    <a:pt x="4681" y="345106"/>
                  </a:lnTo>
                  <a:lnTo>
                    <a:pt x="6864" y="292084"/>
                  </a:lnTo>
                  <a:lnTo>
                    <a:pt x="8630" y="237746"/>
                  </a:lnTo>
                  <a:lnTo>
                    <a:pt x="9544" y="182460"/>
                  </a:lnTo>
                  <a:lnTo>
                    <a:pt x="9167" y="126593"/>
                  </a:lnTo>
                  <a:lnTo>
                    <a:pt x="7065" y="70513"/>
                  </a:lnTo>
                  <a:lnTo>
                    <a:pt x="2799" y="1458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2518" y="2605589"/>
              <a:ext cx="5680968" cy="989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27393" y="2725445"/>
              <a:ext cx="4670425" cy="885190"/>
            </a:xfrm>
            <a:custGeom>
              <a:avLst/>
              <a:gdLst/>
              <a:ahLst/>
              <a:cxnLst/>
              <a:rect l="l" t="t" r="r" b="b"/>
              <a:pathLst>
                <a:path w="4670425" h="885189">
                  <a:moveTo>
                    <a:pt x="628751" y="869505"/>
                  </a:moveTo>
                  <a:lnTo>
                    <a:pt x="0" y="869505"/>
                  </a:lnTo>
                  <a:lnTo>
                    <a:pt x="13296" y="870750"/>
                  </a:lnTo>
                  <a:lnTo>
                    <a:pt x="126149" y="878370"/>
                  </a:lnTo>
                  <a:lnTo>
                    <a:pt x="240766" y="883450"/>
                  </a:lnTo>
                  <a:lnTo>
                    <a:pt x="297192" y="884720"/>
                  </a:lnTo>
                  <a:lnTo>
                    <a:pt x="455485" y="884720"/>
                  </a:lnTo>
                  <a:lnTo>
                    <a:pt x="545655" y="879640"/>
                  </a:lnTo>
                  <a:lnTo>
                    <a:pt x="584276" y="875830"/>
                  </a:lnTo>
                  <a:lnTo>
                    <a:pt x="617766" y="872020"/>
                  </a:lnTo>
                  <a:lnTo>
                    <a:pt x="628751" y="869505"/>
                  </a:lnTo>
                  <a:close/>
                </a:path>
                <a:path w="4670425" h="885189">
                  <a:moveTo>
                    <a:pt x="1155026" y="869505"/>
                  </a:moveTo>
                  <a:lnTo>
                    <a:pt x="1003668" y="869505"/>
                  </a:lnTo>
                  <a:lnTo>
                    <a:pt x="1032294" y="870750"/>
                  </a:lnTo>
                  <a:lnTo>
                    <a:pt x="1093317" y="872020"/>
                  </a:lnTo>
                  <a:lnTo>
                    <a:pt x="1155026" y="869505"/>
                  </a:lnTo>
                  <a:close/>
                </a:path>
                <a:path w="4670425" h="885189">
                  <a:moveTo>
                    <a:pt x="2423122" y="869505"/>
                  </a:moveTo>
                  <a:lnTo>
                    <a:pt x="2240457" y="869505"/>
                  </a:lnTo>
                  <a:lnTo>
                    <a:pt x="2284526" y="870750"/>
                  </a:lnTo>
                  <a:lnTo>
                    <a:pt x="2376017" y="870750"/>
                  </a:lnTo>
                  <a:lnTo>
                    <a:pt x="2423122" y="869505"/>
                  </a:lnTo>
                  <a:close/>
                </a:path>
                <a:path w="4670425" h="885189">
                  <a:moveTo>
                    <a:pt x="3829697" y="869505"/>
                  </a:moveTo>
                  <a:lnTo>
                    <a:pt x="3464991" y="869505"/>
                  </a:lnTo>
                  <a:lnTo>
                    <a:pt x="3488867" y="870750"/>
                  </a:lnTo>
                  <a:lnTo>
                    <a:pt x="3541966" y="872020"/>
                  </a:lnTo>
                  <a:lnTo>
                    <a:pt x="3656965" y="872020"/>
                  </a:lnTo>
                  <a:lnTo>
                    <a:pt x="3716477" y="870750"/>
                  </a:lnTo>
                  <a:lnTo>
                    <a:pt x="3775760" y="870750"/>
                  </a:lnTo>
                  <a:lnTo>
                    <a:pt x="3829697" y="869505"/>
                  </a:lnTo>
                  <a:close/>
                </a:path>
                <a:path w="4670425" h="885189">
                  <a:moveTo>
                    <a:pt x="4631893" y="869505"/>
                  </a:moveTo>
                  <a:lnTo>
                    <a:pt x="4166870" y="869505"/>
                  </a:lnTo>
                  <a:lnTo>
                    <a:pt x="4222229" y="872020"/>
                  </a:lnTo>
                  <a:lnTo>
                    <a:pt x="4280674" y="873290"/>
                  </a:lnTo>
                  <a:lnTo>
                    <a:pt x="4340479" y="875830"/>
                  </a:lnTo>
                  <a:lnTo>
                    <a:pt x="4400347" y="877100"/>
                  </a:lnTo>
                  <a:lnTo>
                    <a:pt x="4515320" y="877100"/>
                  </a:lnTo>
                  <a:lnTo>
                    <a:pt x="4615485" y="872020"/>
                  </a:lnTo>
                  <a:lnTo>
                    <a:pt x="4631893" y="869505"/>
                  </a:lnTo>
                  <a:close/>
                </a:path>
                <a:path w="4670425" h="885189">
                  <a:moveTo>
                    <a:pt x="4670145" y="94780"/>
                  </a:moveTo>
                  <a:lnTo>
                    <a:pt x="4668964" y="51600"/>
                  </a:lnTo>
                  <a:lnTo>
                    <a:pt x="4666450" y="4610"/>
                  </a:lnTo>
                  <a:lnTo>
                    <a:pt x="4666094" y="0"/>
                  </a:lnTo>
                  <a:lnTo>
                    <a:pt x="4666094" y="241566"/>
                  </a:lnTo>
                  <a:lnTo>
                    <a:pt x="4667059" y="224320"/>
                  </a:lnTo>
                  <a:lnTo>
                    <a:pt x="4669066" y="179870"/>
                  </a:lnTo>
                  <a:lnTo>
                    <a:pt x="4670133" y="137960"/>
                  </a:lnTo>
                  <a:lnTo>
                    <a:pt x="4670145" y="9478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11945" y="2599761"/>
              <a:ext cx="5673725" cy="1004569"/>
            </a:xfrm>
            <a:custGeom>
              <a:avLst/>
              <a:gdLst/>
              <a:ahLst/>
              <a:cxnLst/>
              <a:rect l="l" t="t" r="r" b="b"/>
              <a:pathLst>
                <a:path w="5673725" h="1004570">
                  <a:moveTo>
                    <a:pt x="4755" y="20121"/>
                  </a:moveTo>
                  <a:lnTo>
                    <a:pt x="57677" y="14276"/>
                  </a:lnTo>
                  <a:lnTo>
                    <a:pt x="108248" y="9485"/>
                  </a:lnTo>
                  <a:lnTo>
                    <a:pt x="156907" y="5711"/>
                  </a:lnTo>
                  <a:lnTo>
                    <a:pt x="204091" y="2915"/>
                  </a:lnTo>
                  <a:lnTo>
                    <a:pt x="250239" y="1057"/>
                  </a:lnTo>
                  <a:lnTo>
                    <a:pt x="295788" y="98"/>
                  </a:lnTo>
                  <a:lnTo>
                    <a:pt x="341176" y="0"/>
                  </a:lnTo>
                  <a:lnTo>
                    <a:pt x="386840" y="722"/>
                  </a:lnTo>
                  <a:lnTo>
                    <a:pt x="433220" y="2227"/>
                  </a:lnTo>
                  <a:lnTo>
                    <a:pt x="480751" y="4476"/>
                  </a:lnTo>
                  <a:lnTo>
                    <a:pt x="529874" y="7428"/>
                  </a:lnTo>
                  <a:lnTo>
                    <a:pt x="581024" y="11046"/>
                  </a:lnTo>
                  <a:lnTo>
                    <a:pt x="634640" y="15290"/>
                  </a:lnTo>
                  <a:lnTo>
                    <a:pt x="691161" y="20121"/>
                  </a:lnTo>
                  <a:lnTo>
                    <a:pt x="743590" y="24651"/>
                  </a:lnTo>
                  <a:lnTo>
                    <a:pt x="792818" y="28676"/>
                  </a:lnTo>
                  <a:lnTo>
                    <a:pt x="839488" y="32164"/>
                  </a:lnTo>
                  <a:lnTo>
                    <a:pt x="884244" y="35082"/>
                  </a:lnTo>
                  <a:lnTo>
                    <a:pt x="927730" y="37397"/>
                  </a:lnTo>
                  <a:lnTo>
                    <a:pt x="970588" y="39075"/>
                  </a:lnTo>
                  <a:lnTo>
                    <a:pt x="1013462" y="40085"/>
                  </a:lnTo>
                  <a:lnTo>
                    <a:pt x="1056996" y="40392"/>
                  </a:lnTo>
                  <a:lnTo>
                    <a:pt x="1101833" y="39964"/>
                  </a:lnTo>
                  <a:lnTo>
                    <a:pt x="1148616" y="38769"/>
                  </a:lnTo>
                  <a:lnTo>
                    <a:pt x="1197989" y="36773"/>
                  </a:lnTo>
                  <a:lnTo>
                    <a:pt x="1250595" y="33943"/>
                  </a:lnTo>
                  <a:lnTo>
                    <a:pt x="1307078" y="30246"/>
                  </a:lnTo>
                  <a:lnTo>
                    <a:pt x="1368080" y="25650"/>
                  </a:lnTo>
                  <a:lnTo>
                    <a:pt x="1434246" y="20121"/>
                  </a:lnTo>
                  <a:lnTo>
                    <a:pt x="1501333" y="15113"/>
                  </a:lnTo>
                  <a:lnTo>
                    <a:pt x="1564835" y="11930"/>
                  </a:lnTo>
                  <a:lnTo>
                    <a:pt x="1625000" y="10315"/>
                  </a:lnTo>
                  <a:lnTo>
                    <a:pt x="1682079" y="10014"/>
                  </a:lnTo>
                  <a:lnTo>
                    <a:pt x="1736319" y="10769"/>
                  </a:lnTo>
                  <a:lnTo>
                    <a:pt x="1787969" y="12325"/>
                  </a:lnTo>
                  <a:lnTo>
                    <a:pt x="1837278" y="14426"/>
                  </a:lnTo>
                  <a:lnTo>
                    <a:pt x="1884495" y="16816"/>
                  </a:lnTo>
                  <a:lnTo>
                    <a:pt x="1929868" y="19238"/>
                  </a:lnTo>
                  <a:lnTo>
                    <a:pt x="1973647" y="21437"/>
                  </a:lnTo>
                  <a:lnTo>
                    <a:pt x="2016080" y="23157"/>
                  </a:lnTo>
                  <a:lnTo>
                    <a:pt x="2057415" y="24141"/>
                  </a:lnTo>
                  <a:lnTo>
                    <a:pt x="2097903" y="24134"/>
                  </a:lnTo>
                  <a:lnTo>
                    <a:pt x="2137790" y="22879"/>
                  </a:lnTo>
                  <a:lnTo>
                    <a:pt x="2177327" y="20121"/>
                  </a:lnTo>
                  <a:lnTo>
                    <a:pt x="2222906" y="17042"/>
                  </a:lnTo>
                  <a:lnTo>
                    <a:pt x="2268673" y="15851"/>
                  </a:lnTo>
                  <a:lnTo>
                    <a:pt x="2314706" y="16174"/>
                  </a:lnTo>
                  <a:lnTo>
                    <a:pt x="2361085" y="17634"/>
                  </a:lnTo>
                  <a:lnTo>
                    <a:pt x="2407887" y="19858"/>
                  </a:lnTo>
                  <a:lnTo>
                    <a:pt x="2455193" y="22470"/>
                  </a:lnTo>
                  <a:lnTo>
                    <a:pt x="2503081" y="25096"/>
                  </a:lnTo>
                  <a:lnTo>
                    <a:pt x="2551630" y="27359"/>
                  </a:lnTo>
                  <a:lnTo>
                    <a:pt x="2600919" y="28885"/>
                  </a:lnTo>
                  <a:lnTo>
                    <a:pt x="2651027" y="29300"/>
                  </a:lnTo>
                  <a:lnTo>
                    <a:pt x="2702034" y="28227"/>
                  </a:lnTo>
                  <a:lnTo>
                    <a:pt x="2754017" y="25293"/>
                  </a:lnTo>
                  <a:lnTo>
                    <a:pt x="2807057" y="20121"/>
                  </a:lnTo>
                  <a:lnTo>
                    <a:pt x="2859322" y="14939"/>
                  </a:lnTo>
                  <a:lnTo>
                    <a:pt x="2909242" y="11975"/>
                  </a:lnTo>
                  <a:lnTo>
                    <a:pt x="2957281" y="10860"/>
                  </a:lnTo>
                  <a:lnTo>
                    <a:pt x="3003906" y="11225"/>
                  </a:lnTo>
                  <a:lnTo>
                    <a:pt x="3049583" y="12700"/>
                  </a:lnTo>
                  <a:lnTo>
                    <a:pt x="3094777" y="14916"/>
                  </a:lnTo>
                  <a:lnTo>
                    <a:pt x="3139956" y="17502"/>
                  </a:lnTo>
                  <a:lnTo>
                    <a:pt x="3185585" y="20091"/>
                  </a:lnTo>
                  <a:lnTo>
                    <a:pt x="3232129" y="22311"/>
                  </a:lnTo>
                  <a:lnTo>
                    <a:pt x="3280056" y="23793"/>
                  </a:lnTo>
                  <a:lnTo>
                    <a:pt x="3329830" y="24169"/>
                  </a:lnTo>
                  <a:lnTo>
                    <a:pt x="3381919" y="23068"/>
                  </a:lnTo>
                  <a:lnTo>
                    <a:pt x="3436787" y="20121"/>
                  </a:lnTo>
                  <a:lnTo>
                    <a:pt x="3504407" y="15266"/>
                  </a:lnTo>
                  <a:lnTo>
                    <a:pt x="3562170" y="11166"/>
                  </a:lnTo>
                  <a:lnTo>
                    <a:pt x="3612442" y="7941"/>
                  </a:lnTo>
                  <a:lnTo>
                    <a:pt x="3657587" y="5713"/>
                  </a:lnTo>
                  <a:lnTo>
                    <a:pt x="3699969" y="4605"/>
                  </a:lnTo>
                  <a:lnTo>
                    <a:pt x="3741951" y="4739"/>
                  </a:lnTo>
                  <a:lnTo>
                    <a:pt x="3785898" y="6235"/>
                  </a:lnTo>
                  <a:lnTo>
                    <a:pt x="3834173" y="9216"/>
                  </a:lnTo>
                  <a:lnTo>
                    <a:pt x="3889142" y="13805"/>
                  </a:lnTo>
                  <a:lnTo>
                    <a:pt x="3953168" y="20121"/>
                  </a:lnTo>
                  <a:lnTo>
                    <a:pt x="4003252" y="24233"/>
                  </a:lnTo>
                  <a:lnTo>
                    <a:pt x="4054268" y="26459"/>
                  </a:lnTo>
                  <a:lnTo>
                    <a:pt x="4105943" y="27114"/>
                  </a:lnTo>
                  <a:lnTo>
                    <a:pt x="4158001" y="26510"/>
                  </a:lnTo>
                  <a:lnTo>
                    <a:pt x="4210171" y="24960"/>
                  </a:lnTo>
                  <a:lnTo>
                    <a:pt x="4262178" y="22777"/>
                  </a:lnTo>
                  <a:lnTo>
                    <a:pt x="4313749" y="20276"/>
                  </a:lnTo>
                  <a:lnTo>
                    <a:pt x="4364611" y="17768"/>
                  </a:lnTo>
                  <a:lnTo>
                    <a:pt x="4414489" y="15566"/>
                  </a:lnTo>
                  <a:lnTo>
                    <a:pt x="4463112" y="13985"/>
                  </a:lnTo>
                  <a:lnTo>
                    <a:pt x="4510204" y="13337"/>
                  </a:lnTo>
                  <a:lnTo>
                    <a:pt x="4555494" y="13935"/>
                  </a:lnTo>
                  <a:lnTo>
                    <a:pt x="4598706" y="16092"/>
                  </a:lnTo>
                  <a:lnTo>
                    <a:pt x="4639568" y="20121"/>
                  </a:lnTo>
                  <a:lnTo>
                    <a:pt x="4668956" y="23527"/>
                  </a:lnTo>
                  <a:lnTo>
                    <a:pt x="4701588" y="26640"/>
                  </a:lnTo>
                  <a:lnTo>
                    <a:pt x="4775979" y="31943"/>
                  </a:lnTo>
                  <a:lnTo>
                    <a:pt x="4817438" y="34111"/>
                  </a:lnTo>
                  <a:lnTo>
                    <a:pt x="4861539" y="35943"/>
                  </a:lnTo>
                  <a:lnTo>
                    <a:pt x="4908133" y="37427"/>
                  </a:lnTo>
                  <a:lnTo>
                    <a:pt x="4957069" y="38552"/>
                  </a:lnTo>
                  <a:lnTo>
                    <a:pt x="5008196" y="39308"/>
                  </a:lnTo>
                  <a:lnTo>
                    <a:pt x="5061366" y="39684"/>
                  </a:lnTo>
                  <a:lnTo>
                    <a:pt x="5116427" y="39668"/>
                  </a:lnTo>
                  <a:lnTo>
                    <a:pt x="5173229" y="39250"/>
                  </a:lnTo>
                  <a:lnTo>
                    <a:pt x="5231623" y="38419"/>
                  </a:lnTo>
                  <a:lnTo>
                    <a:pt x="5291459" y="37164"/>
                  </a:lnTo>
                  <a:lnTo>
                    <a:pt x="5352585" y="35474"/>
                  </a:lnTo>
                  <a:lnTo>
                    <a:pt x="5414852" y="33339"/>
                  </a:lnTo>
                  <a:lnTo>
                    <a:pt x="5478110" y="30747"/>
                  </a:lnTo>
                  <a:lnTo>
                    <a:pt x="5542209" y="27687"/>
                  </a:lnTo>
                  <a:lnTo>
                    <a:pt x="5606999" y="24149"/>
                  </a:lnTo>
                  <a:lnTo>
                    <a:pt x="5672329" y="20121"/>
                  </a:lnTo>
                  <a:lnTo>
                    <a:pt x="5673223" y="83450"/>
                  </a:lnTo>
                  <a:lnTo>
                    <a:pt x="5673646" y="142126"/>
                  </a:lnTo>
                  <a:lnTo>
                    <a:pt x="5673699" y="196662"/>
                  </a:lnTo>
                  <a:lnTo>
                    <a:pt x="5673486" y="247572"/>
                  </a:lnTo>
                  <a:lnTo>
                    <a:pt x="5673109" y="295367"/>
                  </a:lnTo>
                  <a:lnTo>
                    <a:pt x="5672668" y="340561"/>
                  </a:lnTo>
                  <a:lnTo>
                    <a:pt x="5672268" y="383666"/>
                  </a:lnTo>
                  <a:lnTo>
                    <a:pt x="5672010" y="425195"/>
                  </a:lnTo>
                  <a:lnTo>
                    <a:pt x="5671996" y="465660"/>
                  </a:lnTo>
                  <a:lnTo>
                    <a:pt x="5672329" y="505575"/>
                  </a:lnTo>
                  <a:lnTo>
                    <a:pt x="5672600" y="548223"/>
                  </a:lnTo>
                  <a:lnTo>
                    <a:pt x="5672435" y="595676"/>
                  </a:lnTo>
                  <a:lnTo>
                    <a:pt x="5671974" y="646623"/>
                  </a:lnTo>
                  <a:lnTo>
                    <a:pt x="5671359" y="699753"/>
                  </a:lnTo>
                  <a:lnTo>
                    <a:pt x="5670731" y="753757"/>
                  </a:lnTo>
                  <a:lnTo>
                    <a:pt x="5670230" y="807325"/>
                  </a:lnTo>
                  <a:lnTo>
                    <a:pt x="5669999" y="859146"/>
                  </a:lnTo>
                  <a:lnTo>
                    <a:pt x="5670177" y="907910"/>
                  </a:lnTo>
                  <a:lnTo>
                    <a:pt x="5670907" y="952308"/>
                  </a:lnTo>
                  <a:lnTo>
                    <a:pt x="5672329" y="991028"/>
                  </a:lnTo>
                  <a:lnTo>
                    <a:pt x="5633639" y="987783"/>
                  </a:lnTo>
                  <a:lnTo>
                    <a:pt x="5593899" y="986798"/>
                  </a:lnTo>
                  <a:lnTo>
                    <a:pt x="5552231" y="987452"/>
                  </a:lnTo>
                  <a:lnTo>
                    <a:pt x="5507758" y="989124"/>
                  </a:lnTo>
                  <a:lnTo>
                    <a:pt x="5459603" y="991193"/>
                  </a:lnTo>
                  <a:lnTo>
                    <a:pt x="5406889" y="993038"/>
                  </a:lnTo>
                  <a:lnTo>
                    <a:pt x="5348738" y="994040"/>
                  </a:lnTo>
                  <a:lnTo>
                    <a:pt x="5284274" y="993577"/>
                  </a:lnTo>
                  <a:lnTo>
                    <a:pt x="5212618" y="991028"/>
                  </a:lnTo>
                  <a:lnTo>
                    <a:pt x="5148756" y="988349"/>
                  </a:lnTo>
                  <a:lnTo>
                    <a:pt x="5092036" y="986973"/>
                  </a:lnTo>
                  <a:lnTo>
                    <a:pt x="5040799" y="986634"/>
                  </a:lnTo>
                  <a:lnTo>
                    <a:pt x="4993384" y="987067"/>
                  </a:lnTo>
                  <a:lnTo>
                    <a:pt x="4948133" y="988007"/>
                  </a:lnTo>
                  <a:lnTo>
                    <a:pt x="4903386" y="989189"/>
                  </a:lnTo>
                  <a:lnTo>
                    <a:pt x="4857483" y="990347"/>
                  </a:lnTo>
                  <a:lnTo>
                    <a:pt x="4808766" y="991216"/>
                  </a:lnTo>
                  <a:lnTo>
                    <a:pt x="4755574" y="991532"/>
                  </a:lnTo>
                  <a:lnTo>
                    <a:pt x="4696248" y="991028"/>
                  </a:lnTo>
                  <a:lnTo>
                    <a:pt x="4637357" y="990129"/>
                  </a:lnTo>
                  <a:lnTo>
                    <a:pt x="4585276" y="989435"/>
                  </a:lnTo>
                  <a:lnTo>
                    <a:pt x="4538055" y="988945"/>
                  </a:lnTo>
                  <a:lnTo>
                    <a:pt x="4493746" y="988655"/>
                  </a:lnTo>
                  <a:lnTo>
                    <a:pt x="4450399" y="988564"/>
                  </a:lnTo>
                  <a:lnTo>
                    <a:pt x="4406065" y="988670"/>
                  </a:lnTo>
                  <a:lnTo>
                    <a:pt x="4358794" y="988972"/>
                  </a:lnTo>
                  <a:lnTo>
                    <a:pt x="4306637" y="989467"/>
                  </a:lnTo>
                  <a:lnTo>
                    <a:pt x="4247645" y="990153"/>
                  </a:lnTo>
                  <a:lnTo>
                    <a:pt x="4179868" y="991028"/>
                  </a:lnTo>
                  <a:lnTo>
                    <a:pt x="4116962" y="991661"/>
                  </a:lnTo>
                  <a:lnTo>
                    <a:pt x="4059843" y="991864"/>
                  </a:lnTo>
                  <a:lnTo>
                    <a:pt x="4007303" y="991740"/>
                  </a:lnTo>
                  <a:lnTo>
                    <a:pt x="3958133" y="991387"/>
                  </a:lnTo>
                  <a:lnTo>
                    <a:pt x="3911125" y="990909"/>
                  </a:lnTo>
                  <a:lnTo>
                    <a:pt x="3865070" y="990404"/>
                  </a:lnTo>
                  <a:lnTo>
                    <a:pt x="3818761" y="989975"/>
                  </a:lnTo>
                  <a:lnTo>
                    <a:pt x="3770988" y="989722"/>
                  </a:lnTo>
                  <a:lnTo>
                    <a:pt x="3720544" y="989745"/>
                  </a:lnTo>
                  <a:lnTo>
                    <a:pt x="3666220" y="990147"/>
                  </a:lnTo>
                  <a:lnTo>
                    <a:pt x="3606807" y="991028"/>
                  </a:lnTo>
                  <a:lnTo>
                    <a:pt x="3534094" y="992206"/>
                  </a:lnTo>
                  <a:lnTo>
                    <a:pt x="3468027" y="992957"/>
                  </a:lnTo>
                  <a:lnTo>
                    <a:pt x="3408077" y="993338"/>
                  </a:lnTo>
                  <a:lnTo>
                    <a:pt x="3353712" y="993406"/>
                  </a:lnTo>
                  <a:lnTo>
                    <a:pt x="3304402" y="993217"/>
                  </a:lnTo>
                  <a:lnTo>
                    <a:pt x="3259618" y="992828"/>
                  </a:lnTo>
                  <a:lnTo>
                    <a:pt x="3218827" y="992296"/>
                  </a:lnTo>
                  <a:lnTo>
                    <a:pt x="3181500" y="991677"/>
                  </a:lnTo>
                  <a:lnTo>
                    <a:pt x="3147107" y="991028"/>
                  </a:lnTo>
                  <a:lnTo>
                    <a:pt x="3114376" y="990711"/>
                  </a:lnTo>
                  <a:lnTo>
                    <a:pt x="3071697" y="990751"/>
                  </a:lnTo>
                  <a:lnTo>
                    <a:pt x="3021095" y="991050"/>
                  </a:lnTo>
                  <a:lnTo>
                    <a:pt x="2964595" y="991511"/>
                  </a:lnTo>
                  <a:lnTo>
                    <a:pt x="2904222" y="992035"/>
                  </a:lnTo>
                  <a:lnTo>
                    <a:pt x="2842001" y="992524"/>
                  </a:lnTo>
                  <a:lnTo>
                    <a:pt x="2779957" y="992881"/>
                  </a:lnTo>
                  <a:lnTo>
                    <a:pt x="2720116" y="993008"/>
                  </a:lnTo>
                  <a:lnTo>
                    <a:pt x="2664502" y="992806"/>
                  </a:lnTo>
                  <a:lnTo>
                    <a:pt x="2615141" y="992179"/>
                  </a:lnTo>
                  <a:lnTo>
                    <a:pt x="2574057" y="991028"/>
                  </a:lnTo>
                  <a:lnTo>
                    <a:pt x="2539609" y="989572"/>
                  </a:lnTo>
                  <a:lnTo>
                    <a:pt x="2502614" y="987943"/>
                  </a:lnTo>
                  <a:lnTo>
                    <a:pt x="2462853" y="986272"/>
                  </a:lnTo>
                  <a:lnTo>
                    <a:pt x="2420107" y="984691"/>
                  </a:lnTo>
                  <a:lnTo>
                    <a:pt x="2374155" y="983330"/>
                  </a:lnTo>
                  <a:lnTo>
                    <a:pt x="2324779" y="982322"/>
                  </a:lnTo>
                  <a:lnTo>
                    <a:pt x="2271759" y="981798"/>
                  </a:lnTo>
                  <a:lnTo>
                    <a:pt x="2214877" y="981888"/>
                  </a:lnTo>
                  <a:lnTo>
                    <a:pt x="2153911" y="982725"/>
                  </a:lnTo>
                  <a:lnTo>
                    <a:pt x="2088644" y="984440"/>
                  </a:lnTo>
                  <a:lnTo>
                    <a:pt x="2018856" y="987163"/>
                  </a:lnTo>
                  <a:lnTo>
                    <a:pt x="1944326" y="991028"/>
                  </a:lnTo>
                  <a:lnTo>
                    <a:pt x="1879463" y="993995"/>
                  </a:lnTo>
                  <a:lnTo>
                    <a:pt x="1816855" y="995403"/>
                  </a:lnTo>
                  <a:lnTo>
                    <a:pt x="1756548" y="995527"/>
                  </a:lnTo>
                  <a:lnTo>
                    <a:pt x="1698588" y="994643"/>
                  </a:lnTo>
                  <a:lnTo>
                    <a:pt x="1643018" y="993027"/>
                  </a:lnTo>
                  <a:lnTo>
                    <a:pt x="1589884" y="990955"/>
                  </a:lnTo>
                  <a:lnTo>
                    <a:pt x="1539231" y="988701"/>
                  </a:lnTo>
                  <a:lnTo>
                    <a:pt x="1491105" y="986543"/>
                  </a:lnTo>
                  <a:lnTo>
                    <a:pt x="1445549" y="984755"/>
                  </a:lnTo>
                  <a:lnTo>
                    <a:pt x="1402610" y="983614"/>
                  </a:lnTo>
                  <a:lnTo>
                    <a:pt x="1362332" y="983395"/>
                  </a:lnTo>
                  <a:lnTo>
                    <a:pt x="1324760" y="984374"/>
                  </a:lnTo>
                  <a:lnTo>
                    <a:pt x="1289940" y="986826"/>
                  </a:lnTo>
                  <a:lnTo>
                    <a:pt x="1257916" y="991028"/>
                  </a:lnTo>
                  <a:lnTo>
                    <a:pt x="1223757" y="995631"/>
                  </a:lnTo>
                  <a:lnTo>
                    <a:pt x="1183187" y="999166"/>
                  </a:lnTo>
                  <a:lnTo>
                    <a:pt x="1137237" y="1001722"/>
                  </a:lnTo>
                  <a:lnTo>
                    <a:pt x="1086939" y="1003389"/>
                  </a:lnTo>
                  <a:lnTo>
                    <a:pt x="1033323" y="1004258"/>
                  </a:lnTo>
                  <a:lnTo>
                    <a:pt x="977418" y="1004419"/>
                  </a:lnTo>
                  <a:lnTo>
                    <a:pt x="920257" y="1003962"/>
                  </a:lnTo>
                  <a:lnTo>
                    <a:pt x="862870" y="1002976"/>
                  </a:lnTo>
                  <a:lnTo>
                    <a:pt x="806287" y="1001553"/>
                  </a:lnTo>
                  <a:lnTo>
                    <a:pt x="751539" y="999783"/>
                  </a:lnTo>
                  <a:lnTo>
                    <a:pt x="699657" y="997755"/>
                  </a:lnTo>
                  <a:lnTo>
                    <a:pt x="651672" y="995559"/>
                  </a:lnTo>
                  <a:lnTo>
                    <a:pt x="608613" y="993287"/>
                  </a:lnTo>
                  <a:lnTo>
                    <a:pt x="571513" y="991028"/>
                  </a:lnTo>
                  <a:lnTo>
                    <a:pt x="526819" y="988554"/>
                  </a:lnTo>
                  <a:lnTo>
                    <a:pt x="479088" y="986753"/>
                  </a:lnTo>
                  <a:lnTo>
                    <a:pt x="428878" y="985563"/>
                  </a:lnTo>
                  <a:lnTo>
                    <a:pt x="376745" y="984927"/>
                  </a:lnTo>
                  <a:lnTo>
                    <a:pt x="323247" y="984786"/>
                  </a:lnTo>
                  <a:lnTo>
                    <a:pt x="268939" y="985081"/>
                  </a:lnTo>
                  <a:lnTo>
                    <a:pt x="214379" y="985752"/>
                  </a:lnTo>
                  <a:lnTo>
                    <a:pt x="160124" y="986742"/>
                  </a:lnTo>
                  <a:lnTo>
                    <a:pt x="106731" y="987990"/>
                  </a:lnTo>
                  <a:lnTo>
                    <a:pt x="54755" y="989438"/>
                  </a:lnTo>
                  <a:lnTo>
                    <a:pt x="4755" y="991028"/>
                  </a:lnTo>
                  <a:lnTo>
                    <a:pt x="2809" y="933904"/>
                  </a:lnTo>
                  <a:lnTo>
                    <a:pt x="1603" y="881025"/>
                  </a:lnTo>
                  <a:lnTo>
                    <a:pt x="1028" y="831146"/>
                  </a:lnTo>
                  <a:lnTo>
                    <a:pt x="975" y="783018"/>
                  </a:lnTo>
                  <a:lnTo>
                    <a:pt x="1337" y="735394"/>
                  </a:lnTo>
                  <a:lnTo>
                    <a:pt x="2004" y="687027"/>
                  </a:lnTo>
                  <a:lnTo>
                    <a:pt x="2869" y="636669"/>
                  </a:lnTo>
                  <a:lnTo>
                    <a:pt x="3822" y="583073"/>
                  </a:lnTo>
                  <a:lnTo>
                    <a:pt x="4755" y="524993"/>
                  </a:lnTo>
                  <a:lnTo>
                    <a:pt x="5080" y="469954"/>
                  </a:lnTo>
                  <a:lnTo>
                    <a:pt x="4633" y="414520"/>
                  </a:lnTo>
                  <a:lnTo>
                    <a:pt x="3675" y="359218"/>
                  </a:lnTo>
                  <a:lnTo>
                    <a:pt x="2471" y="304576"/>
                  </a:lnTo>
                  <a:lnTo>
                    <a:pt x="1282" y="251121"/>
                  </a:lnTo>
                  <a:lnTo>
                    <a:pt x="370" y="199381"/>
                  </a:lnTo>
                  <a:lnTo>
                    <a:pt x="0" y="149884"/>
                  </a:lnTo>
                  <a:lnTo>
                    <a:pt x="432" y="103156"/>
                  </a:lnTo>
                  <a:lnTo>
                    <a:pt x="1929" y="59726"/>
                  </a:lnTo>
                  <a:lnTo>
                    <a:pt x="4755" y="2012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582" y="4253060"/>
              <a:ext cx="5560705" cy="64677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56132" y="4899826"/>
              <a:ext cx="5181600" cy="15875"/>
            </a:xfrm>
            <a:custGeom>
              <a:avLst/>
              <a:gdLst/>
              <a:ahLst/>
              <a:cxnLst/>
              <a:rect l="l" t="t" r="r" b="b"/>
              <a:pathLst>
                <a:path w="5181600" h="15875">
                  <a:moveTo>
                    <a:pt x="3847662" y="0"/>
                  </a:moveTo>
                  <a:lnTo>
                    <a:pt x="3155326" y="0"/>
                  </a:lnTo>
                  <a:lnTo>
                    <a:pt x="3194551" y="6339"/>
                  </a:lnTo>
                  <a:lnTo>
                    <a:pt x="3237029" y="10876"/>
                  </a:lnTo>
                  <a:lnTo>
                    <a:pt x="3282214" y="13798"/>
                  </a:lnTo>
                  <a:lnTo>
                    <a:pt x="3329728" y="15316"/>
                  </a:lnTo>
                  <a:lnTo>
                    <a:pt x="3379188" y="15643"/>
                  </a:lnTo>
                  <a:lnTo>
                    <a:pt x="3430216" y="14990"/>
                  </a:lnTo>
                  <a:lnTo>
                    <a:pt x="3482431" y="13570"/>
                  </a:lnTo>
                  <a:lnTo>
                    <a:pt x="3799352" y="822"/>
                  </a:lnTo>
                  <a:lnTo>
                    <a:pt x="3847662" y="0"/>
                  </a:lnTo>
                  <a:close/>
                </a:path>
                <a:path w="5181600" h="15875">
                  <a:moveTo>
                    <a:pt x="2754183" y="0"/>
                  </a:moveTo>
                  <a:lnTo>
                    <a:pt x="2406194" y="0"/>
                  </a:lnTo>
                  <a:lnTo>
                    <a:pt x="2430602" y="2901"/>
                  </a:lnTo>
                  <a:lnTo>
                    <a:pt x="2446070" y="4710"/>
                  </a:lnTo>
                  <a:lnTo>
                    <a:pt x="2491018" y="7293"/>
                  </a:lnTo>
                  <a:lnTo>
                    <a:pt x="2539690" y="8062"/>
                  </a:lnTo>
                  <a:lnTo>
                    <a:pt x="2591373" y="7359"/>
                  </a:lnTo>
                  <a:lnTo>
                    <a:pt x="2645356" y="5524"/>
                  </a:lnTo>
                  <a:lnTo>
                    <a:pt x="2700927" y="2899"/>
                  </a:lnTo>
                  <a:lnTo>
                    <a:pt x="2754183" y="0"/>
                  </a:lnTo>
                  <a:close/>
                </a:path>
                <a:path w="5181600" h="15875">
                  <a:moveTo>
                    <a:pt x="5181446" y="0"/>
                  </a:moveTo>
                  <a:lnTo>
                    <a:pt x="4730149" y="0"/>
                  </a:lnTo>
                  <a:lnTo>
                    <a:pt x="4837046" y="2901"/>
                  </a:lnTo>
                  <a:lnTo>
                    <a:pt x="4957771" y="5730"/>
                  </a:lnTo>
                  <a:lnTo>
                    <a:pt x="5003107" y="6084"/>
                  </a:lnTo>
                  <a:lnTo>
                    <a:pt x="5047998" y="5821"/>
                  </a:lnTo>
                  <a:lnTo>
                    <a:pt x="5092629" y="4806"/>
                  </a:lnTo>
                  <a:lnTo>
                    <a:pt x="5137225" y="2899"/>
                  </a:lnTo>
                  <a:lnTo>
                    <a:pt x="5181446" y="0"/>
                  </a:lnTo>
                  <a:close/>
                </a:path>
                <a:path w="5181600" h="15875">
                  <a:moveTo>
                    <a:pt x="320595" y="0"/>
                  </a:moveTo>
                  <a:lnTo>
                    <a:pt x="0" y="0"/>
                  </a:lnTo>
                  <a:lnTo>
                    <a:pt x="36390" y="2247"/>
                  </a:lnTo>
                  <a:lnTo>
                    <a:pt x="86937" y="4507"/>
                  </a:lnTo>
                  <a:lnTo>
                    <a:pt x="140400" y="5787"/>
                  </a:lnTo>
                  <a:lnTo>
                    <a:pt x="197282" y="5709"/>
                  </a:lnTo>
                  <a:lnTo>
                    <a:pt x="258090" y="3897"/>
                  </a:lnTo>
                  <a:lnTo>
                    <a:pt x="320595" y="0"/>
                  </a:lnTo>
                  <a:close/>
                </a:path>
                <a:path w="5181600" h="15875">
                  <a:moveTo>
                    <a:pt x="1981844" y="0"/>
                  </a:moveTo>
                  <a:lnTo>
                    <a:pt x="1711746" y="0"/>
                  </a:lnTo>
                  <a:lnTo>
                    <a:pt x="1747472" y="3524"/>
                  </a:lnTo>
                  <a:lnTo>
                    <a:pt x="1788646" y="5187"/>
                  </a:lnTo>
                  <a:lnTo>
                    <a:pt x="1834226" y="5298"/>
                  </a:lnTo>
                  <a:lnTo>
                    <a:pt x="1883440" y="4190"/>
                  </a:lnTo>
                  <a:lnTo>
                    <a:pt x="1981844" y="0"/>
                  </a:lnTo>
                  <a:close/>
                </a:path>
                <a:path w="5181600" h="15875">
                  <a:moveTo>
                    <a:pt x="4376306" y="0"/>
                  </a:moveTo>
                  <a:lnTo>
                    <a:pt x="3925841" y="0"/>
                  </a:lnTo>
                  <a:lnTo>
                    <a:pt x="3944108" y="149"/>
                  </a:lnTo>
                  <a:lnTo>
                    <a:pt x="3980326" y="880"/>
                  </a:lnTo>
                  <a:lnTo>
                    <a:pt x="4042167" y="2901"/>
                  </a:lnTo>
                  <a:lnTo>
                    <a:pt x="4103158" y="4618"/>
                  </a:lnTo>
                  <a:lnTo>
                    <a:pt x="4139664" y="5013"/>
                  </a:lnTo>
                  <a:lnTo>
                    <a:pt x="4183012" y="4895"/>
                  </a:lnTo>
                  <a:lnTo>
                    <a:pt x="4235463" y="4114"/>
                  </a:lnTo>
                  <a:lnTo>
                    <a:pt x="4284216" y="2899"/>
                  </a:lnTo>
                  <a:lnTo>
                    <a:pt x="4376306" y="0"/>
                  </a:lnTo>
                  <a:close/>
                </a:path>
                <a:path w="5181600" h="15875">
                  <a:moveTo>
                    <a:pt x="957025" y="0"/>
                  </a:moveTo>
                  <a:lnTo>
                    <a:pt x="688483" y="0"/>
                  </a:lnTo>
                  <a:lnTo>
                    <a:pt x="699268" y="625"/>
                  </a:lnTo>
                  <a:lnTo>
                    <a:pt x="739969" y="2536"/>
                  </a:lnTo>
                  <a:lnTo>
                    <a:pt x="784893" y="3756"/>
                  </a:lnTo>
                  <a:lnTo>
                    <a:pt x="835727" y="3955"/>
                  </a:lnTo>
                  <a:lnTo>
                    <a:pt x="894157" y="2804"/>
                  </a:lnTo>
                  <a:lnTo>
                    <a:pt x="95702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5705" y="4389567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h="55879">
                  <a:moveTo>
                    <a:pt x="0" y="554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4089" y="4251195"/>
              <a:ext cx="5562600" cy="668020"/>
            </a:xfrm>
            <a:custGeom>
              <a:avLst/>
              <a:gdLst/>
              <a:ahLst/>
              <a:cxnLst/>
              <a:rect l="l" t="t" r="r" b="b"/>
              <a:pathLst>
                <a:path w="5562600" h="668020">
                  <a:moveTo>
                    <a:pt x="1294" y="17490"/>
                  </a:moveTo>
                  <a:lnTo>
                    <a:pt x="57036" y="22113"/>
                  </a:lnTo>
                  <a:lnTo>
                    <a:pt x="113284" y="25614"/>
                  </a:lnTo>
                  <a:lnTo>
                    <a:pt x="169773" y="28103"/>
                  </a:lnTo>
                  <a:lnTo>
                    <a:pt x="226242" y="29687"/>
                  </a:lnTo>
                  <a:lnTo>
                    <a:pt x="282426" y="30474"/>
                  </a:lnTo>
                  <a:lnTo>
                    <a:pt x="338063" y="30573"/>
                  </a:lnTo>
                  <a:lnTo>
                    <a:pt x="392889" y="30091"/>
                  </a:lnTo>
                  <a:lnTo>
                    <a:pt x="446641" y="29138"/>
                  </a:lnTo>
                  <a:lnTo>
                    <a:pt x="499056" y="27820"/>
                  </a:lnTo>
                  <a:lnTo>
                    <a:pt x="549871" y="26247"/>
                  </a:lnTo>
                  <a:lnTo>
                    <a:pt x="598823" y="24526"/>
                  </a:lnTo>
                  <a:lnTo>
                    <a:pt x="645648" y="22765"/>
                  </a:lnTo>
                  <a:lnTo>
                    <a:pt x="690084" y="21073"/>
                  </a:lnTo>
                  <a:lnTo>
                    <a:pt x="731867" y="19557"/>
                  </a:lnTo>
                  <a:lnTo>
                    <a:pt x="770734" y="18327"/>
                  </a:lnTo>
                  <a:lnTo>
                    <a:pt x="806422" y="17490"/>
                  </a:lnTo>
                  <a:lnTo>
                    <a:pt x="859625" y="16934"/>
                  </a:lnTo>
                  <a:lnTo>
                    <a:pt x="910867" y="17063"/>
                  </a:lnTo>
                  <a:lnTo>
                    <a:pt x="960845" y="17666"/>
                  </a:lnTo>
                  <a:lnTo>
                    <a:pt x="1010257" y="18532"/>
                  </a:lnTo>
                  <a:lnTo>
                    <a:pt x="1059801" y="19451"/>
                  </a:lnTo>
                  <a:lnTo>
                    <a:pt x="1110174" y="20214"/>
                  </a:lnTo>
                  <a:lnTo>
                    <a:pt x="1162075" y="20609"/>
                  </a:lnTo>
                  <a:lnTo>
                    <a:pt x="1216202" y="20427"/>
                  </a:lnTo>
                  <a:lnTo>
                    <a:pt x="1273253" y="19457"/>
                  </a:lnTo>
                  <a:lnTo>
                    <a:pt x="1333924" y="17490"/>
                  </a:lnTo>
                  <a:lnTo>
                    <a:pt x="1394504" y="14731"/>
                  </a:lnTo>
                  <a:lnTo>
                    <a:pt x="1451323" y="11741"/>
                  </a:lnTo>
                  <a:lnTo>
                    <a:pt x="1505141" y="8834"/>
                  </a:lnTo>
                  <a:lnTo>
                    <a:pt x="1556713" y="6330"/>
                  </a:lnTo>
                  <a:lnTo>
                    <a:pt x="1606797" y="4544"/>
                  </a:lnTo>
                  <a:lnTo>
                    <a:pt x="1656151" y="3793"/>
                  </a:lnTo>
                  <a:lnTo>
                    <a:pt x="1705533" y="4396"/>
                  </a:lnTo>
                  <a:lnTo>
                    <a:pt x="1755699" y="6668"/>
                  </a:lnTo>
                  <a:lnTo>
                    <a:pt x="1807407" y="10927"/>
                  </a:lnTo>
                  <a:lnTo>
                    <a:pt x="1861415" y="17490"/>
                  </a:lnTo>
                  <a:lnTo>
                    <a:pt x="1905946" y="22182"/>
                  </a:lnTo>
                  <a:lnTo>
                    <a:pt x="1953820" y="24515"/>
                  </a:lnTo>
                  <a:lnTo>
                    <a:pt x="2004335" y="24919"/>
                  </a:lnTo>
                  <a:lnTo>
                    <a:pt x="2056786" y="23823"/>
                  </a:lnTo>
                  <a:lnTo>
                    <a:pt x="2110470" y="21659"/>
                  </a:lnTo>
                  <a:lnTo>
                    <a:pt x="2164685" y="18856"/>
                  </a:lnTo>
                  <a:lnTo>
                    <a:pt x="2218726" y="15844"/>
                  </a:lnTo>
                  <a:lnTo>
                    <a:pt x="2271892" y="13054"/>
                  </a:lnTo>
                  <a:lnTo>
                    <a:pt x="2323478" y="10917"/>
                  </a:lnTo>
                  <a:lnTo>
                    <a:pt x="2372782" y="9861"/>
                  </a:lnTo>
                  <a:lnTo>
                    <a:pt x="2419099" y="10318"/>
                  </a:lnTo>
                  <a:lnTo>
                    <a:pt x="2461728" y="12717"/>
                  </a:lnTo>
                  <a:lnTo>
                    <a:pt x="2499965" y="17490"/>
                  </a:lnTo>
                  <a:lnTo>
                    <a:pt x="2542610" y="23101"/>
                  </a:lnTo>
                  <a:lnTo>
                    <a:pt x="2585980" y="25888"/>
                  </a:lnTo>
                  <a:lnTo>
                    <a:pt x="2630189" y="26418"/>
                  </a:lnTo>
                  <a:lnTo>
                    <a:pt x="2675347" y="25259"/>
                  </a:lnTo>
                  <a:lnTo>
                    <a:pt x="2721568" y="22978"/>
                  </a:lnTo>
                  <a:lnTo>
                    <a:pt x="2768962" y="20142"/>
                  </a:lnTo>
                  <a:lnTo>
                    <a:pt x="2817643" y="17318"/>
                  </a:lnTo>
                  <a:lnTo>
                    <a:pt x="2867721" y="15074"/>
                  </a:lnTo>
                  <a:lnTo>
                    <a:pt x="2919310" y="13976"/>
                  </a:lnTo>
                  <a:lnTo>
                    <a:pt x="2972521" y="14592"/>
                  </a:lnTo>
                  <a:lnTo>
                    <a:pt x="3027465" y="17490"/>
                  </a:lnTo>
                  <a:lnTo>
                    <a:pt x="3075493" y="20828"/>
                  </a:lnTo>
                  <a:lnTo>
                    <a:pt x="3124854" y="23678"/>
                  </a:lnTo>
                  <a:lnTo>
                    <a:pt x="3175233" y="26021"/>
                  </a:lnTo>
                  <a:lnTo>
                    <a:pt x="3226318" y="27839"/>
                  </a:lnTo>
                  <a:lnTo>
                    <a:pt x="3277794" y="29112"/>
                  </a:lnTo>
                  <a:lnTo>
                    <a:pt x="3329347" y="29823"/>
                  </a:lnTo>
                  <a:lnTo>
                    <a:pt x="3380663" y="29952"/>
                  </a:lnTo>
                  <a:lnTo>
                    <a:pt x="3431429" y="29482"/>
                  </a:lnTo>
                  <a:lnTo>
                    <a:pt x="3481331" y="28394"/>
                  </a:lnTo>
                  <a:lnTo>
                    <a:pt x="3530054" y="26669"/>
                  </a:lnTo>
                  <a:lnTo>
                    <a:pt x="3577285" y="24289"/>
                  </a:lnTo>
                  <a:lnTo>
                    <a:pt x="3622710" y="21236"/>
                  </a:lnTo>
                  <a:lnTo>
                    <a:pt x="3666016" y="17490"/>
                  </a:lnTo>
                  <a:lnTo>
                    <a:pt x="3718159" y="13061"/>
                  </a:lnTo>
                  <a:lnTo>
                    <a:pt x="3766102" y="10266"/>
                  </a:lnTo>
                  <a:lnTo>
                    <a:pt x="3811470" y="8862"/>
                  </a:lnTo>
                  <a:lnTo>
                    <a:pt x="3855889" y="8604"/>
                  </a:lnTo>
                  <a:lnTo>
                    <a:pt x="3900984" y="9250"/>
                  </a:lnTo>
                  <a:lnTo>
                    <a:pt x="3948382" y="10554"/>
                  </a:lnTo>
                  <a:lnTo>
                    <a:pt x="3999709" y="12274"/>
                  </a:lnTo>
                  <a:lnTo>
                    <a:pt x="4056589" y="14166"/>
                  </a:lnTo>
                  <a:lnTo>
                    <a:pt x="4120650" y="15986"/>
                  </a:lnTo>
                  <a:lnTo>
                    <a:pt x="4193516" y="17490"/>
                  </a:lnTo>
                  <a:lnTo>
                    <a:pt x="4244366" y="18638"/>
                  </a:lnTo>
                  <a:lnTo>
                    <a:pt x="4293427" y="20294"/>
                  </a:lnTo>
                  <a:lnTo>
                    <a:pt x="4341083" y="22302"/>
                  </a:lnTo>
                  <a:lnTo>
                    <a:pt x="4387718" y="24507"/>
                  </a:lnTo>
                  <a:lnTo>
                    <a:pt x="4433717" y="26754"/>
                  </a:lnTo>
                  <a:lnTo>
                    <a:pt x="4479462" y="28889"/>
                  </a:lnTo>
                  <a:lnTo>
                    <a:pt x="4525338" y="30757"/>
                  </a:lnTo>
                  <a:lnTo>
                    <a:pt x="4571728" y="32203"/>
                  </a:lnTo>
                  <a:lnTo>
                    <a:pt x="4619017" y="33072"/>
                  </a:lnTo>
                  <a:lnTo>
                    <a:pt x="4667589" y="33208"/>
                  </a:lnTo>
                  <a:lnTo>
                    <a:pt x="4717826" y="32458"/>
                  </a:lnTo>
                  <a:lnTo>
                    <a:pt x="4770114" y="30666"/>
                  </a:lnTo>
                  <a:lnTo>
                    <a:pt x="4824836" y="27677"/>
                  </a:lnTo>
                  <a:lnTo>
                    <a:pt x="4882375" y="23337"/>
                  </a:lnTo>
                  <a:lnTo>
                    <a:pt x="4943116" y="17490"/>
                  </a:lnTo>
                  <a:lnTo>
                    <a:pt x="5015087" y="10293"/>
                  </a:lnTo>
                  <a:lnTo>
                    <a:pt x="5076225" y="5178"/>
                  </a:lnTo>
                  <a:lnTo>
                    <a:pt x="5128631" y="1911"/>
                  </a:lnTo>
                  <a:lnTo>
                    <a:pt x="5174405" y="263"/>
                  </a:lnTo>
                  <a:lnTo>
                    <a:pt x="5215647" y="0"/>
                  </a:lnTo>
                  <a:lnTo>
                    <a:pt x="5254459" y="890"/>
                  </a:lnTo>
                  <a:lnTo>
                    <a:pt x="5292940" y="2704"/>
                  </a:lnTo>
                  <a:lnTo>
                    <a:pt x="5333191" y="5207"/>
                  </a:lnTo>
                  <a:lnTo>
                    <a:pt x="5377313" y="8169"/>
                  </a:lnTo>
                  <a:lnTo>
                    <a:pt x="5427406" y="11358"/>
                  </a:lnTo>
                  <a:lnTo>
                    <a:pt x="5485570" y="14542"/>
                  </a:lnTo>
                  <a:lnTo>
                    <a:pt x="5553907" y="17490"/>
                  </a:lnTo>
                  <a:lnTo>
                    <a:pt x="5559311" y="79457"/>
                  </a:lnTo>
                  <a:lnTo>
                    <a:pt x="5562010" y="133730"/>
                  </a:lnTo>
                  <a:lnTo>
                    <a:pt x="5562497" y="181797"/>
                  </a:lnTo>
                  <a:lnTo>
                    <a:pt x="5561262" y="225147"/>
                  </a:lnTo>
                  <a:lnTo>
                    <a:pt x="5558799" y="265268"/>
                  </a:lnTo>
                  <a:lnTo>
                    <a:pt x="5555599" y="303649"/>
                  </a:lnTo>
                  <a:lnTo>
                    <a:pt x="5552155" y="341777"/>
                  </a:lnTo>
                  <a:lnTo>
                    <a:pt x="5548958" y="381142"/>
                  </a:lnTo>
                  <a:lnTo>
                    <a:pt x="5546500" y="423232"/>
                  </a:lnTo>
                  <a:lnTo>
                    <a:pt x="5545274" y="469535"/>
                  </a:lnTo>
                  <a:lnTo>
                    <a:pt x="5545772" y="521539"/>
                  </a:lnTo>
                  <a:lnTo>
                    <a:pt x="5548485" y="580733"/>
                  </a:lnTo>
                  <a:lnTo>
                    <a:pt x="5553907" y="648606"/>
                  </a:lnTo>
                  <a:lnTo>
                    <a:pt x="5491852" y="647403"/>
                  </a:lnTo>
                  <a:lnTo>
                    <a:pt x="5436731" y="646420"/>
                  </a:lnTo>
                  <a:lnTo>
                    <a:pt x="5387241" y="645652"/>
                  </a:lnTo>
                  <a:lnTo>
                    <a:pt x="5342079" y="645094"/>
                  </a:lnTo>
                  <a:lnTo>
                    <a:pt x="5299941" y="644740"/>
                  </a:lnTo>
                  <a:lnTo>
                    <a:pt x="5259525" y="644585"/>
                  </a:lnTo>
                  <a:lnTo>
                    <a:pt x="5219527" y="644624"/>
                  </a:lnTo>
                  <a:lnTo>
                    <a:pt x="5178645" y="644850"/>
                  </a:lnTo>
                  <a:lnTo>
                    <a:pt x="5135575" y="645258"/>
                  </a:lnTo>
                  <a:lnTo>
                    <a:pt x="5089014" y="645843"/>
                  </a:lnTo>
                  <a:lnTo>
                    <a:pt x="5037660" y="646600"/>
                  </a:lnTo>
                  <a:lnTo>
                    <a:pt x="4980208" y="647523"/>
                  </a:lnTo>
                  <a:lnTo>
                    <a:pt x="4915356" y="648606"/>
                  </a:lnTo>
                  <a:lnTo>
                    <a:pt x="4843494" y="650175"/>
                  </a:lnTo>
                  <a:lnTo>
                    <a:pt x="4777126" y="652214"/>
                  </a:lnTo>
                  <a:lnTo>
                    <a:pt x="4715872" y="654495"/>
                  </a:lnTo>
                  <a:lnTo>
                    <a:pt x="4659356" y="656793"/>
                  </a:lnTo>
                  <a:lnTo>
                    <a:pt x="4607197" y="658881"/>
                  </a:lnTo>
                  <a:lnTo>
                    <a:pt x="4559019" y="660533"/>
                  </a:lnTo>
                  <a:lnTo>
                    <a:pt x="4514441" y="661522"/>
                  </a:lnTo>
                  <a:lnTo>
                    <a:pt x="4473086" y="661623"/>
                  </a:lnTo>
                  <a:lnTo>
                    <a:pt x="4434576" y="660608"/>
                  </a:lnTo>
                  <a:lnTo>
                    <a:pt x="4398531" y="658251"/>
                  </a:lnTo>
                  <a:lnTo>
                    <a:pt x="4364574" y="654326"/>
                  </a:lnTo>
                  <a:lnTo>
                    <a:pt x="4332326" y="648606"/>
                  </a:lnTo>
                  <a:lnTo>
                    <a:pt x="4297240" y="643446"/>
                  </a:lnTo>
                  <a:lnTo>
                    <a:pt x="4255796" y="640994"/>
                  </a:lnTo>
                  <a:lnTo>
                    <a:pt x="4209167" y="640721"/>
                  </a:lnTo>
                  <a:lnTo>
                    <a:pt x="4158521" y="642095"/>
                  </a:lnTo>
                  <a:lnTo>
                    <a:pt x="4105032" y="644584"/>
                  </a:lnTo>
                  <a:lnTo>
                    <a:pt x="4049868" y="647657"/>
                  </a:lnTo>
                  <a:lnTo>
                    <a:pt x="3994202" y="650783"/>
                  </a:lnTo>
                  <a:lnTo>
                    <a:pt x="3939204" y="653431"/>
                  </a:lnTo>
                  <a:lnTo>
                    <a:pt x="3886044" y="655068"/>
                  </a:lnTo>
                  <a:lnTo>
                    <a:pt x="3835894" y="655164"/>
                  </a:lnTo>
                  <a:lnTo>
                    <a:pt x="3789924" y="653187"/>
                  </a:lnTo>
                  <a:lnTo>
                    <a:pt x="3749306" y="648606"/>
                  </a:lnTo>
                  <a:lnTo>
                    <a:pt x="3713657" y="644276"/>
                  </a:lnTo>
                  <a:lnTo>
                    <a:pt x="3671768" y="641524"/>
                  </a:lnTo>
                  <a:lnTo>
                    <a:pt x="3624664" y="640121"/>
                  </a:lnTo>
                  <a:lnTo>
                    <a:pt x="3573369" y="639840"/>
                  </a:lnTo>
                  <a:lnTo>
                    <a:pt x="3518907" y="640452"/>
                  </a:lnTo>
                  <a:lnTo>
                    <a:pt x="3462303" y="641731"/>
                  </a:lnTo>
                  <a:lnTo>
                    <a:pt x="3404579" y="643448"/>
                  </a:lnTo>
                  <a:lnTo>
                    <a:pt x="3346761" y="645375"/>
                  </a:lnTo>
                  <a:lnTo>
                    <a:pt x="3289873" y="647286"/>
                  </a:lnTo>
                  <a:lnTo>
                    <a:pt x="3234939" y="648951"/>
                  </a:lnTo>
                  <a:lnTo>
                    <a:pt x="3182983" y="650143"/>
                  </a:lnTo>
                  <a:lnTo>
                    <a:pt x="3135029" y="650635"/>
                  </a:lnTo>
                  <a:lnTo>
                    <a:pt x="3092102" y="650199"/>
                  </a:lnTo>
                  <a:lnTo>
                    <a:pt x="3055225" y="648606"/>
                  </a:lnTo>
                  <a:lnTo>
                    <a:pt x="3005414" y="646284"/>
                  </a:lnTo>
                  <a:lnTo>
                    <a:pt x="2950831" y="645381"/>
                  </a:lnTo>
                  <a:lnTo>
                    <a:pt x="2893022" y="645559"/>
                  </a:lnTo>
                  <a:lnTo>
                    <a:pt x="2833530" y="646479"/>
                  </a:lnTo>
                  <a:lnTo>
                    <a:pt x="2773900" y="647802"/>
                  </a:lnTo>
                  <a:lnTo>
                    <a:pt x="2715677" y="649190"/>
                  </a:lnTo>
                  <a:lnTo>
                    <a:pt x="2660404" y="650303"/>
                  </a:lnTo>
                  <a:lnTo>
                    <a:pt x="2609627" y="650802"/>
                  </a:lnTo>
                  <a:lnTo>
                    <a:pt x="2564889" y="650350"/>
                  </a:lnTo>
                  <a:lnTo>
                    <a:pt x="2527735" y="648606"/>
                  </a:lnTo>
                  <a:lnTo>
                    <a:pt x="2499938" y="646679"/>
                  </a:lnTo>
                  <a:lnTo>
                    <a:pt x="2467317" y="644796"/>
                  </a:lnTo>
                  <a:lnTo>
                    <a:pt x="2388989" y="641467"/>
                  </a:lnTo>
                  <a:lnTo>
                    <a:pt x="2343974" y="640172"/>
                  </a:lnTo>
                  <a:lnTo>
                    <a:pt x="2295521" y="639222"/>
                  </a:lnTo>
                  <a:lnTo>
                    <a:pt x="2243976" y="638694"/>
                  </a:lnTo>
                  <a:lnTo>
                    <a:pt x="2189687" y="638664"/>
                  </a:lnTo>
                  <a:lnTo>
                    <a:pt x="2132998" y="639206"/>
                  </a:lnTo>
                  <a:lnTo>
                    <a:pt x="2074257" y="640396"/>
                  </a:lnTo>
                  <a:lnTo>
                    <a:pt x="2013810" y="642309"/>
                  </a:lnTo>
                  <a:lnTo>
                    <a:pt x="1952004" y="645020"/>
                  </a:lnTo>
                  <a:lnTo>
                    <a:pt x="1889185" y="648606"/>
                  </a:lnTo>
                  <a:lnTo>
                    <a:pt x="1832002" y="652300"/>
                  </a:lnTo>
                  <a:lnTo>
                    <a:pt x="1777585" y="655803"/>
                  </a:lnTo>
                  <a:lnTo>
                    <a:pt x="1725532" y="659019"/>
                  </a:lnTo>
                  <a:lnTo>
                    <a:pt x="1675447" y="661854"/>
                  </a:lnTo>
                  <a:lnTo>
                    <a:pt x="1626931" y="664216"/>
                  </a:lnTo>
                  <a:lnTo>
                    <a:pt x="1579584" y="666009"/>
                  </a:lnTo>
                  <a:lnTo>
                    <a:pt x="1533009" y="667139"/>
                  </a:lnTo>
                  <a:lnTo>
                    <a:pt x="1486807" y="667514"/>
                  </a:lnTo>
                  <a:lnTo>
                    <a:pt x="1440579" y="667037"/>
                  </a:lnTo>
                  <a:lnTo>
                    <a:pt x="1393927" y="665616"/>
                  </a:lnTo>
                  <a:lnTo>
                    <a:pt x="1346452" y="663157"/>
                  </a:lnTo>
                  <a:lnTo>
                    <a:pt x="1297756" y="659565"/>
                  </a:lnTo>
                  <a:lnTo>
                    <a:pt x="1247439" y="654746"/>
                  </a:lnTo>
                  <a:lnTo>
                    <a:pt x="1195104" y="648606"/>
                  </a:lnTo>
                  <a:lnTo>
                    <a:pt x="1162043" y="645228"/>
                  </a:lnTo>
                  <a:lnTo>
                    <a:pt x="1125440" y="642986"/>
                  </a:lnTo>
                  <a:lnTo>
                    <a:pt x="1085580" y="641766"/>
                  </a:lnTo>
                  <a:lnTo>
                    <a:pt x="1042748" y="641453"/>
                  </a:lnTo>
                  <a:lnTo>
                    <a:pt x="997229" y="641932"/>
                  </a:lnTo>
                  <a:lnTo>
                    <a:pt x="949310" y="643088"/>
                  </a:lnTo>
                  <a:lnTo>
                    <a:pt x="899274" y="644805"/>
                  </a:lnTo>
                  <a:lnTo>
                    <a:pt x="847407" y="646970"/>
                  </a:lnTo>
                  <a:lnTo>
                    <a:pt x="793995" y="649467"/>
                  </a:lnTo>
                  <a:lnTo>
                    <a:pt x="739322" y="652181"/>
                  </a:lnTo>
                  <a:lnTo>
                    <a:pt x="683674" y="654997"/>
                  </a:lnTo>
                  <a:lnTo>
                    <a:pt x="627336" y="657800"/>
                  </a:lnTo>
                  <a:lnTo>
                    <a:pt x="570594" y="660476"/>
                  </a:lnTo>
                  <a:lnTo>
                    <a:pt x="513732" y="662909"/>
                  </a:lnTo>
                  <a:lnTo>
                    <a:pt x="457036" y="664984"/>
                  </a:lnTo>
                  <a:lnTo>
                    <a:pt x="400791" y="666587"/>
                  </a:lnTo>
                  <a:lnTo>
                    <a:pt x="345282" y="667603"/>
                  </a:lnTo>
                  <a:lnTo>
                    <a:pt x="290794" y="667916"/>
                  </a:lnTo>
                  <a:lnTo>
                    <a:pt x="237614" y="667411"/>
                  </a:lnTo>
                  <a:lnTo>
                    <a:pt x="186025" y="665975"/>
                  </a:lnTo>
                  <a:lnTo>
                    <a:pt x="136313" y="663491"/>
                  </a:lnTo>
                  <a:lnTo>
                    <a:pt x="88764" y="659845"/>
                  </a:lnTo>
                  <a:lnTo>
                    <a:pt x="43662" y="654921"/>
                  </a:lnTo>
                  <a:lnTo>
                    <a:pt x="1294" y="648606"/>
                  </a:lnTo>
                  <a:lnTo>
                    <a:pt x="1039" y="603953"/>
                  </a:lnTo>
                  <a:lnTo>
                    <a:pt x="785" y="557376"/>
                  </a:lnTo>
                  <a:lnTo>
                    <a:pt x="544" y="509019"/>
                  </a:lnTo>
                  <a:lnTo>
                    <a:pt x="332" y="459025"/>
                  </a:lnTo>
                  <a:lnTo>
                    <a:pt x="161" y="407541"/>
                  </a:lnTo>
                  <a:lnTo>
                    <a:pt x="46" y="354708"/>
                  </a:lnTo>
                  <a:lnTo>
                    <a:pt x="0" y="300673"/>
                  </a:lnTo>
                  <a:lnTo>
                    <a:pt x="37" y="245578"/>
                  </a:lnTo>
                  <a:lnTo>
                    <a:pt x="171" y="189568"/>
                  </a:lnTo>
                  <a:lnTo>
                    <a:pt x="416" y="132787"/>
                  </a:lnTo>
                  <a:lnTo>
                    <a:pt x="785" y="75380"/>
                  </a:lnTo>
                  <a:lnTo>
                    <a:pt x="1294" y="1749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0126" y="1555637"/>
              <a:ext cx="3882787" cy="5628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41006" y="1570596"/>
              <a:ext cx="3888740" cy="594360"/>
            </a:xfrm>
            <a:custGeom>
              <a:avLst/>
              <a:gdLst/>
              <a:ahLst/>
              <a:cxnLst/>
              <a:rect l="l" t="t" r="r" b="b"/>
              <a:pathLst>
                <a:path w="3888740" h="594360">
                  <a:moveTo>
                    <a:pt x="3887000" y="444"/>
                  </a:moveTo>
                  <a:lnTo>
                    <a:pt x="3881894" y="0"/>
                  </a:lnTo>
                  <a:lnTo>
                    <a:pt x="3881894" y="66294"/>
                  </a:lnTo>
                  <a:lnTo>
                    <a:pt x="3887000" y="444"/>
                  </a:lnTo>
                  <a:close/>
                </a:path>
                <a:path w="3888740" h="594360">
                  <a:moveTo>
                    <a:pt x="3888308" y="547890"/>
                  </a:moveTo>
                  <a:lnTo>
                    <a:pt x="3881907" y="547890"/>
                  </a:lnTo>
                  <a:lnTo>
                    <a:pt x="0" y="547890"/>
                  </a:lnTo>
                  <a:lnTo>
                    <a:pt x="1308" y="585901"/>
                  </a:lnTo>
                  <a:lnTo>
                    <a:pt x="55448" y="585901"/>
                  </a:lnTo>
                  <a:lnTo>
                    <a:pt x="537019" y="594093"/>
                  </a:lnTo>
                  <a:lnTo>
                    <a:pt x="586574" y="593915"/>
                  </a:lnTo>
                  <a:lnTo>
                    <a:pt x="634441" y="593115"/>
                  </a:lnTo>
                  <a:lnTo>
                    <a:pt x="680377" y="591591"/>
                  </a:lnTo>
                  <a:lnTo>
                    <a:pt x="724217" y="589216"/>
                  </a:lnTo>
                  <a:lnTo>
                    <a:pt x="765695" y="585889"/>
                  </a:lnTo>
                  <a:lnTo>
                    <a:pt x="812888" y="582193"/>
                  </a:lnTo>
                  <a:lnTo>
                    <a:pt x="855726" y="580390"/>
                  </a:lnTo>
                  <a:lnTo>
                    <a:pt x="907211" y="580377"/>
                  </a:lnTo>
                  <a:lnTo>
                    <a:pt x="934250" y="580999"/>
                  </a:lnTo>
                  <a:lnTo>
                    <a:pt x="961682" y="582193"/>
                  </a:lnTo>
                  <a:lnTo>
                    <a:pt x="982840" y="583209"/>
                  </a:lnTo>
                  <a:lnTo>
                    <a:pt x="1015136" y="584898"/>
                  </a:lnTo>
                  <a:lnTo>
                    <a:pt x="1056640" y="586981"/>
                  </a:lnTo>
                  <a:lnTo>
                    <a:pt x="1104747" y="588848"/>
                  </a:lnTo>
                  <a:lnTo>
                    <a:pt x="1159040" y="590042"/>
                  </a:lnTo>
                  <a:lnTo>
                    <a:pt x="1221041" y="590194"/>
                  </a:lnTo>
                  <a:lnTo>
                    <a:pt x="1292275" y="588937"/>
                  </a:lnTo>
                  <a:lnTo>
                    <a:pt x="1445628" y="583272"/>
                  </a:lnTo>
                  <a:lnTo>
                    <a:pt x="1509826" y="582129"/>
                  </a:lnTo>
                  <a:lnTo>
                    <a:pt x="1568018" y="582193"/>
                  </a:lnTo>
                  <a:lnTo>
                    <a:pt x="1620901" y="583209"/>
                  </a:lnTo>
                  <a:lnTo>
                    <a:pt x="1669897" y="584898"/>
                  </a:lnTo>
                  <a:lnTo>
                    <a:pt x="1845919" y="593001"/>
                  </a:lnTo>
                  <a:lnTo>
                    <a:pt x="1890204" y="594004"/>
                  </a:lnTo>
                  <a:lnTo>
                    <a:pt x="1936673" y="594080"/>
                  </a:lnTo>
                  <a:lnTo>
                    <a:pt x="1986368" y="592924"/>
                  </a:lnTo>
                  <a:lnTo>
                    <a:pt x="2040318" y="590296"/>
                  </a:lnTo>
                  <a:lnTo>
                    <a:pt x="2150884" y="582129"/>
                  </a:lnTo>
                  <a:lnTo>
                    <a:pt x="2167636" y="580898"/>
                  </a:lnTo>
                  <a:lnTo>
                    <a:pt x="2184184" y="580110"/>
                  </a:lnTo>
                  <a:lnTo>
                    <a:pt x="2227529" y="578078"/>
                  </a:lnTo>
                  <a:lnTo>
                    <a:pt x="2280755" y="577075"/>
                  </a:lnTo>
                  <a:lnTo>
                    <a:pt x="2328837" y="577507"/>
                  </a:lnTo>
                  <a:lnTo>
                    <a:pt x="2373261" y="578980"/>
                  </a:lnTo>
                  <a:lnTo>
                    <a:pt x="2434729" y="582193"/>
                  </a:lnTo>
                  <a:lnTo>
                    <a:pt x="2452344" y="583209"/>
                  </a:lnTo>
                  <a:lnTo>
                    <a:pt x="2499690" y="585762"/>
                  </a:lnTo>
                  <a:lnTo>
                    <a:pt x="2544546" y="587527"/>
                  </a:lnTo>
                  <a:lnTo>
                    <a:pt x="2593276" y="588391"/>
                  </a:lnTo>
                  <a:lnTo>
                    <a:pt x="2647365" y="587984"/>
                  </a:lnTo>
                  <a:lnTo>
                    <a:pt x="2733256" y="584898"/>
                  </a:lnTo>
                  <a:lnTo>
                    <a:pt x="2777134" y="583120"/>
                  </a:lnTo>
                  <a:lnTo>
                    <a:pt x="2842056" y="581279"/>
                  </a:lnTo>
                  <a:lnTo>
                    <a:pt x="2903245" y="580275"/>
                  </a:lnTo>
                  <a:lnTo>
                    <a:pt x="3016326" y="580212"/>
                  </a:lnTo>
                  <a:lnTo>
                    <a:pt x="3129686" y="582193"/>
                  </a:lnTo>
                  <a:lnTo>
                    <a:pt x="3233026" y="584898"/>
                  </a:lnTo>
                  <a:lnTo>
                    <a:pt x="3278238" y="585901"/>
                  </a:lnTo>
                  <a:lnTo>
                    <a:pt x="3315601" y="585901"/>
                  </a:lnTo>
                  <a:lnTo>
                    <a:pt x="3360585" y="584898"/>
                  </a:lnTo>
                  <a:lnTo>
                    <a:pt x="3411423" y="583209"/>
                  </a:lnTo>
                  <a:lnTo>
                    <a:pt x="3497846" y="579958"/>
                  </a:lnTo>
                  <a:lnTo>
                    <a:pt x="3580701" y="577075"/>
                  </a:lnTo>
                  <a:lnTo>
                    <a:pt x="3644442" y="575449"/>
                  </a:lnTo>
                  <a:lnTo>
                    <a:pt x="3702393" y="574751"/>
                  </a:lnTo>
                  <a:lnTo>
                    <a:pt x="3757155" y="575157"/>
                  </a:lnTo>
                  <a:lnTo>
                    <a:pt x="3807193" y="576948"/>
                  </a:lnTo>
                  <a:lnTo>
                    <a:pt x="3850983" y="580440"/>
                  </a:lnTo>
                  <a:lnTo>
                    <a:pt x="3881894" y="585139"/>
                  </a:lnTo>
                  <a:lnTo>
                    <a:pt x="3887000" y="585901"/>
                  </a:lnTo>
                  <a:lnTo>
                    <a:pt x="3888308" y="547890"/>
                  </a:lnTo>
                  <a:close/>
                </a:path>
                <a:path w="3888740" h="594360">
                  <a:moveTo>
                    <a:pt x="3888600" y="497306"/>
                  </a:moveTo>
                  <a:lnTo>
                    <a:pt x="3887482" y="455574"/>
                  </a:lnTo>
                  <a:lnTo>
                    <a:pt x="3885590" y="414375"/>
                  </a:lnTo>
                  <a:lnTo>
                    <a:pt x="3881894" y="347586"/>
                  </a:lnTo>
                  <a:lnTo>
                    <a:pt x="3881894" y="547878"/>
                  </a:lnTo>
                  <a:lnTo>
                    <a:pt x="3888308" y="547878"/>
                  </a:lnTo>
                  <a:lnTo>
                    <a:pt x="3888562" y="540473"/>
                  </a:lnTo>
                  <a:lnTo>
                    <a:pt x="3888600" y="497306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1933" y="1554774"/>
              <a:ext cx="3896360" cy="613410"/>
            </a:xfrm>
            <a:custGeom>
              <a:avLst/>
              <a:gdLst/>
              <a:ahLst/>
              <a:cxnLst/>
              <a:rect l="l" t="t" r="r" b="b"/>
              <a:pathLst>
                <a:path w="3896359" h="613410">
                  <a:moveTo>
                    <a:pt x="10381" y="16265"/>
                  </a:moveTo>
                  <a:lnTo>
                    <a:pt x="52735" y="17948"/>
                  </a:lnTo>
                  <a:lnTo>
                    <a:pt x="97101" y="19000"/>
                  </a:lnTo>
                  <a:lnTo>
                    <a:pt x="143234" y="19515"/>
                  </a:lnTo>
                  <a:lnTo>
                    <a:pt x="190887" y="19586"/>
                  </a:lnTo>
                  <a:lnTo>
                    <a:pt x="239813" y="19305"/>
                  </a:lnTo>
                  <a:lnTo>
                    <a:pt x="289767" y="18765"/>
                  </a:lnTo>
                  <a:lnTo>
                    <a:pt x="340502" y="18059"/>
                  </a:lnTo>
                  <a:lnTo>
                    <a:pt x="391773" y="17280"/>
                  </a:lnTo>
                  <a:lnTo>
                    <a:pt x="443333" y="16521"/>
                  </a:lnTo>
                  <a:lnTo>
                    <a:pt x="494936" y="15874"/>
                  </a:lnTo>
                  <a:lnTo>
                    <a:pt x="546336" y="15432"/>
                  </a:lnTo>
                  <a:lnTo>
                    <a:pt x="597286" y="15288"/>
                  </a:lnTo>
                  <a:lnTo>
                    <a:pt x="647541" y="15535"/>
                  </a:lnTo>
                  <a:lnTo>
                    <a:pt x="696854" y="16265"/>
                  </a:lnTo>
                  <a:lnTo>
                    <a:pt x="757199" y="17809"/>
                  </a:lnTo>
                  <a:lnTo>
                    <a:pt x="814428" y="19734"/>
                  </a:lnTo>
                  <a:lnTo>
                    <a:pt x="869011" y="21811"/>
                  </a:lnTo>
                  <a:lnTo>
                    <a:pt x="921418" y="23808"/>
                  </a:lnTo>
                  <a:lnTo>
                    <a:pt x="972118" y="25497"/>
                  </a:lnTo>
                  <a:lnTo>
                    <a:pt x="1021580" y="26647"/>
                  </a:lnTo>
                  <a:lnTo>
                    <a:pt x="1070274" y="27028"/>
                  </a:lnTo>
                  <a:lnTo>
                    <a:pt x="1118668" y="26410"/>
                  </a:lnTo>
                  <a:lnTo>
                    <a:pt x="1167233" y="24564"/>
                  </a:lnTo>
                  <a:lnTo>
                    <a:pt x="1216438" y="21259"/>
                  </a:lnTo>
                  <a:lnTo>
                    <a:pt x="1266751" y="16265"/>
                  </a:lnTo>
                  <a:lnTo>
                    <a:pt x="1317078" y="10881"/>
                  </a:lnTo>
                  <a:lnTo>
                    <a:pt x="1366188" y="6560"/>
                  </a:lnTo>
                  <a:lnTo>
                    <a:pt x="1414350" y="3307"/>
                  </a:lnTo>
                  <a:lnTo>
                    <a:pt x="1461833" y="1126"/>
                  </a:lnTo>
                  <a:lnTo>
                    <a:pt x="1508907" y="22"/>
                  </a:lnTo>
                  <a:lnTo>
                    <a:pt x="1555839" y="0"/>
                  </a:lnTo>
                  <a:lnTo>
                    <a:pt x="1602900" y="1063"/>
                  </a:lnTo>
                  <a:lnTo>
                    <a:pt x="1650358" y="3217"/>
                  </a:lnTo>
                  <a:lnTo>
                    <a:pt x="1698481" y="6465"/>
                  </a:lnTo>
                  <a:lnTo>
                    <a:pt x="1747540" y="10813"/>
                  </a:lnTo>
                  <a:lnTo>
                    <a:pt x="1797802" y="16265"/>
                  </a:lnTo>
                  <a:lnTo>
                    <a:pt x="1841123" y="20717"/>
                  </a:lnTo>
                  <a:lnTo>
                    <a:pt x="1884962" y="23989"/>
                  </a:lnTo>
                  <a:lnTo>
                    <a:pt x="1929471" y="26201"/>
                  </a:lnTo>
                  <a:lnTo>
                    <a:pt x="1974806" y="27471"/>
                  </a:lnTo>
                  <a:lnTo>
                    <a:pt x="2021120" y="27920"/>
                  </a:lnTo>
                  <a:lnTo>
                    <a:pt x="2068568" y="27666"/>
                  </a:lnTo>
                  <a:lnTo>
                    <a:pt x="2117304" y="26830"/>
                  </a:lnTo>
                  <a:lnTo>
                    <a:pt x="2167483" y="25531"/>
                  </a:lnTo>
                  <a:lnTo>
                    <a:pt x="2219258" y="23888"/>
                  </a:lnTo>
                  <a:lnTo>
                    <a:pt x="2272785" y="22020"/>
                  </a:lnTo>
                  <a:lnTo>
                    <a:pt x="2328216" y="20048"/>
                  </a:lnTo>
                  <a:lnTo>
                    <a:pt x="2385707" y="18090"/>
                  </a:lnTo>
                  <a:lnTo>
                    <a:pt x="2445412" y="16265"/>
                  </a:lnTo>
                  <a:lnTo>
                    <a:pt x="2501233" y="14956"/>
                  </a:lnTo>
                  <a:lnTo>
                    <a:pt x="2555770" y="14164"/>
                  </a:lnTo>
                  <a:lnTo>
                    <a:pt x="2609191" y="13810"/>
                  </a:lnTo>
                  <a:lnTo>
                    <a:pt x="2661662" y="13815"/>
                  </a:lnTo>
                  <a:lnTo>
                    <a:pt x="2713348" y="14102"/>
                  </a:lnTo>
                  <a:lnTo>
                    <a:pt x="2764418" y="14589"/>
                  </a:lnTo>
                  <a:lnTo>
                    <a:pt x="2815037" y="15199"/>
                  </a:lnTo>
                  <a:lnTo>
                    <a:pt x="2865372" y="15853"/>
                  </a:lnTo>
                  <a:lnTo>
                    <a:pt x="2915590" y="16471"/>
                  </a:lnTo>
                  <a:lnTo>
                    <a:pt x="2965856" y="16975"/>
                  </a:lnTo>
                  <a:lnTo>
                    <a:pt x="3016338" y="17285"/>
                  </a:lnTo>
                  <a:lnTo>
                    <a:pt x="3067202" y="17323"/>
                  </a:lnTo>
                  <a:lnTo>
                    <a:pt x="3118615" y="17009"/>
                  </a:lnTo>
                  <a:lnTo>
                    <a:pt x="3170742" y="16265"/>
                  </a:lnTo>
                  <a:lnTo>
                    <a:pt x="3222981" y="15418"/>
                  </a:lnTo>
                  <a:lnTo>
                    <a:pt x="3274689" y="14826"/>
                  </a:lnTo>
                  <a:lnTo>
                    <a:pt x="3325983" y="14458"/>
                  </a:lnTo>
                  <a:lnTo>
                    <a:pt x="3376978" y="14283"/>
                  </a:lnTo>
                  <a:lnTo>
                    <a:pt x="3427791" y="14269"/>
                  </a:lnTo>
                  <a:lnTo>
                    <a:pt x="3478538" y="14386"/>
                  </a:lnTo>
                  <a:lnTo>
                    <a:pt x="3529335" y="14602"/>
                  </a:lnTo>
                  <a:lnTo>
                    <a:pt x="3580298" y="14886"/>
                  </a:lnTo>
                  <a:lnTo>
                    <a:pt x="3631544" y="15206"/>
                  </a:lnTo>
                  <a:lnTo>
                    <a:pt x="3683188" y="15532"/>
                  </a:lnTo>
                  <a:lnTo>
                    <a:pt x="3735347" y="15832"/>
                  </a:lnTo>
                  <a:lnTo>
                    <a:pt x="3788136" y="16075"/>
                  </a:lnTo>
                  <a:lnTo>
                    <a:pt x="3841673" y="16230"/>
                  </a:lnTo>
                  <a:lnTo>
                    <a:pt x="3896073" y="16265"/>
                  </a:lnTo>
                  <a:lnTo>
                    <a:pt x="3892804" y="67041"/>
                  </a:lnTo>
                  <a:lnTo>
                    <a:pt x="3890060" y="116426"/>
                  </a:lnTo>
                  <a:lnTo>
                    <a:pt x="3887862" y="164730"/>
                  </a:lnTo>
                  <a:lnTo>
                    <a:pt x="3886231" y="212262"/>
                  </a:lnTo>
                  <a:lnTo>
                    <a:pt x="3885187" y="259330"/>
                  </a:lnTo>
                  <a:lnTo>
                    <a:pt x="3884752" y="306242"/>
                  </a:lnTo>
                  <a:lnTo>
                    <a:pt x="3884945" y="353307"/>
                  </a:lnTo>
                  <a:lnTo>
                    <a:pt x="3885788" y="400834"/>
                  </a:lnTo>
                  <a:lnTo>
                    <a:pt x="3887302" y="449130"/>
                  </a:lnTo>
                  <a:lnTo>
                    <a:pt x="3889507" y="498506"/>
                  </a:lnTo>
                  <a:lnTo>
                    <a:pt x="3892424" y="549268"/>
                  </a:lnTo>
                  <a:lnTo>
                    <a:pt x="3896073" y="601726"/>
                  </a:lnTo>
                  <a:lnTo>
                    <a:pt x="3832007" y="602047"/>
                  </a:lnTo>
                  <a:lnTo>
                    <a:pt x="3775156" y="602557"/>
                  </a:lnTo>
                  <a:lnTo>
                    <a:pt x="3724083" y="603183"/>
                  </a:lnTo>
                  <a:lnTo>
                    <a:pt x="3677350" y="603849"/>
                  </a:lnTo>
                  <a:lnTo>
                    <a:pt x="3633522" y="604482"/>
                  </a:lnTo>
                  <a:lnTo>
                    <a:pt x="3591160" y="605006"/>
                  </a:lnTo>
                  <a:lnTo>
                    <a:pt x="3548828" y="605349"/>
                  </a:lnTo>
                  <a:lnTo>
                    <a:pt x="3505088" y="605434"/>
                  </a:lnTo>
                  <a:lnTo>
                    <a:pt x="3458504" y="605189"/>
                  </a:lnTo>
                  <a:lnTo>
                    <a:pt x="3407638" y="604539"/>
                  </a:lnTo>
                  <a:lnTo>
                    <a:pt x="3351053" y="603409"/>
                  </a:lnTo>
                  <a:lnTo>
                    <a:pt x="3287312" y="601726"/>
                  </a:lnTo>
                  <a:lnTo>
                    <a:pt x="3216863" y="600366"/>
                  </a:lnTo>
                  <a:lnTo>
                    <a:pt x="3152831" y="600376"/>
                  </a:lnTo>
                  <a:lnTo>
                    <a:pt x="3094322" y="601388"/>
                  </a:lnTo>
                  <a:lnTo>
                    <a:pt x="3040438" y="603038"/>
                  </a:lnTo>
                  <a:lnTo>
                    <a:pt x="2990281" y="604960"/>
                  </a:lnTo>
                  <a:lnTo>
                    <a:pt x="2942956" y="606788"/>
                  </a:lnTo>
                  <a:lnTo>
                    <a:pt x="2897566" y="608157"/>
                  </a:lnTo>
                  <a:lnTo>
                    <a:pt x="2853213" y="608701"/>
                  </a:lnTo>
                  <a:lnTo>
                    <a:pt x="2809001" y="608054"/>
                  </a:lnTo>
                  <a:lnTo>
                    <a:pt x="2764033" y="605851"/>
                  </a:lnTo>
                  <a:lnTo>
                    <a:pt x="2717412" y="601726"/>
                  </a:lnTo>
                  <a:lnTo>
                    <a:pt x="2667083" y="596653"/>
                  </a:lnTo>
                  <a:lnTo>
                    <a:pt x="2620134" y="592854"/>
                  </a:lnTo>
                  <a:lnTo>
                    <a:pt x="2575066" y="590275"/>
                  </a:lnTo>
                  <a:lnTo>
                    <a:pt x="2530379" y="588859"/>
                  </a:lnTo>
                  <a:lnTo>
                    <a:pt x="2484577" y="588553"/>
                  </a:lnTo>
                  <a:lnTo>
                    <a:pt x="2436160" y="589301"/>
                  </a:lnTo>
                  <a:lnTo>
                    <a:pt x="2383629" y="591047"/>
                  </a:lnTo>
                  <a:lnTo>
                    <a:pt x="2325487" y="593737"/>
                  </a:lnTo>
                  <a:lnTo>
                    <a:pt x="2260234" y="597315"/>
                  </a:lnTo>
                  <a:lnTo>
                    <a:pt x="2186372" y="601726"/>
                  </a:lnTo>
                  <a:lnTo>
                    <a:pt x="2129821" y="604468"/>
                  </a:lnTo>
                  <a:lnTo>
                    <a:pt x="2072757" y="605962"/>
                  </a:lnTo>
                  <a:lnTo>
                    <a:pt x="2015489" y="606415"/>
                  </a:lnTo>
                  <a:lnTo>
                    <a:pt x="1958330" y="606033"/>
                  </a:lnTo>
                  <a:lnTo>
                    <a:pt x="1901589" y="605022"/>
                  </a:lnTo>
                  <a:lnTo>
                    <a:pt x="1845577" y="603589"/>
                  </a:lnTo>
                  <a:lnTo>
                    <a:pt x="1790605" y="601941"/>
                  </a:lnTo>
                  <a:lnTo>
                    <a:pt x="1736985" y="600285"/>
                  </a:lnTo>
                  <a:lnTo>
                    <a:pt x="1685027" y="598826"/>
                  </a:lnTo>
                  <a:lnTo>
                    <a:pt x="1635041" y="597771"/>
                  </a:lnTo>
                  <a:lnTo>
                    <a:pt x="1587339" y="597327"/>
                  </a:lnTo>
                  <a:lnTo>
                    <a:pt x="1542231" y="597700"/>
                  </a:lnTo>
                  <a:lnTo>
                    <a:pt x="1500028" y="599098"/>
                  </a:lnTo>
                  <a:lnTo>
                    <a:pt x="1461041" y="601726"/>
                  </a:lnTo>
                  <a:lnTo>
                    <a:pt x="1414526" y="605534"/>
                  </a:lnTo>
                  <a:lnTo>
                    <a:pt x="1369331" y="608538"/>
                  </a:lnTo>
                  <a:lnTo>
                    <a:pt x="1324665" y="610752"/>
                  </a:lnTo>
                  <a:lnTo>
                    <a:pt x="1279734" y="612190"/>
                  </a:lnTo>
                  <a:lnTo>
                    <a:pt x="1233744" y="612866"/>
                  </a:lnTo>
                  <a:lnTo>
                    <a:pt x="1185901" y="612795"/>
                  </a:lnTo>
                  <a:lnTo>
                    <a:pt x="1135413" y="611991"/>
                  </a:lnTo>
                  <a:lnTo>
                    <a:pt x="1081486" y="610467"/>
                  </a:lnTo>
                  <a:lnTo>
                    <a:pt x="1023327" y="608239"/>
                  </a:lnTo>
                  <a:lnTo>
                    <a:pt x="960142" y="605321"/>
                  </a:lnTo>
                  <a:lnTo>
                    <a:pt x="891138" y="601726"/>
                  </a:lnTo>
                  <a:lnTo>
                    <a:pt x="844994" y="599228"/>
                  </a:lnTo>
                  <a:lnTo>
                    <a:pt x="799755" y="596843"/>
                  </a:lnTo>
                  <a:lnTo>
                    <a:pt x="755097" y="594612"/>
                  </a:lnTo>
                  <a:lnTo>
                    <a:pt x="710700" y="592575"/>
                  </a:lnTo>
                  <a:lnTo>
                    <a:pt x="666239" y="590770"/>
                  </a:lnTo>
                  <a:lnTo>
                    <a:pt x="621393" y="589237"/>
                  </a:lnTo>
                  <a:lnTo>
                    <a:pt x="575838" y="588017"/>
                  </a:lnTo>
                  <a:lnTo>
                    <a:pt x="529253" y="587149"/>
                  </a:lnTo>
                  <a:lnTo>
                    <a:pt x="481315" y="586673"/>
                  </a:lnTo>
                  <a:lnTo>
                    <a:pt x="431701" y="586628"/>
                  </a:lnTo>
                  <a:lnTo>
                    <a:pt x="380088" y="587054"/>
                  </a:lnTo>
                  <a:lnTo>
                    <a:pt x="326154" y="587991"/>
                  </a:lnTo>
                  <a:lnTo>
                    <a:pt x="269577" y="589478"/>
                  </a:lnTo>
                  <a:lnTo>
                    <a:pt x="210034" y="591555"/>
                  </a:lnTo>
                  <a:lnTo>
                    <a:pt x="147201" y="594263"/>
                  </a:lnTo>
                  <a:lnTo>
                    <a:pt x="80758" y="597640"/>
                  </a:lnTo>
                  <a:lnTo>
                    <a:pt x="10381" y="601726"/>
                  </a:lnTo>
                  <a:lnTo>
                    <a:pt x="5177" y="555037"/>
                  </a:lnTo>
                  <a:lnTo>
                    <a:pt x="1910" y="507237"/>
                  </a:lnTo>
                  <a:lnTo>
                    <a:pt x="284" y="458546"/>
                  </a:lnTo>
                  <a:lnTo>
                    <a:pt x="0" y="409181"/>
                  </a:lnTo>
                  <a:lnTo>
                    <a:pt x="760" y="359361"/>
                  </a:lnTo>
                  <a:lnTo>
                    <a:pt x="2269" y="309306"/>
                  </a:lnTo>
                  <a:lnTo>
                    <a:pt x="4229" y="259234"/>
                  </a:lnTo>
                  <a:lnTo>
                    <a:pt x="6342" y="209362"/>
                  </a:lnTo>
                  <a:lnTo>
                    <a:pt x="8311" y="159911"/>
                  </a:lnTo>
                  <a:lnTo>
                    <a:pt x="9838" y="111099"/>
                  </a:lnTo>
                  <a:lnTo>
                    <a:pt x="10627" y="63144"/>
                  </a:lnTo>
                  <a:lnTo>
                    <a:pt x="10381" y="1626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8494" y="5381339"/>
              <a:ext cx="6222302" cy="6762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28494" y="6057610"/>
              <a:ext cx="6222365" cy="14604"/>
            </a:xfrm>
            <a:custGeom>
              <a:avLst/>
              <a:gdLst/>
              <a:ahLst/>
              <a:cxnLst/>
              <a:rect l="l" t="t" r="r" b="b"/>
              <a:pathLst>
                <a:path w="6222365" h="14604">
                  <a:moveTo>
                    <a:pt x="5185644" y="0"/>
                  </a:moveTo>
                  <a:lnTo>
                    <a:pt x="3109362" y="0"/>
                  </a:lnTo>
                  <a:lnTo>
                    <a:pt x="3138871" y="3179"/>
                  </a:lnTo>
                  <a:lnTo>
                    <a:pt x="3185640" y="9529"/>
                  </a:lnTo>
                  <a:lnTo>
                    <a:pt x="3263692" y="14609"/>
                  </a:lnTo>
                  <a:lnTo>
                    <a:pt x="3331962" y="14609"/>
                  </a:lnTo>
                  <a:lnTo>
                    <a:pt x="3403489" y="12069"/>
                  </a:lnTo>
                  <a:lnTo>
                    <a:pt x="3491316" y="6989"/>
                  </a:lnTo>
                  <a:lnTo>
                    <a:pt x="3682143" y="3179"/>
                  </a:lnTo>
                  <a:lnTo>
                    <a:pt x="4222948" y="3179"/>
                  </a:lnTo>
                  <a:lnTo>
                    <a:pt x="4325700" y="1909"/>
                  </a:lnTo>
                  <a:lnTo>
                    <a:pt x="4372355" y="1909"/>
                  </a:lnTo>
                  <a:lnTo>
                    <a:pt x="4415813" y="639"/>
                  </a:lnTo>
                  <a:lnTo>
                    <a:pt x="5178632" y="639"/>
                  </a:lnTo>
                  <a:lnTo>
                    <a:pt x="5185644" y="0"/>
                  </a:lnTo>
                  <a:close/>
                </a:path>
                <a:path w="6222365" h="14604">
                  <a:moveTo>
                    <a:pt x="5178632" y="639"/>
                  </a:moveTo>
                  <a:lnTo>
                    <a:pt x="4492988" y="639"/>
                  </a:lnTo>
                  <a:lnTo>
                    <a:pt x="4526633" y="1909"/>
                  </a:lnTo>
                  <a:lnTo>
                    <a:pt x="4556933" y="1909"/>
                  </a:lnTo>
                  <a:lnTo>
                    <a:pt x="4583851" y="3179"/>
                  </a:lnTo>
                  <a:lnTo>
                    <a:pt x="4624155" y="5719"/>
                  </a:lnTo>
                  <a:lnTo>
                    <a:pt x="4670802" y="6989"/>
                  </a:lnTo>
                  <a:lnTo>
                    <a:pt x="4722428" y="9529"/>
                  </a:lnTo>
                  <a:lnTo>
                    <a:pt x="4835151" y="12069"/>
                  </a:lnTo>
                  <a:lnTo>
                    <a:pt x="5007434" y="12069"/>
                  </a:lnTo>
                  <a:lnTo>
                    <a:pt x="5108489" y="6989"/>
                  </a:lnTo>
                  <a:lnTo>
                    <a:pt x="5178632" y="639"/>
                  </a:lnTo>
                  <a:close/>
                </a:path>
                <a:path w="6222365" h="14604">
                  <a:moveTo>
                    <a:pt x="4107849" y="3179"/>
                  </a:moveTo>
                  <a:lnTo>
                    <a:pt x="3768029" y="3179"/>
                  </a:lnTo>
                  <a:lnTo>
                    <a:pt x="3841796" y="4449"/>
                  </a:lnTo>
                  <a:lnTo>
                    <a:pt x="4045762" y="4449"/>
                  </a:lnTo>
                  <a:lnTo>
                    <a:pt x="4107849" y="3179"/>
                  </a:lnTo>
                  <a:close/>
                </a:path>
                <a:path w="6222365" h="14604">
                  <a:moveTo>
                    <a:pt x="6222229" y="0"/>
                  </a:moveTo>
                  <a:lnTo>
                    <a:pt x="5395197" y="0"/>
                  </a:lnTo>
                  <a:lnTo>
                    <a:pt x="5407170" y="639"/>
                  </a:lnTo>
                  <a:lnTo>
                    <a:pt x="5517389" y="3179"/>
                  </a:lnTo>
                  <a:lnTo>
                    <a:pt x="5721964" y="3179"/>
                  </a:lnTo>
                  <a:lnTo>
                    <a:pt x="5834817" y="5719"/>
                  </a:lnTo>
                  <a:lnTo>
                    <a:pt x="5974735" y="13339"/>
                  </a:lnTo>
                  <a:lnTo>
                    <a:pt x="6019112" y="14609"/>
                  </a:lnTo>
                  <a:lnTo>
                    <a:pt x="6064679" y="14609"/>
                  </a:lnTo>
                  <a:lnTo>
                    <a:pt x="6112826" y="13339"/>
                  </a:lnTo>
                  <a:lnTo>
                    <a:pt x="6164946" y="9529"/>
                  </a:lnTo>
                  <a:lnTo>
                    <a:pt x="6222302" y="3193"/>
                  </a:lnTo>
                  <a:lnTo>
                    <a:pt x="6222229" y="0"/>
                  </a:lnTo>
                  <a:close/>
                </a:path>
                <a:path w="6222365" h="14604">
                  <a:moveTo>
                    <a:pt x="1686389" y="0"/>
                  </a:moveTo>
                  <a:lnTo>
                    <a:pt x="498716" y="0"/>
                  </a:lnTo>
                  <a:lnTo>
                    <a:pt x="623799" y="1909"/>
                  </a:lnTo>
                  <a:lnTo>
                    <a:pt x="679159" y="1909"/>
                  </a:lnTo>
                  <a:lnTo>
                    <a:pt x="733916" y="3179"/>
                  </a:lnTo>
                  <a:lnTo>
                    <a:pt x="1001250" y="3179"/>
                  </a:lnTo>
                  <a:lnTo>
                    <a:pt x="1054944" y="4449"/>
                  </a:lnTo>
                  <a:lnTo>
                    <a:pt x="1102730" y="4449"/>
                  </a:lnTo>
                  <a:lnTo>
                    <a:pt x="1145983" y="6989"/>
                  </a:lnTo>
                  <a:lnTo>
                    <a:pt x="1342370" y="13339"/>
                  </a:lnTo>
                  <a:lnTo>
                    <a:pt x="1387296" y="13339"/>
                  </a:lnTo>
                  <a:lnTo>
                    <a:pt x="1493797" y="10799"/>
                  </a:lnTo>
                  <a:lnTo>
                    <a:pt x="1686389" y="0"/>
                  </a:lnTo>
                  <a:close/>
                </a:path>
                <a:path w="6222365" h="14604">
                  <a:moveTo>
                    <a:pt x="2806102" y="0"/>
                  </a:moveTo>
                  <a:lnTo>
                    <a:pt x="2413235" y="0"/>
                  </a:lnTo>
                  <a:lnTo>
                    <a:pt x="2447483" y="3179"/>
                  </a:lnTo>
                  <a:lnTo>
                    <a:pt x="2494731" y="6989"/>
                  </a:lnTo>
                  <a:lnTo>
                    <a:pt x="2542981" y="8259"/>
                  </a:lnTo>
                  <a:lnTo>
                    <a:pt x="2592064" y="8259"/>
                  </a:lnTo>
                  <a:lnTo>
                    <a:pt x="2692058" y="5719"/>
                  </a:lnTo>
                  <a:lnTo>
                    <a:pt x="2806102" y="0"/>
                  </a:lnTo>
                  <a:close/>
                </a:path>
                <a:path w="6222365" h="14604">
                  <a:moveTo>
                    <a:pt x="95808" y="0"/>
                  </a:moveTo>
                  <a:lnTo>
                    <a:pt x="348" y="0"/>
                  </a:lnTo>
                  <a:lnTo>
                    <a:pt x="0" y="3179"/>
                  </a:lnTo>
                  <a:lnTo>
                    <a:pt x="9580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7524" y="5373745"/>
              <a:ext cx="6226175" cy="709930"/>
            </a:xfrm>
            <a:custGeom>
              <a:avLst/>
              <a:gdLst/>
              <a:ahLst/>
              <a:cxnLst/>
              <a:rect l="l" t="t" r="r" b="b"/>
              <a:pathLst>
                <a:path w="6226175" h="709929">
                  <a:moveTo>
                    <a:pt x="970" y="21010"/>
                  </a:moveTo>
                  <a:lnTo>
                    <a:pt x="72952" y="17566"/>
                  </a:lnTo>
                  <a:lnTo>
                    <a:pt x="136587" y="15215"/>
                  </a:lnTo>
                  <a:lnTo>
                    <a:pt x="193294" y="13821"/>
                  </a:lnTo>
                  <a:lnTo>
                    <a:pt x="244493" y="13251"/>
                  </a:lnTo>
                  <a:lnTo>
                    <a:pt x="291603" y="13370"/>
                  </a:lnTo>
                  <a:lnTo>
                    <a:pt x="336044" y="14043"/>
                  </a:lnTo>
                  <a:lnTo>
                    <a:pt x="379236" y="15135"/>
                  </a:lnTo>
                  <a:lnTo>
                    <a:pt x="422598" y="16513"/>
                  </a:lnTo>
                  <a:lnTo>
                    <a:pt x="467550" y="18041"/>
                  </a:lnTo>
                  <a:lnTo>
                    <a:pt x="515511" y="19585"/>
                  </a:lnTo>
                  <a:lnTo>
                    <a:pt x="567902" y="21010"/>
                  </a:lnTo>
                  <a:lnTo>
                    <a:pt x="620327" y="22030"/>
                  </a:lnTo>
                  <a:lnTo>
                    <a:pt x="668376" y="22519"/>
                  </a:lnTo>
                  <a:lnTo>
                    <a:pt x="713450" y="22586"/>
                  </a:lnTo>
                  <a:lnTo>
                    <a:pt x="756947" y="22340"/>
                  </a:lnTo>
                  <a:lnTo>
                    <a:pt x="800267" y="21890"/>
                  </a:lnTo>
                  <a:lnTo>
                    <a:pt x="844810" y="21346"/>
                  </a:lnTo>
                  <a:lnTo>
                    <a:pt x="891973" y="20815"/>
                  </a:lnTo>
                  <a:lnTo>
                    <a:pt x="943158" y="20407"/>
                  </a:lnTo>
                  <a:lnTo>
                    <a:pt x="999763" y="20231"/>
                  </a:lnTo>
                  <a:lnTo>
                    <a:pt x="1063187" y="20396"/>
                  </a:lnTo>
                  <a:lnTo>
                    <a:pt x="1134831" y="21010"/>
                  </a:lnTo>
                  <a:lnTo>
                    <a:pt x="1193216" y="22032"/>
                  </a:lnTo>
                  <a:lnTo>
                    <a:pt x="1248827" y="23602"/>
                  </a:lnTo>
                  <a:lnTo>
                    <a:pt x="1302010" y="25545"/>
                  </a:lnTo>
                  <a:lnTo>
                    <a:pt x="1353114" y="27684"/>
                  </a:lnTo>
                  <a:lnTo>
                    <a:pt x="1402486" y="29843"/>
                  </a:lnTo>
                  <a:lnTo>
                    <a:pt x="1450473" y="31844"/>
                  </a:lnTo>
                  <a:lnTo>
                    <a:pt x="1497423" y="33512"/>
                  </a:lnTo>
                  <a:lnTo>
                    <a:pt x="1543684" y="34670"/>
                  </a:lnTo>
                  <a:lnTo>
                    <a:pt x="1589602" y="35140"/>
                  </a:lnTo>
                  <a:lnTo>
                    <a:pt x="1635525" y="34747"/>
                  </a:lnTo>
                  <a:lnTo>
                    <a:pt x="1681801" y="33315"/>
                  </a:lnTo>
                  <a:lnTo>
                    <a:pt x="1728777" y="30665"/>
                  </a:lnTo>
                  <a:lnTo>
                    <a:pt x="1776802" y="26623"/>
                  </a:lnTo>
                  <a:lnTo>
                    <a:pt x="1826221" y="21010"/>
                  </a:lnTo>
                  <a:lnTo>
                    <a:pt x="1879762" y="15520"/>
                  </a:lnTo>
                  <a:lnTo>
                    <a:pt x="1932235" y="12646"/>
                  </a:lnTo>
                  <a:lnTo>
                    <a:pt x="1983696" y="11923"/>
                  </a:lnTo>
                  <a:lnTo>
                    <a:pt x="2034204" y="12889"/>
                  </a:lnTo>
                  <a:lnTo>
                    <a:pt x="2083817" y="15079"/>
                  </a:lnTo>
                  <a:lnTo>
                    <a:pt x="2132591" y="18029"/>
                  </a:lnTo>
                  <a:lnTo>
                    <a:pt x="2180584" y="21276"/>
                  </a:lnTo>
                  <a:lnTo>
                    <a:pt x="2227854" y="24355"/>
                  </a:lnTo>
                  <a:lnTo>
                    <a:pt x="2274458" y="26804"/>
                  </a:lnTo>
                  <a:lnTo>
                    <a:pt x="2320455" y="28157"/>
                  </a:lnTo>
                  <a:lnTo>
                    <a:pt x="2365901" y="27952"/>
                  </a:lnTo>
                  <a:lnTo>
                    <a:pt x="2410854" y="25725"/>
                  </a:lnTo>
                  <a:lnTo>
                    <a:pt x="2455371" y="21010"/>
                  </a:lnTo>
                  <a:lnTo>
                    <a:pt x="2509028" y="14672"/>
                  </a:lnTo>
                  <a:lnTo>
                    <a:pt x="2564700" y="10013"/>
                  </a:lnTo>
                  <a:lnTo>
                    <a:pt x="2621575" y="6896"/>
                  </a:lnTo>
                  <a:lnTo>
                    <a:pt x="2678839" y="5184"/>
                  </a:lnTo>
                  <a:lnTo>
                    <a:pt x="2735680" y="4739"/>
                  </a:lnTo>
                  <a:lnTo>
                    <a:pt x="2791285" y="5424"/>
                  </a:lnTo>
                  <a:lnTo>
                    <a:pt x="2844840" y="7103"/>
                  </a:lnTo>
                  <a:lnTo>
                    <a:pt x="2895532" y="9638"/>
                  </a:lnTo>
                  <a:lnTo>
                    <a:pt x="2942548" y="12893"/>
                  </a:lnTo>
                  <a:lnTo>
                    <a:pt x="2985076" y="16729"/>
                  </a:lnTo>
                  <a:lnTo>
                    <a:pt x="3022302" y="21010"/>
                  </a:lnTo>
                  <a:lnTo>
                    <a:pt x="3062327" y="24644"/>
                  </a:lnTo>
                  <a:lnTo>
                    <a:pt x="3106476" y="26086"/>
                  </a:lnTo>
                  <a:lnTo>
                    <a:pt x="3154075" y="25853"/>
                  </a:lnTo>
                  <a:lnTo>
                    <a:pt x="3204445" y="24467"/>
                  </a:lnTo>
                  <a:lnTo>
                    <a:pt x="3256912" y="22446"/>
                  </a:lnTo>
                  <a:lnTo>
                    <a:pt x="3310798" y="20310"/>
                  </a:lnTo>
                  <a:lnTo>
                    <a:pt x="3365427" y="18579"/>
                  </a:lnTo>
                  <a:lnTo>
                    <a:pt x="3420124" y="17773"/>
                  </a:lnTo>
                  <a:lnTo>
                    <a:pt x="3474211" y="18410"/>
                  </a:lnTo>
                  <a:lnTo>
                    <a:pt x="3527012" y="21010"/>
                  </a:lnTo>
                  <a:lnTo>
                    <a:pt x="3574198" y="23855"/>
                  </a:lnTo>
                  <a:lnTo>
                    <a:pt x="3621494" y="25665"/>
                  </a:lnTo>
                  <a:lnTo>
                    <a:pt x="3669155" y="26595"/>
                  </a:lnTo>
                  <a:lnTo>
                    <a:pt x="3717433" y="26801"/>
                  </a:lnTo>
                  <a:lnTo>
                    <a:pt x="3766582" y="26438"/>
                  </a:lnTo>
                  <a:lnTo>
                    <a:pt x="3816855" y="25662"/>
                  </a:lnTo>
                  <a:lnTo>
                    <a:pt x="3868505" y="24627"/>
                  </a:lnTo>
                  <a:lnTo>
                    <a:pt x="3921785" y="23489"/>
                  </a:lnTo>
                  <a:lnTo>
                    <a:pt x="3976950" y="22403"/>
                  </a:lnTo>
                  <a:lnTo>
                    <a:pt x="4034251" y="21525"/>
                  </a:lnTo>
                  <a:lnTo>
                    <a:pt x="4093942" y="21010"/>
                  </a:lnTo>
                  <a:lnTo>
                    <a:pt x="4141069" y="21229"/>
                  </a:lnTo>
                  <a:lnTo>
                    <a:pt x="4186908" y="22199"/>
                  </a:lnTo>
                  <a:lnTo>
                    <a:pt x="4231870" y="23722"/>
                  </a:lnTo>
                  <a:lnTo>
                    <a:pt x="4276362" y="25603"/>
                  </a:lnTo>
                  <a:lnTo>
                    <a:pt x="4320793" y="27647"/>
                  </a:lnTo>
                  <a:lnTo>
                    <a:pt x="4365572" y="29657"/>
                  </a:lnTo>
                  <a:lnTo>
                    <a:pt x="4411106" y="31438"/>
                  </a:lnTo>
                  <a:lnTo>
                    <a:pt x="4457805" y="32792"/>
                  </a:lnTo>
                  <a:lnTo>
                    <a:pt x="4506076" y="33526"/>
                  </a:lnTo>
                  <a:lnTo>
                    <a:pt x="4556329" y="33442"/>
                  </a:lnTo>
                  <a:lnTo>
                    <a:pt x="4608972" y="32344"/>
                  </a:lnTo>
                  <a:lnTo>
                    <a:pt x="4664412" y="30037"/>
                  </a:lnTo>
                  <a:lnTo>
                    <a:pt x="4723060" y="26324"/>
                  </a:lnTo>
                  <a:lnTo>
                    <a:pt x="4785323" y="21010"/>
                  </a:lnTo>
                  <a:lnTo>
                    <a:pt x="4841616" y="15959"/>
                  </a:lnTo>
                  <a:lnTo>
                    <a:pt x="4898015" y="11615"/>
                  </a:lnTo>
                  <a:lnTo>
                    <a:pt x="4954346" y="7971"/>
                  </a:lnTo>
                  <a:lnTo>
                    <a:pt x="5010434" y="5020"/>
                  </a:lnTo>
                  <a:lnTo>
                    <a:pt x="5066105" y="2755"/>
                  </a:lnTo>
                  <a:lnTo>
                    <a:pt x="5121184" y="1168"/>
                  </a:lnTo>
                  <a:lnTo>
                    <a:pt x="5175499" y="252"/>
                  </a:lnTo>
                  <a:lnTo>
                    <a:pt x="5228874" y="0"/>
                  </a:lnTo>
                  <a:lnTo>
                    <a:pt x="5281136" y="404"/>
                  </a:lnTo>
                  <a:lnTo>
                    <a:pt x="5332109" y="1458"/>
                  </a:lnTo>
                  <a:lnTo>
                    <a:pt x="5381621" y="3153"/>
                  </a:lnTo>
                  <a:lnTo>
                    <a:pt x="5429497" y="5484"/>
                  </a:lnTo>
                  <a:lnTo>
                    <a:pt x="5475562" y="8442"/>
                  </a:lnTo>
                  <a:lnTo>
                    <a:pt x="5519642" y="12021"/>
                  </a:lnTo>
                  <a:lnTo>
                    <a:pt x="5561564" y="16213"/>
                  </a:lnTo>
                  <a:lnTo>
                    <a:pt x="5601153" y="21010"/>
                  </a:lnTo>
                  <a:lnTo>
                    <a:pt x="5651193" y="26669"/>
                  </a:lnTo>
                  <a:lnTo>
                    <a:pt x="5699433" y="30257"/>
                  </a:lnTo>
                  <a:lnTo>
                    <a:pt x="5746513" y="32088"/>
                  </a:lnTo>
                  <a:lnTo>
                    <a:pt x="5793071" y="32474"/>
                  </a:lnTo>
                  <a:lnTo>
                    <a:pt x="5839745" y="31727"/>
                  </a:lnTo>
                  <a:lnTo>
                    <a:pt x="5887176" y="30159"/>
                  </a:lnTo>
                  <a:lnTo>
                    <a:pt x="5936001" y="28083"/>
                  </a:lnTo>
                  <a:lnTo>
                    <a:pt x="5986859" y="25811"/>
                  </a:lnTo>
                  <a:lnTo>
                    <a:pt x="6040390" y="23656"/>
                  </a:lnTo>
                  <a:lnTo>
                    <a:pt x="6097232" y="21929"/>
                  </a:lnTo>
                  <a:lnTo>
                    <a:pt x="6158023" y="20943"/>
                  </a:lnTo>
                  <a:lnTo>
                    <a:pt x="6223403" y="21010"/>
                  </a:lnTo>
                  <a:lnTo>
                    <a:pt x="6225038" y="58221"/>
                  </a:lnTo>
                  <a:lnTo>
                    <a:pt x="6225551" y="98217"/>
                  </a:lnTo>
                  <a:lnTo>
                    <a:pt x="6225174" y="140875"/>
                  </a:lnTo>
                  <a:lnTo>
                    <a:pt x="6224137" y="186071"/>
                  </a:lnTo>
                  <a:lnTo>
                    <a:pt x="6222674" y="233682"/>
                  </a:lnTo>
                  <a:lnTo>
                    <a:pt x="6221016" y="283584"/>
                  </a:lnTo>
                  <a:lnTo>
                    <a:pt x="6219394" y="335654"/>
                  </a:lnTo>
                  <a:lnTo>
                    <a:pt x="6218040" y="389767"/>
                  </a:lnTo>
                  <a:lnTo>
                    <a:pt x="6217186" y="445801"/>
                  </a:lnTo>
                  <a:lnTo>
                    <a:pt x="6217064" y="503631"/>
                  </a:lnTo>
                  <a:lnTo>
                    <a:pt x="6217905" y="563134"/>
                  </a:lnTo>
                  <a:lnTo>
                    <a:pt x="6219941" y="624187"/>
                  </a:lnTo>
                  <a:lnTo>
                    <a:pt x="6223403" y="686666"/>
                  </a:lnTo>
                  <a:lnTo>
                    <a:pt x="6181098" y="684155"/>
                  </a:lnTo>
                  <a:lnTo>
                    <a:pt x="6139257" y="683218"/>
                  </a:lnTo>
                  <a:lnTo>
                    <a:pt x="6097476" y="683539"/>
                  </a:lnTo>
                  <a:lnTo>
                    <a:pt x="6055353" y="684803"/>
                  </a:lnTo>
                  <a:lnTo>
                    <a:pt x="6012483" y="686695"/>
                  </a:lnTo>
                  <a:lnTo>
                    <a:pt x="5968463" y="688900"/>
                  </a:lnTo>
                  <a:lnTo>
                    <a:pt x="5922890" y="691105"/>
                  </a:lnTo>
                  <a:lnTo>
                    <a:pt x="5875360" y="692992"/>
                  </a:lnTo>
                  <a:lnTo>
                    <a:pt x="5825471" y="694249"/>
                  </a:lnTo>
                  <a:lnTo>
                    <a:pt x="5772818" y="694560"/>
                  </a:lnTo>
                  <a:lnTo>
                    <a:pt x="5716998" y="693609"/>
                  </a:lnTo>
                  <a:lnTo>
                    <a:pt x="5657607" y="691083"/>
                  </a:lnTo>
                  <a:lnTo>
                    <a:pt x="5594243" y="686666"/>
                  </a:lnTo>
                  <a:lnTo>
                    <a:pt x="5523938" y="681077"/>
                  </a:lnTo>
                  <a:lnTo>
                    <a:pt x="5466117" y="677119"/>
                  </a:lnTo>
                  <a:lnTo>
                    <a:pt x="5418248" y="674620"/>
                  </a:lnTo>
                  <a:lnTo>
                    <a:pt x="5377796" y="673411"/>
                  </a:lnTo>
                  <a:lnTo>
                    <a:pt x="5342229" y="673319"/>
                  </a:lnTo>
                  <a:lnTo>
                    <a:pt x="5309013" y="674174"/>
                  </a:lnTo>
                  <a:lnTo>
                    <a:pt x="5275615" y="675805"/>
                  </a:lnTo>
                  <a:lnTo>
                    <a:pt x="5239501" y="678041"/>
                  </a:lnTo>
                  <a:lnTo>
                    <a:pt x="5198138" y="680710"/>
                  </a:lnTo>
                  <a:lnTo>
                    <a:pt x="5148993" y="683642"/>
                  </a:lnTo>
                  <a:lnTo>
                    <a:pt x="5089533" y="686666"/>
                  </a:lnTo>
                  <a:lnTo>
                    <a:pt x="5022353" y="688797"/>
                  </a:lnTo>
                  <a:lnTo>
                    <a:pt x="4963644" y="688943"/>
                  </a:lnTo>
                  <a:lnTo>
                    <a:pt x="4911621" y="687670"/>
                  </a:lnTo>
                  <a:lnTo>
                    <a:pt x="4864500" y="685545"/>
                  </a:lnTo>
                  <a:lnTo>
                    <a:pt x="4820498" y="683135"/>
                  </a:lnTo>
                  <a:lnTo>
                    <a:pt x="4777830" y="681007"/>
                  </a:lnTo>
                  <a:lnTo>
                    <a:pt x="4734712" y="679730"/>
                  </a:lnTo>
                  <a:lnTo>
                    <a:pt x="4689361" y="679869"/>
                  </a:lnTo>
                  <a:lnTo>
                    <a:pt x="4639992" y="681992"/>
                  </a:lnTo>
                  <a:lnTo>
                    <a:pt x="4584823" y="686666"/>
                  </a:lnTo>
                  <a:lnTo>
                    <a:pt x="4545703" y="690332"/>
                  </a:lnTo>
                  <a:lnTo>
                    <a:pt x="4506354" y="693191"/>
                  </a:lnTo>
                  <a:lnTo>
                    <a:pt x="4466462" y="695308"/>
                  </a:lnTo>
                  <a:lnTo>
                    <a:pt x="4425714" y="696747"/>
                  </a:lnTo>
                  <a:lnTo>
                    <a:pt x="4383796" y="697576"/>
                  </a:lnTo>
                  <a:lnTo>
                    <a:pt x="4340393" y="697859"/>
                  </a:lnTo>
                  <a:lnTo>
                    <a:pt x="4295193" y="697662"/>
                  </a:lnTo>
                  <a:lnTo>
                    <a:pt x="4247882" y="697050"/>
                  </a:lnTo>
                  <a:lnTo>
                    <a:pt x="4198145" y="696089"/>
                  </a:lnTo>
                  <a:lnTo>
                    <a:pt x="4145669" y="694845"/>
                  </a:lnTo>
                  <a:lnTo>
                    <a:pt x="4090140" y="693383"/>
                  </a:lnTo>
                  <a:lnTo>
                    <a:pt x="4031245" y="691768"/>
                  </a:lnTo>
                  <a:lnTo>
                    <a:pt x="3968669" y="690067"/>
                  </a:lnTo>
                  <a:lnTo>
                    <a:pt x="3902100" y="688344"/>
                  </a:lnTo>
                  <a:lnTo>
                    <a:pt x="3831222" y="686666"/>
                  </a:lnTo>
                  <a:lnTo>
                    <a:pt x="3753223" y="684607"/>
                  </a:lnTo>
                  <a:lnTo>
                    <a:pt x="3686797" y="682307"/>
                  </a:lnTo>
                  <a:lnTo>
                    <a:pt x="3630135" y="679927"/>
                  </a:lnTo>
                  <a:lnTo>
                    <a:pt x="3581425" y="677625"/>
                  </a:lnTo>
                  <a:lnTo>
                    <a:pt x="3538855" y="675559"/>
                  </a:lnTo>
                  <a:lnTo>
                    <a:pt x="3500616" y="673890"/>
                  </a:lnTo>
                  <a:lnTo>
                    <a:pt x="3464896" y="672776"/>
                  </a:lnTo>
                  <a:lnTo>
                    <a:pt x="3429884" y="672377"/>
                  </a:lnTo>
                  <a:lnTo>
                    <a:pt x="3393769" y="672851"/>
                  </a:lnTo>
                  <a:lnTo>
                    <a:pt x="3354741" y="674358"/>
                  </a:lnTo>
                  <a:lnTo>
                    <a:pt x="3310987" y="677057"/>
                  </a:lnTo>
                  <a:lnTo>
                    <a:pt x="3260698" y="681106"/>
                  </a:lnTo>
                  <a:lnTo>
                    <a:pt x="3202062" y="686666"/>
                  </a:lnTo>
                  <a:lnTo>
                    <a:pt x="3147670" y="691884"/>
                  </a:lnTo>
                  <a:lnTo>
                    <a:pt x="3094339" y="696481"/>
                  </a:lnTo>
                  <a:lnTo>
                    <a:pt x="3041961" y="700428"/>
                  </a:lnTo>
                  <a:lnTo>
                    <a:pt x="2990427" y="703697"/>
                  </a:lnTo>
                  <a:lnTo>
                    <a:pt x="2939631" y="706260"/>
                  </a:lnTo>
                  <a:lnTo>
                    <a:pt x="2889463" y="708086"/>
                  </a:lnTo>
                  <a:lnTo>
                    <a:pt x="2839817" y="709148"/>
                  </a:lnTo>
                  <a:lnTo>
                    <a:pt x="2790584" y="709416"/>
                  </a:lnTo>
                  <a:lnTo>
                    <a:pt x="2741656" y="708863"/>
                  </a:lnTo>
                  <a:lnTo>
                    <a:pt x="2692926" y="707458"/>
                  </a:lnTo>
                  <a:lnTo>
                    <a:pt x="2644285" y="705174"/>
                  </a:lnTo>
                  <a:lnTo>
                    <a:pt x="2595627" y="701981"/>
                  </a:lnTo>
                  <a:lnTo>
                    <a:pt x="2546842" y="697852"/>
                  </a:lnTo>
                  <a:lnTo>
                    <a:pt x="2497822" y="692756"/>
                  </a:lnTo>
                  <a:lnTo>
                    <a:pt x="2448461" y="686666"/>
                  </a:lnTo>
                  <a:lnTo>
                    <a:pt x="2401280" y="680888"/>
                  </a:lnTo>
                  <a:lnTo>
                    <a:pt x="2352795" y="675918"/>
                  </a:lnTo>
                  <a:lnTo>
                    <a:pt x="2303176" y="671749"/>
                  </a:lnTo>
                  <a:lnTo>
                    <a:pt x="2252595" y="668371"/>
                  </a:lnTo>
                  <a:lnTo>
                    <a:pt x="2201221" y="665778"/>
                  </a:lnTo>
                  <a:lnTo>
                    <a:pt x="2149225" y="663960"/>
                  </a:lnTo>
                  <a:lnTo>
                    <a:pt x="2096779" y="662910"/>
                  </a:lnTo>
                  <a:lnTo>
                    <a:pt x="2044052" y="662620"/>
                  </a:lnTo>
                  <a:lnTo>
                    <a:pt x="1991216" y="663081"/>
                  </a:lnTo>
                  <a:lnTo>
                    <a:pt x="1938441" y="664285"/>
                  </a:lnTo>
                  <a:lnTo>
                    <a:pt x="1885898" y="666225"/>
                  </a:lnTo>
                  <a:lnTo>
                    <a:pt x="1833757" y="668892"/>
                  </a:lnTo>
                  <a:lnTo>
                    <a:pt x="1782189" y="672277"/>
                  </a:lnTo>
                  <a:lnTo>
                    <a:pt x="1731365" y="676373"/>
                  </a:lnTo>
                  <a:lnTo>
                    <a:pt x="1681455" y="681172"/>
                  </a:lnTo>
                  <a:lnTo>
                    <a:pt x="1632631" y="686666"/>
                  </a:lnTo>
                  <a:lnTo>
                    <a:pt x="1566384" y="693821"/>
                  </a:lnTo>
                  <a:lnTo>
                    <a:pt x="1507053" y="698528"/>
                  </a:lnTo>
                  <a:lnTo>
                    <a:pt x="1453311" y="701126"/>
                  </a:lnTo>
                  <a:lnTo>
                    <a:pt x="1403836" y="701954"/>
                  </a:lnTo>
                  <a:lnTo>
                    <a:pt x="1357302" y="701351"/>
                  </a:lnTo>
                  <a:lnTo>
                    <a:pt x="1312385" y="699656"/>
                  </a:lnTo>
                  <a:lnTo>
                    <a:pt x="1267761" y="697208"/>
                  </a:lnTo>
                  <a:lnTo>
                    <a:pt x="1222105" y="694346"/>
                  </a:lnTo>
                  <a:lnTo>
                    <a:pt x="1174093" y="691409"/>
                  </a:lnTo>
                  <a:lnTo>
                    <a:pt x="1122399" y="688736"/>
                  </a:lnTo>
                  <a:lnTo>
                    <a:pt x="1065701" y="686666"/>
                  </a:lnTo>
                  <a:lnTo>
                    <a:pt x="1031885" y="686194"/>
                  </a:lnTo>
                  <a:lnTo>
                    <a:pt x="993252" y="686443"/>
                  </a:lnTo>
                  <a:lnTo>
                    <a:pt x="950298" y="687306"/>
                  </a:lnTo>
                  <a:lnTo>
                    <a:pt x="903515" y="688677"/>
                  </a:lnTo>
                  <a:lnTo>
                    <a:pt x="853397" y="690450"/>
                  </a:lnTo>
                  <a:lnTo>
                    <a:pt x="800438" y="692518"/>
                  </a:lnTo>
                  <a:lnTo>
                    <a:pt x="745132" y="694774"/>
                  </a:lnTo>
                  <a:lnTo>
                    <a:pt x="687973" y="697113"/>
                  </a:lnTo>
                  <a:lnTo>
                    <a:pt x="629455" y="699429"/>
                  </a:lnTo>
                  <a:lnTo>
                    <a:pt x="570071" y="701614"/>
                  </a:lnTo>
                  <a:lnTo>
                    <a:pt x="510315" y="703563"/>
                  </a:lnTo>
                  <a:lnTo>
                    <a:pt x="450682" y="705170"/>
                  </a:lnTo>
                  <a:lnTo>
                    <a:pt x="391665" y="706327"/>
                  </a:lnTo>
                  <a:lnTo>
                    <a:pt x="333758" y="706929"/>
                  </a:lnTo>
                  <a:lnTo>
                    <a:pt x="277455" y="706870"/>
                  </a:lnTo>
                  <a:lnTo>
                    <a:pt x="223249" y="706042"/>
                  </a:lnTo>
                  <a:lnTo>
                    <a:pt x="171635" y="704341"/>
                  </a:lnTo>
                  <a:lnTo>
                    <a:pt x="123106" y="701659"/>
                  </a:lnTo>
                  <a:lnTo>
                    <a:pt x="78156" y="697890"/>
                  </a:lnTo>
                  <a:lnTo>
                    <a:pt x="37280" y="692927"/>
                  </a:lnTo>
                  <a:lnTo>
                    <a:pt x="970" y="686666"/>
                  </a:lnTo>
                  <a:lnTo>
                    <a:pt x="7220" y="636896"/>
                  </a:lnTo>
                  <a:lnTo>
                    <a:pt x="11224" y="585515"/>
                  </a:lnTo>
                  <a:lnTo>
                    <a:pt x="13312" y="532897"/>
                  </a:lnTo>
                  <a:lnTo>
                    <a:pt x="13812" y="479417"/>
                  </a:lnTo>
                  <a:lnTo>
                    <a:pt x="13051" y="425448"/>
                  </a:lnTo>
                  <a:lnTo>
                    <a:pt x="11357" y="371365"/>
                  </a:lnTo>
                  <a:lnTo>
                    <a:pt x="9060" y="317542"/>
                  </a:lnTo>
                  <a:lnTo>
                    <a:pt x="6487" y="264352"/>
                  </a:lnTo>
                  <a:lnTo>
                    <a:pt x="3966" y="212171"/>
                  </a:lnTo>
                  <a:lnTo>
                    <a:pt x="1826" y="161372"/>
                  </a:lnTo>
                  <a:lnTo>
                    <a:pt x="394" y="112329"/>
                  </a:lnTo>
                  <a:lnTo>
                    <a:pt x="0" y="65417"/>
                  </a:lnTo>
                  <a:lnTo>
                    <a:pt x="970" y="2101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5929" y="3887406"/>
              <a:ext cx="4871545" cy="75032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347475" y="4126229"/>
              <a:ext cx="3175" cy="476884"/>
            </a:xfrm>
            <a:custGeom>
              <a:avLst/>
              <a:gdLst/>
              <a:ahLst/>
              <a:cxnLst/>
              <a:rect l="l" t="t" r="r" b="b"/>
              <a:pathLst>
                <a:path w="3175" h="476885">
                  <a:moveTo>
                    <a:pt x="2451" y="440486"/>
                  </a:moveTo>
                  <a:lnTo>
                    <a:pt x="2336" y="387007"/>
                  </a:lnTo>
                  <a:lnTo>
                    <a:pt x="0" y="350380"/>
                  </a:lnTo>
                  <a:lnTo>
                    <a:pt x="0" y="476389"/>
                  </a:lnTo>
                  <a:lnTo>
                    <a:pt x="2451" y="440486"/>
                  </a:lnTo>
                  <a:close/>
                </a:path>
                <a:path w="3175" h="476885">
                  <a:moveTo>
                    <a:pt x="2933" y="62230"/>
                  </a:moveTo>
                  <a:lnTo>
                    <a:pt x="2501" y="62230"/>
                  </a:lnTo>
                  <a:lnTo>
                    <a:pt x="2501" y="21590"/>
                  </a:lnTo>
                  <a:lnTo>
                    <a:pt x="838" y="21590"/>
                  </a:lnTo>
                  <a:lnTo>
                    <a:pt x="838" y="0"/>
                  </a:lnTo>
                  <a:lnTo>
                    <a:pt x="0" y="0"/>
                  </a:lnTo>
                  <a:lnTo>
                    <a:pt x="0" y="21590"/>
                  </a:lnTo>
                  <a:lnTo>
                    <a:pt x="0" y="62230"/>
                  </a:lnTo>
                  <a:lnTo>
                    <a:pt x="0" y="106680"/>
                  </a:lnTo>
                  <a:lnTo>
                    <a:pt x="0" y="134620"/>
                  </a:lnTo>
                  <a:lnTo>
                    <a:pt x="1244" y="134620"/>
                  </a:lnTo>
                  <a:lnTo>
                    <a:pt x="1244" y="106680"/>
                  </a:lnTo>
                  <a:lnTo>
                    <a:pt x="2933" y="106680"/>
                  </a:lnTo>
                  <a:lnTo>
                    <a:pt x="2933" y="6223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74953" y="3884862"/>
              <a:ext cx="4876165" cy="760095"/>
            </a:xfrm>
            <a:custGeom>
              <a:avLst/>
              <a:gdLst/>
              <a:ahLst/>
              <a:cxnLst/>
              <a:rect l="l" t="t" r="r" b="b"/>
              <a:pathLst>
                <a:path w="4876165" h="760095">
                  <a:moveTo>
                    <a:pt x="4396" y="19459"/>
                  </a:moveTo>
                  <a:lnTo>
                    <a:pt x="51800" y="13831"/>
                  </a:lnTo>
                  <a:lnTo>
                    <a:pt x="97162" y="10704"/>
                  </a:lnTo>
                  <a:lnTo>
                    <a:pt x="141077" y="9670"/>
                  </a:lnTo>
                  <a:lnTo>
                    <a:pt x="184144" y="10320"/>
                  </a:lnTo>
                  <a:lnTo>
                    <a:pt x="226959" y="12246"/>
                  </a:lnTo>
                  <a:lnTo>
                    <a:pt x="270120" y="15037"/>
                  </a:lnTo>
                  <a:lnTo>
                    <a:pt x="314225" y="18285"/>
                  </a:lnTo>
                  <a:lnTo>
                    <a:pt x="359870" y="21581"/>
                  </a:lnTo>
                  <a:lnTo>
                    <a:pt x="407653" y="24516"/>
                  </a:lnTo>
                  <a:lnTo>
                    <a:pt x="458171" y="26681"/>
                  </a:lnTo>
                  <a:lnTo>
                    <a:pt x="512023" y="27667"/>
                  </a:lnTo>
                  <a:lnTo>
                    <a:pt x="569804" y="27065"/>
                  </a:lnTo>
                  <a:lnTo>
                    <a:pt x="632113" y="24465"/>
                  </a:lnTo>
                  <a:lnTo>
                    <a:pt x="699546" y="19459"/>
                  </a:lnTo>
                  <a:lnTo>
                    <a:pt x="774297" y="12813"/>
                  </a:lnTo>
                  <a:lnTo>
                    <a:pt x="836263" y="7630"/>
                  </a:lnTo>
                  <a:lnTo>
                    <a:pt x="887699" y="3834"/>
                  </a:lnTo>
                  <a:lnTo>
                    <a:pt x="930859" y="1347"/>
                  </a:lnTo>
                  <a:lnTo>
                    <a:pt x="967997" y="95"/>
                  </a:lnTo>
                  <a:lnTo>
                    <a:pt x="1001367" y="0"/>
                  </a:lnTo>
                  <a:lnTo>
                    <a:pt x="1033224" y="985"/>
                  </a:lnTo>
                  <a:lnTo>
                    <a:pt x="1065823" y="2976"/>
                  </a:lnTo>
                  <a:lnTo>
                    <a:pt x="1101417" y="5895"/>
                  </a:lnTo>
                  <a:lnTo>
                    <a:pt x="1142261" y="9666"/>
                  </a:lnTo>
                  <a:lnTo>
                    <a:pt x="1190609" y="14213"/>
                  </a:lnTo>
                  <a:lnTo>
                    <a:pt x="1248716" y="19459"/>
                  </a:lnTo>
                  <a:lnTo>
                    <a:pt x="1306402" y="24203"/>
                  </a:lnTo>
                  <a:lnTo>
                    <a:pt x="1361939" y="28149"/>
                  </a:lnTo>
                  <a:lnTo>
                    <a:pt x="1415553" y="31301"/>
                  </a:lnTo>
                  <a:lnTo>
                    <a:pt x="1467466" y="33659"/>
                  </a:lnTo>
                  <a:lnTo>
                    <a:pt x="1517904" y="35226"/>
                  </a:lnTo>
                  <a:lnTo>
                    <a:pt x="1567091" y="36003"/>
                  </a:lnTo>
                  <a:lnTo>
                    <a:pt x="1615251" y="35991"/>
                  </a:lnTo>
                  <a:lnTo>
                    <a:pt x="1662608" y="35193"/>
                  </a:lnTo>
                  <a:lnTo>
                    <a:pt x="1709387" y="33609"/>
                  </a:lnTo>
                  <a:lnTo>
                    <a:pt x="1755812" y="31243"/>
                  </a:lnTo>
                  <a:lnTo>
                    <a:pt x="1802108" y="28094"/>
                  </a:lnTo>
                  <a:lnTo>
                    <a:pt x="1848498" y="24166"/>
                  </a:lnTo>
                  <a:lnTo>
                    <a:pt x="1895207" y="19459"/>
                  </a:lnTo>
                  <a:lnTo>
                    <a:pt x="1936393" y="15837"/>
                  </a:lnTo>
                  <a:lnTo>
                    <a:pt x="1978613" y="13660"/>
                  </a:lnTo>
                  <a:lnTo>
                    <a:pt x="2021906" y="12713"/>
                  </a:lnTo>
                  <a:lnTo>
                    <a:pt x="2066309" y="12783"/>
                  </a:lnTo>
                  <a:lnTo>
                    <a:pt x="2111862" y="13656"/>
                  </a:lnTo>
                  <a:lnTo>
                    <a:pt x="2158602" y="15117"/>
                  </a:lnTo>
                  <a:lnTo>
                    <a:pt x="2206567" y="16954"/>
                  </a:lnTo>
                  <a:lnTo>
                    <a:pt x="2255797" y="18951"/>
                  </a:lnTo>
                  <a:lnTo>
                    <a:pt x="2306329" y="20895"/>
                  </a:lnTo>
                  <a:lnTo>
                    <a:pt x="2358202" y="22572"/>
                  </a:lnTo>
                  <a:lnTo>
                    <a:pt x="2411453" y="23768"/>
                  </a:lnTo>
                  <a:lnTo>
                    <a:pt x="2466122" y="24268"/>
                  </a:lnTo>
                  <a:lnTo>
                    <a:pt x="2522247" y="23860"/>
                  </a:lnTo>
                  <a:lnTo>
                    <a:pt x="2579866" y="22328"/>
                  </a:lnTo>
                  <a:lnTo>
                    <a:pt x="2639017" y="19459"/>
                  </a:lnTo>
                  <a:lnTo>
                    <a:pt x="2698657" y="16037"/>
                  </a:lnTo>
                  <a:lnTo>
                    <a:pt x="2757606" y="13002"/>
                  </a:lnTo>
                  <a:lnTo>
                    <a:pt x="2815692" y="10377"/>
                  </a:lnTo>
                  <a:lnTo>
                    <a:pt x="2872743" y="8188"/>
                  </a:lnTo>
                  <a:lnTo>
                    <a:pt x="2928588" y="6455"/>
                  </a:lnTo>
                  <a:lnTo>
                    <a:pt x="2983054" y="5204"/>
                  </a:lnTo>
                  <a:lnTo>
                    <a:pt x="3035969" y="4458"/>
                  </a:lnTo>
                  <a:lnTo>
                    <a:pt x="3087161" y="4239"/>
                  </a:lnTo>
                  <a:lnTo>
                    <a:pt x="3136459" y="4572"/>
                  </a:lnTo>
                  <a:lnTo>
                    <a:pt x="3183690" y="5480"/>
                  </a:lnTo>
                  <a:lnTo>
                    <a:pt x="3228682" y="6986"/>
                  </a:lnTo>
                  <a:lnTo>
                    <a:pt x="3271264" y="9113"/>
                  </a:lnTo>
                  <a:lnTo>
                    <a:pt x="3311264" y="11886"/>
                  </a:lnTo>
                  <a:lnTo>
                    <a:pt x="3382827" y="19459"/>
                  </a:lnTo>
                  <a:lnTo>
                    <a:pt x="3426465" y="23996"/>
                  </a:lnTo>
                  <a:lnTo>
                    <a:pt x="3474689" y="26610"/>
                  </a:lnTo>
                  <a:lnTo>
                    <a:pt x="3526461" y="27629"/>
                  </a:lnTo>
                  <a:lnTo>
                    <a:pt x="3580743" y="27385"/>
                  </a:lnTo>
                  <a:lnTo>
                    <a:pt x="3636494" y="26206"/>
                  </a:lnTo>
                  <a:lnTo>
                    <a:pt x="3692678" y="24422"/>
                  </a:lnTo>
                  <a:lnTo>
                    <a:pt x="3748253" y="22362"/>
                  </a:lnTo>
                  <a:lnTo>
                    <a:pt x="3802182" y="20356"/>
                  </a:lnTo>
                  <a:lnTo>
                    <a:pt x="3853426" y="18733"/>
                  </a:lnTo>
                  <a:lnTo>
                    <a:pt x="3900946" y="17823"/>
                  </a:lnTo>
                  <a:lnTo>
                    <a:pt x="3943703" y="17956"/>
                  </a:lnTo>
                  <a:lnTo>
                    <a:pt x="3980658" y="19459"/>
                  </a:lnTo>
                  <a:lnTo>
                    <a:pt x="4006624" y="21172"/>
                  </a:lnTo>
                  <a:lnTo>
                    <a:pt x="4039113" y="23180"/>
                  </a:lnTo>
                  <a:lnTo>
                    <a:pt x="4077420" y="25392"/>
                  </a:lnTo>
                  <a:lnTo>
                    <a:pt x="4120838" y="27713"/>
                  </a:lnTo>
                  <a:lnTo>
                    <a:pt x="4168663" y="30051"/>
                  </a:lnTo>
                  <a:lnTo>
                    <a:pt x="4220189" y="32312"/>
                  </a:lnTo>
                  <a:lnTo>
                    <a:pt x="4274711" y="34402"/>
                  </a:lnTo>
                  <a:lnTo>
                    <a:pt x="4331523" y="36229"/>
                  </a:lnTo>
                  <a:lnTo>
                    <a:pt x="4389921" y="37698"/>
                  </a:lnTo>
                  <a:lnTo>
                    <a:pt x="4449198" y="38718"/>
                  </a:lnTo>
                  <a:lnTo>
                    <a:pt x="4508650" y="39193"/>
                  </a:lnTo>
                  <a:lnTo>
                    <a:pt x="4567571" y="39032"/>
                  </a:lnTo>
                  <a:lnTo>
                    <a:pt x="4625255" y="38140"/>
                  </a:lnTo>
                  <a:lnTo>
                    <a:pt x="4680999" y="36425"/>
                  </a:lnTo>
                  <a:lnTo>
                    <a:pt x="4734095" y="33792"/>
                  </a:lnTo>
                  <a:lnTo>
                    <a:pt x="4783839" y="30149"/>
                  </a:lnTo>
                  <a:lnTo>
                    <a:pt x="4829525" y="25403"/>
                  </a:lnTo>
                  <a:lnTo>
                    <a:pt x="4870448" y="19459"/>
                  </a:lnTo>
                  <a:lnTo>
                    <a:pt x="4870197" y="60097"/>
                  </a:lnTo>
                  <a:lnTo>
                    <a:pt x="4868773" y="107545"/>
                  </a:lnTo>
                  <a:lnTo>
                    <a:pt x="4866930" y="159375"/>
                  </a:lnTo>
                  <a:lnTo>
                    <a:pt x="4865422" y="213160"/>
                  </a:lnTo>
                  <a:lnTo>
                    <a:pt x="4865003" y="266471"/>
                  </a:lnTo>
                  <a:lnTo>
                    <a:pt x="4866427" y="316882"/>
                  </a:lnTo>
                  <a:lnTo>
                    <a:pt x="4870448" y="361964"/>
                  </a:lnTo>
                  <a:lnTo>
                    <a:pt x="4874115" y="400573"/>
                  </a:lnTo>
                  <a:lnTo>
                    <a:pt x="4875706" y="443175"/>
                  </a:lnTo>
                  <a:lnTo>
                    <a:pt x="4875737" y="489156"/>
                  </a:lnTo>
                  <a:lnTo>
                    <a:pt x="4874720" y="537900"/>
                  </a:lnTo>
                  <a:lnTo>
                    <a:pt x="4873168" y="588790"/>
                  </a:lnTo>
                  <a:lnTo>
                    <a:pt x="4871597" y="641213"/>
                  </a:lnTo>
                  <a:lnTo>
                    <a:pt x="4870519" y="694552"/>
                  </a:lnTo>
                  <a:lnTo>
                    <a:pt x="4870448" y="748192"/>
                  </a:lnTo>
                  <a:lnTo>
                    <a:pt x="4808829" y="746078"/>
                  </a:lnTo>
                  <a:lnTo>
                    <a:pt x="4753753" y="743947"/>
                  </a:lnTo>
                  <a:lnTo>
                    <a:pt x="4703900" y="741920"/>
                  </a:lnTo>
                  <a:lnTo>
                    <a:pt x="4657951" y="740116"/>
                  </a:lnTo>
                  <a:lnTo>
                    <a:pt x="4614587" y="738658"/>
                  </a:lnTo>
                  <a:lnTo>
                    <a:pt x="4572489" y="737663"/>
                  </a:lnTo>
                  <a:lnTo>
                    <a:pt x="4530339" y="737254"/>
                  </a:lnTo>
                  <a:lnTo>
                    <a:pt x="4486815" y="737550"/>
                  </a:lnTo>
                  <a:lnTo>
                    <a:pt x="4440601" y="738671"/>
                  </a:lnTo>
                  <a:lnTo>
                    <a:pt x="4390376" y="740738"/>
                  </a:lnTo>
                  <a:lnTo>
                    <a:pt x="4334821" y="743872"/>
                  </a:lnTo>
                  <a:lnTo>
                    <a:pt x="4272618" y="748192"/>
                  </a:lnTo>
                  <a:lnTo>
                    <a:pt x="4209638" y="752324"/>
                  </a:lnTo>
                  <a:lnTo>
                    <a:pt x="4152038" y="754962"/>
                  </a:lnTo>
                  <a:lnTo>
                    <a:pt x="4098920" y="756329"/>
                  </a:lnTo>
                  <a:lnTo>
                    <a:pt x="4049389" y="756648"/>
                  </a:lnTo>
                  <a:lnTo>
                    <a:pt x="4002550" y="756141"/>
                  </a:lnTo>
                  <a:lnTo>
                    <a:pt x="3957507" y="755031"/>
                  </a:lnTo>
                  <a:lnTo>
                    <a:pt x="3913363" y="753542"/>
                  </a:lnTo>
                  <a:lnTo>
                    <a:pt x="3869223" y="751895"/>
                  </a:lnTo>
                  <a:lnTo>
                    <a:pt x="3824191" y="750314"/>
                  </a:lnTo>
                  <a:lnTo>
                    <a:pt x="3777372" y="749021"/>
                  </a:lnTo>
                  <a:lnTo>
                    <a:pt x="3727869" y="748240"/>
                  </a:lnTo>
                  <a:lnTo>
                    <a:pt x="3674788" y="748192"/>
                  </a:lnTo>
                  <a:lnTo>
                    <a:pt x="3616442" y="748437"/>
                  </a:lnTo>
                  <a:lnTo>
                    <a:pt x="3561414" y="748372"/>
                  </a:lnTo>
                  <a:lnTo>
                    <a:pt x="3509159" y="748085"/>
                  </a:lnTo>
                  <a:lnTo>
                    <a:pt x="3459133" y="747661"/>
                  </a:lnTo>
                  <a:lnTo>
                    <a:pt x="3410791" y="747188"/>
                  </a:lnTo>
                  <a:lnTo>
                    <a:pt x="3363588" y="746753"/>
                  </a:lnTo>
                  <a:lnTo>
                    <a:pt x="3316981" y="746443"/>
                  </a:lnTo>
                  <a:lnTo>
                    <a:pt x="3270425" y="746345"/>
                  </a:lnTo>
                  <a:lnTo>
                    <a:pt x="3223375" y="746546"/>
                  </a:lnTo>
                  <a:lnTo>
                    <a:pt x="3175287" y="747132"/>
                  </a:lnTo>
                  <a:lnTo>
                    <a:pt x="3125617" y="748192"/>
                  </a:lnTo>
                  <a:lnTo>
                    <a:pt x="3088616" y="748775"/>
                  </a:lnTo>
                  <a:lnTo>
                    <a:pt x="3047583" y="748775"/>
                  </a:lnTo>
                  <a:lnTo>
                    <a:pt x="3003024" y="748301"/>
                  </a:lnTo>
                  <a:lnTo>
                    <a:pt x="2955445" y="747460"/>
                  </a:lnTo>
                  <a:lnTo>
                    <a:pt x="2905353" y="746360"/>
                  </a:lnTo>
                  <a:lnTo>
                    <a:pt x="2853253" y="745111"/>
                  </a:lnTo>
                  <a:lnTo>
                    <a:pt x="2799651" y="743820"/>
                  </a:lnTo>
                  <a:lnTo>
                    <a:pt x="2745053" y="742596"/>
                  </a:lnTo>
                  <a:lnTo>
                    <a:pt x="2689966" y="741546"/>
                  </a:lnTo>
                  <a:lnTo>
                    <a:pt x="2634895" y="740780"/>
                  </a:lnTo>
                  <a:lnTo>
                    <a:pt x="2580346" y="740405"/>
                  </a:lnTo>
                  <a:lnTo>
                    <a:pt x="2526826" y="740530"/>
                  </a:lnTo>
                  <a:lnTo>
                    <a:pt x="2474840" y="741263"/>
                  </a:lnTo>
                  <a:lnTo>
                    <a:pt x="2424894" y="742712"/>
                  </a:lnTo>
                  <a:lnTo>
                    <a:pt x="2377494" y="744985"/>
                  </a:lnTo>
                  <a:lnTo>
                    <a:pt x="2333147" y="748192"/>
                  </a:lnTo>
                  <a:lnTo>
                    <a:pt x="2289034" y="751132"/>
                  </a:lnTo>
                  <a:lnTo>
                    <a:pt x="2242274" y="752677"/>
                  </a:lnTo>
                  <a:lnTo>
                    <a:pt x="2193281" y="753041"/>
                  </a:lnTo>
                  <a:lnTo>
                    <a:pt x="2142466" y="752441"/>
                  </a:lnTo>
                  <a:lnTo>
                    <a:pt x="2090242" y="751091"/>
                  </a:lnTo>
                  <a:lnTo>
                    <a:pt x="2037020" y="749205"/>
                  </a:lnTo>
                  <a:lnTo>
                    <a:pt x="1983214" y="746999"/>
                  </a:lnTo>
                  <a:lnTo>
                    <a:pt x="1929235" y="744688"/>
                  </a:lnTo>
                  <a:lnTo>
                    <a:pt x="1875497" y="742486"/>
                  </a:lnTo>
                  <a:lnTo>
                    <a:pt x="1822410" y="740608"/>
                  </a:lnTo>
                  <a:lnTo>
                    <a:pt x="1770388" y="739270"/>
                  </a:lnTo>
                  <a:lnTo>
                    <a:pt x="1719843" y="738686"/>
                  </a:lnTo>
                  <a:lnTo>
                    <a:pt x="1671187" y="739072"/>
                  </a:lnTo>
                  <a:lnTo>
                    <a:pt x="1624832" y="740641"/>
                  </a:lnTo>
                  <a:lnTo>
                    <a:pt x="1581191" y="743609"/>
                  </a:lnTo>
                  <a:lnTo>
                    <a:pt x="1540676" y="748192"/>
                  </a:lnTo>
                  <a:lnTo>
                    <a:pt x="1496333" y="753489"/>
                  </a:lnTo>
                  <a:lnTo>
                    <a:pt x="1451900" y="757053"/>
                  </a:lnTo>
                  <a:lnTo>
                    <a:pt x="1407196" y="759113"/>
                  </a:lnTo>
                  <a:lnTo>
                    <a:pt x="1362039" y="759898"/>
                  </a:lnTo>
                  <a:lnTo>
                    <a:pt x="1316246" y="759638"/>
                  </a:lnTo>
                  <a:lnTo>
                    <a:pt x="1269637" y="758564"/>
                  </a:lnTo>
                  <a:lnTo>
                    <a:pt x="1222029" y="756904"/>
                  </a:lnTo>
                  <a:lnTo>
                    <a:pt x="1173240" y="754888"/>
                  </a:lnTo>
                  <a:lnTo>
                    <a:pt x="1123089" y="752747"/>
                  </a:lnTo>
                  <a:lnTo>
                    <a:pt x="1071393" y="750709"/>
                  </a:lnTo>
                  <a:lnTo>
                    <a:pt x="1017970" y="749005"/>
                  </a:lnTo>
                  <a:lnTo>
                    <a:pt x="962640" y="747865"/>
                  </a:lnTo>
                  <a:lnTo>
                    <a:pt x="905219" y="747517"/>
                  </a:lnTo>
                  <a:lnTo>
                    <a:pt x="845527" y="748192"/>
                  </a:lnTo>
                  <a:lnTo>
                    <a:pt x="796164" y="749044"/>
                  </a:lnTo>
                  <a:lnTo>
                    <a:pt x="748179" y="749551"/>
                  </a:lnTo>
                  <a:lnTo>
                    <a:pt x="701293" y="749762"/>
                  </a:lnTo>
                  <a:lnTo>
                    <a:pt x="655228" y="749723"/>
                  </a:lnTo>
                  <a:lnTo>
                    <a:pt x="609706" y="749483"/>
                  </a:lnTo>
                  <a:lnTo>
                    <a:pt x="564447" y="749089"/>
                  </a:lnTo>
                  <a:lnTo>
                    <a:pt x="519174" y="748588"/>
                  </a:lnTo>
                  <a:lnTo>
                    <a:pt x="473609" y="748028"/>
                  </a:lnTo>
                  <a:lnTo>
                    <a:pt x="427472" y="747457"/>
                  </a:lnTo>
                  <a:lnTo>
                    <a:pt x="380485" y="746922"/>
                  </a:lnTo>
                  <a:lnTo>
                    <a:pt x="332370" y="746471"/>
                  </a:lnTo>
                  <a:lnTo>
                    <a:pt x="282848" y="746152"/>
                  </a:lnTo>
                  <a:lnTo>
                    <a:pt x="231642" y="746011"/>
                  </a:lnTo>
                  <a:lnTo>
                    <a:pt x="178471" y="746097"/>
                  </a:lnTo>
                  <a:lnTo>
                    <a:pt x="123059" y="746458"/>
                  </a:lnTo>
                  <a:lnTo>
                    <a:pt x="65127" y="747140"/>
                  </a:lnTo>
                  <a:lnTo>
                    <a:pt x="4396" y="748192"/>
                  </a:lnTo>
                  <a:lnTo>
                    <a:pt x="10075" y="698768"/>
                  </a:lnTo>
                  <a:lnTo>
                    <a:pt x="13745" y="650668"/>
                  </a:lnTo>
                  <a:lnTo>
                    <a:pt x="15476" y="602156"/>
                  </a:lnTo>
                  <a:lnTo>
                    <a:pt x="15337" y="551494"/>
                  </a:lnTo>
                  <a:lnTo>
                    <a:pt x="13397" y="496947"/>
                  </a:lnTo>
                  <a:lnTo>
                    <a:pt x="9727" y="436778"/>
                  </a:lnTo>
                  <a:lnTo>
                    <a:pt x="4396" y="369251"/>
                  </a:lnTo>
                  <a:lnTo>
                    <a:pt x="446" y="304830"/>
                  </a:lnTo>
                  <a:lnTo>
                    <a:pt x="0" y="252309"/>
                  </a:lnTo>
                  <a:lnTo>
                    <a:pt x="1744" y="207436"/>
                  </a:lnTo>
                  <a:lnTo>
                    <a:pt x="4368" y="165964"/>
                  </a:lnTo>
                  <a:lnTo>
                    <a:pt x="6559" y="123643"/>
                  </a:lnTo>
                  <a:lnTo>
                    <a:pt x="7006" y="76225"/>
                  </a:lnTo>
                  <a:lnTo>
                    <a:pt x="4396" y="1945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2136" y="2813919"/>
              <a:ext cx="4879835" cy="81276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675853" y="2834830"/>
              <a:ext cx="4032885" cy="812800"/>
            </a:xfrm>
            <a:custGeom>
              <a:avLst/>
              <a:gdLst/>
              <a:ahLst/>
              <a:cxnLst/>
              <a:rect l="l" t="t" r="r" b="b"/>
              <a:pathLst>
                <a:path w="4032885" h="812800">
                  <a:moveTo>
                    <a:pt x="540258" y="791845"/>
                  </a:moveTo>
                  <a:lnTo>
                    <a:pt x="0" y="791845"/>
                  </a:lnTo>
                  <a:lnTo>
                    <a:pt x="37376" y="797306"/>
                  </a:lnTo>
                  <a:lnTo>
                    <a:pt x="82384" y="802576"/>
                  </a:lnTo>
                  <a:lnTo>
                    <a:pt x="129679" y="806818"/>
                  </a:lnTo>
                  <a:lnTo>
                    <a:pt x="178892" y="809929"/>
                  </a:lnTo>
                  <a:lnTo>
                    <a:pt x="229628" y="811796"/>
                  </a:lnTo>
                  <a:lnTo>
                    <a:pt x="281533" y="812330"/>
                  </a:lnTo>
                  <a:lnTo>
                    <a:pt x="334200" y="811415"/>
                  </a:lnTo>
                  <a:lnTo>
                    <a:pt x="387273" y="808939"/>
                  </a:lnTo>
                  <a:lnTo>
                    <a:pt x="440347" y="804811"/>
                  </a:lnTo>
                  <a:lnTo>
                    <a:pt x="493064" y="798906"/>
                  </a:lnTo>
                  <a:lnTo>
                    <a:pt x="540258" y="791845"/>
                  </a:lnTo>
                  <a:close/>
                </a:path>
                <a:path w="4032885" h="812800">
                  <a:moveTo>
                    <a:pt x="2673527" y="791845"/>
                  </a:moveTo>
                  <a:lnTo>
                    <a:pt x="2003171" y="791845"/>
                  </a:lnTo>
                  <a:lnTo>
                    <a:pt x="2126018" y="797420"/>
                  </a:lnTo>
                  <a:lnTo>
                    <a:pt x="2253462" y="800900"/>
                  </a:lnTo>
                  <a:lnTo>
                    <a:pt x="2367851" y="801992"/>
                  </a:lnTo>
                  <a:lnTo>
                    <a:pt x="2468575" y="801116"/>
                  </a:lnTo>
                  <a:lnTo>
                    <a:pt x="2554998" y="798728"/>
                  </a:lnTo>
                  <a:lnTo>
                    <a:pt x="2626487" y="795261"/>
                  </a:lnTo>
                  <a:lnTo>
                    <a:pt x="2673527" y="791845"/>
                  </a:lnTo>
                  <a:close/>
                </a:path>
                <a:path w="4032885" h="812800">
                  <a:moveTo>
                    <a:pt x="3222244" y="791845"/>
                  </a:moveTo>
                  <a:lnTo>
                    <a:pt x="2835656" y="791845"/>
                  </a:lnTo>
                  <a:lnTo>
                    <a:pt x="2942628" y="796277"/>
                  </a:lnTo>
                  <a:lnTo>
                    <a:pt x="2997377" y="797902"/>
                  </a:lnTo>
                  <a:lnTo>
                    <a:pt x="3054172" y="798626"/>
                  </a:lnTo>
                  <a:lnTo>
                    <a:pt x="3112566" y="798017"/>
                  </a:lnTo>
                  <a:lnTo>
                    <a:pt x="3172129" y="795655"/>
                  </a:lnTo>
                  <a:lnTo>
                    <a:pt x="3222244" y="791845"/>
                  </a:lnTo>
                  <a:close/>
                </a:path>
                <a:path w="4032885" h="812800">
                  <a:moveTo>
                    <a:pt x="4032377" y="145554"/>
                  </a:moveTo>
                  <a:lnTo>
                    <a:pt x="4032237" y="96291"/>
                  </a:lnTo>
                  <a:lnTo>
                    <a:pt x="4030319" y="47447"/>
                  </a:lnTo>
                  <a:lnTo>
                    <a:pt x="4026116" y="0"/>
                  </a:lnTo>
                  <a:lnTo>
                    <a:pt x="4026116" y="374484"/>
                  </a:lnTo>
                  <a:lnTo>
                    <a:pt x="4026395" y="336169"/>
                  </a:lnTo>
                  <a:lnTo>
                    <a:pt x="4027754" y="290563"/>
                  </a:lnTo>
                  <a:lnTo>
                    <a:pt x="4029570" y="243230"/>
                  </a:lnTo>
                  <a:lnTo>
                    <a:pt x="4031297" y="194716"/>
                  </a:lnTo>
                  <a:lnTo>
                    <a:pt x="4032377" y="145554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2156" y="2820675"/>
              <a:ext cx="4882515" cy="825500"/>
            </a:xfrm>
            <a:custGeom>
              <a:avLst/>
              <a:gdLst/>
              <a:ahLst/>
              <a:cxnLst/>
              <a:rect l="l" t="t" r="r" b="b"/>
              <a:pathLst>
                <a:path w="4882515" h="825500">
                  <a:moveTo>
                    <a:pt x="6338" y="13722"/>
                  </a:moveTo>
                  <a:lnTo>
                    <a:pt x="65400" y="9092"/>
                  </a:lnTo>
                  <a:lnTo>
                    <a:pt x="119871" y="5527"/>
                  </a:lnTo>
                  <a:lnTo>
                    <a:pt x="170464" y="2931"/>
                  </a:lnTo>
                  <a:lnTo>
                    <a:pt x="217892" y="1209"/>
                  </a:lnTo>
                  <a:lnTo>
                    <a:pt x="262869" y="263"/>
                  </a:lnTo>
                  <a:lnTo>
                    <a:pt x="306109" y="0"/>
                  </a:lnTo>
                  <a:lnTo>
                    <a:pt x="348326" y="321"/>
                  </a:lnTo>
                  <a:lnTo>
                    <a:pt x="390234" y="1132"/>
                  </a:lnTo>
                  <a:lnTo>
                    <a:pt x="432546" y="2336"/>
                  </a:lnTo>
                  <a:lnTo>
                    <a:pt x="475976" y="3838"/>
                  </a:lnTo>
                  <a:lnTo>
                    <a:pt x="521239" y="5541"/>
                  </a:lnTo>
                  <a:lnTo>
                    <a:pt x="569047" y="7350"/>
                  </a:lnTo>
                  <a:lnTo>
                    <a:pt x="620114" y="9169"/>
                  </a:lnTo>
                  <a:lnTo>
                    <a:pt x="675155" y="10901"/>
                  </a:lnTo>
                  <a:lnTo>
                    <a:pt x="734883" y="12451"/>
                  </a:lnTo>
                  <a:lnTo>
                    <a:pt x="800012" y="13722"/>
                  </a:lnTo>
                  <a:lnTo>
                    <a:pt x="877439" y="14868"/>
                  </a:lnTo>
                  <a:lnTo>
                    <a:pt x="943414" y="15631"/>
                  </a:lnTo>
                  <a:lnTo>
                    <a:pt x="999806" y="16063"/>
                  </a:lnTo>
                  <a:lnTo>
                    <a:pt x="1048481" y="16216"/>
                  </a:lnTo>
                  <a:lnTo>
                    <a:pt x="1091308" y="16144"/>
                  </a:lnTo>
                  <a:lnTo>
                    <a:pt x="1130153" y="15899"/>
                  </a:lnTo>
                  <a:lnTo>
                    <a:pt x="1166885" y="15532"/>
                  </a:lnTo>
                  <a:lnTo>
                    <a:pt x="1203371" y="15097"/>
                  </a:lnTo>
                  <a:lnTo>
                    <a:pt x="1241478" y="14646"/>
                  </a:lnTo>
                  <a:lnTo>
                    <a:pt x="1283075" y="14230"/>
                  </a:lnTo>
                  <a:lnTo>
                    <a:pt x="1330029" y="13903"/>
                  </a:lnTo>
                  <a:lnTo>
                    <a:pt x="1384208" y="13716"/>
                  </a:lnTo>
                  <a:lnTo>
                    <a:pt x="1447478" y="13722"/>
                  </a:lnTo>
                  <a:lnTo>
                    <a:pt x="1502547" y="13535"/>
                  </a:lnTo>
                  <a:lnTo>
                    <a:pt x="1556582" y="12850"/>
                  </a:lnTo>
                  <a:lnTo>
                    <a:pt x="1609650" y="11780"/>
                  </a:lnTo>
                  <a:lnTo>
                    <a:pt x="1661814" y="10437"/>
                  </a:lnTo>
                  <a:lnTo>
                    <a:pt x="1713142" y="8933"/>
                  </a:lnTo>
                  <a:lnTo>
                    <a:pt x="1763697" y="7380"/>
                  </a:lnTo>
                  <a:lnTo>
                    <a:pt x="1813546" y="5888"/>
                  </a:lnTo>
                  <a:lnTo>
                    <a:pt x="1862754" y="4571"/>
                  </a:lnTo>
                  <a:lnTo>
                    <a:pt x="1911385" y="3540"/>
                  </a:lnTo>
                  <a:lnTo>
                    <a:pt x="1959505" y="2906"/>
                  </a:lnTo>
                  <a:lnTo>
                    <a:pt x="2007180" y="2783"/>
                  </a:lnTo>
                  <a:lnTo>
                    <a:pt x="2054475" y="3280"/>
                  </a:lnTo>
                  <a:lnTo>
                    <a:pt x="2101455" y="4511"/>
                  </a:lnTo>
                  <a:lnTo>
                    <a:pt x="2148186" y="6587"/>
                  </a:lnTo>
                  <a:lnTo>
                    <a:pt x="2194732" y="9621"/>
                  </a:lnTo>
                  <a:lnTo>
                    <a:pt x="2241159" y="13722"/>
                  </a:lnTo>
                  <a:lnTo>
                    <a:pt x="2303999" y="18748"/>
                  </a:lnTo>
                  <a:lnTo>
                    <a:pt x="2358787" y="20690"/>
                  </a:lnTo>
                  <a:lnTo>
                    <a:pt x="2407351" y="20241"/>
                  </a:lnTo>
                  <a:lnTo>
                    <a:pt x="2451519" y="18095"/>
                  </a:lnTo>
                  <a:lnTo>
                    <a:pt x="2493118" y="14943"/>
                  </a:lnTo>
                  <a:lnTo>
                    <a:pt x="2533978" y="11480"/>
                  </a:lnTo>
                  <a:lnTo>
                    <a:pt x="2575926" y="8396"/>
                  </a:lnTo>
                  <a:lnTo>
                    <a:pt x="2620790" y="6386"/>
                  </a:lnTo>
                  <a:lnTo>
                    <a:pt x="2670398" y="6142"/>
                  </a:lnTo>
                  <a:lnTo>
                    <a:pt x="2726579" y="8356"/>
                  </a:lnTo>
                  <a:lnTo>
                    <a:pt x="2791159" y="13722"/>
                  </a:lnTo>
                  <a:lnTo>
                    <a:pt x="2857908" y="19621"/>
                  </a:lnTo>
                  <a:lnTo>
                    <a:pt x="2919725" y="23219"/>
                  </a:lnTo>
                  <a:lnTo>
                    <a:pt x="2977138" y="24891"/>
                  </a:lnTo>
                  <a:lnTo>
                    <a:pt x="3030675" y="25010"/>
                  </a:lnTo>
                  <a:lnTo>
                    <a:pt x="3080861" y="23949"/>
                  </a:lnTo>
                  <a:lnTo>
                    <a:pt x="3128225" y="22082"/>
                  </a:lnTo>
                  <a:lnTo>
                    <a:pt x="3173294" y="19783"/>
                  </a:lnTo>
                  <a:lnTo>
                    <a:pt x="3216595" y="17423"/>
                  </a:lnTo>
                  <a:lnTo>
                    <a:pt x="3258654" y="15378"/>
                  </a:lnTo>
                  <a:lnTo>
                    <a:pt x="3300000" y="14020"/>
                  </a:lnTo>
                  <a:lnTo>
                    <a:pt x="3341160" y="13722"/>
                  </a:lnTo>
                  <a:lnTo>
                    <a:pt x="3374419" y="13917"/>
                  </a:lnTo>
                  <a:lnTo>
                    <a:pt x="3413217" y="13991"/>
                  </a:lnTo>
                  <a:lnTo>
                    <a:pt x="3456816" y="13965"/>
                  </a:lnTo>
                  <a:lnTo>
                    <a:pt x="3504480" y="13861"/>
                  </a:lnTo>
                  <a:lnTo>
                    <a:pt x="3555470" y="13701"/>
                  </a:lnTo>
                  <a:lnTo>
                    <a:pt x="3609049" y="13506"/>
                  </a:lnTo>
                  <a:lnTo>
                    <a:pt x="3664480" y="13297"/>
                  </a:lnTo>
                  <a:lnTo>
                    <a:pt x="3721026" y="13097"/>
                  </a:lnTo>
                  <a:lnTo>
                    <a:pt x="3777948" y="12925"/>
                  </a:lnTo>
                  <a:lnTo>
                    <a:pt x="3834509" y="12805"/>
                  </a:lnTo>
                  <a:lnTo>
                    <a:pt x="3889973" y="12758"/>
                  </a:lnTo>
                  <a:lnTo>
                    <a:pt x="3943601" y="12804"/>
                  </a:lnTo>
                  <a:lnTo>
                    <a:pt x="3994657" y="12966"/>
                  </a:lnTo>
                  <a:lnTo>
                    <a:pt x="4042402" y="13265"/>
                  </a:lnTo>
                  <a:lnTo>
                    <a:pt x="4086100" y="13722"/>
                  </a:lnTo>
                  <a:lnTo>
                    <a:pt x="4125044" y="14484"/>
                  </a:lnTo>
                  <a:lnTo>
                    <a:pt x="4164350" y="15672"/>
                  </a:lnTo>
                  <a:lnTo>
                    <a:pt x="4204245" y="17175"/>
                  </a:lnTo>
                  <a:lnTo>
                    <a:pt x="4244956" y="18878"/>
                  </a:lnTo>
                  <a:lnTo>
                    <a:pt x="4286711" y="20669"/>
                  </a:lnTo>
                  <a:lnTo>
                    <a:pt x="4329735" y="22434"/>
                  </a:lnTo>
                  <a:lnTo>
                    <a:pt x="4374256" y="24059"/>
                  </a:lnTo>
                  <a:lnTo>
                    <a:pt x="4420501" y="25432"/>
                  </a:lnTo>
                  <a:lnTo>
                    <a:pt x="4468698" y="26439"/>
                  </a:lnTo>
                  <a:lnTo>
                    <a:pt x="4519072" y="26966"/>
                  </a:lnTo>
                  <a:lnTo>
                    <a:pt x="4571852" y="26902"/>
                  </a:lnTo>
                  <a:lnTo>
                    <a:pt x="4627263" y="26131"/>
                  </a:lnTo>
                  <a:lnTo>
                    <a:pt x="4685534" y="24541"/>
                  </a:lnTo>
                  <a:lnTo>
                    <a:pt x="4746891" y="22018"/>
                  </a:lnTo>
                  <a:lnTo>
                    <a:pt x="4811560" y="18450"/>
                  </a:lnTo>
                  <a:lnTo>
                    <a:pt x="4879770" y="13722"/>
                  </a:lnTo>
                  <a:lnTo>
                    <a:pt x="4875240" y="74626"/>
                  </a:lnTo>
                  <a:lnTo>
                    <a:pt x="4872463" y="133008"/>
                  </a:lnTo>
                  <a:lnTo>
                    <a:pt x="4871293" y="189056"/>
                  </a:lnTo>
                  <a:lnTo>
                    <a:pt x="4871585" y="242959"/>
                  </a:lnTo>
                  <a:lnTo>
                    <a:pt x="4873192" y="294902"/>
                  </a:lnTo>
                  <a:lnTo>
                    <a:pt x="4875969" y="345075"/>
                  </a:lnTo>
                  <a:lnTo>
                    <a:pt x="4879770" y="393665"/>
                  </a:lnTo>
                  <a:lnTo>
                    <a:pt x="4881934" y="439215"/>
                  </a:lnTo>
                  <a:lnTo>
                    <a:pt x="4881586" y="490694"/>
                  </a:lnTo>
                  <a:lnTo>
                    <a:pt x="4879673" y="545981"/>
                  </a:lnTo>
                  <a:lnTo>
                    <a:pt x="4877142" y="602954"/>
                  </a:lnTo>
                  <a:lnTo>
                    <a:pt x="4874939" y="659491"/>
                  </a:lnTo>
                  <a:lnTo>
                    <a:pt x="4874012" y="713470"/>
                  </a:lnTo>
                  <a:lnTo>
                    <a:pt x="4875307" y="762770"/>
                  </a:lnTo>
                  <a:lnTo>
                    <a:pt x="4879770" y="805268"/>
                  </a:lnTo>
                  <a:lnTo>
                    <a:pt x="4814451" y="804674"/>
                  </a:lnTo>
                  <a:lnTo>
                    <a:pt x="4758396" y="803167"/>
                  </a:lnTo>
                  <a:lnTo>
                    <a:pt x="4709541" y="801089"/>
                  </a:lnTo>
                  <a:lnTo>
                    <a:pt x="4665817" y="798785"/>
                  </a:lnTo>
                  <a:lnTo>
                    <a:pt x="4625156" y="796601"/>
                  </a:lnTo>
                  <a:lnTo>
                    <a:pt x="4585493" y="794879"/>
                  </a:lnTo>
                  <a:lnTo>
                    <a:pt x="4544758" y="793965"/>
                  </a:lnTo>
                  <a:lnTo>
                    <a:pt x="4500886" y="794202"/>
                  </a:lnTo>
                  <a:lnTo>
                    <a:pt x="4451809" y="795936"/>
                  </a:lnTo>
                  <a:lnTo>
                    <a:pt x="4395459" y="799509"/>
                  </a:lnTo>
                  <a:lnTo>
                    <a:pt x="4329770" y="805268"/>
                  </a:lnTo>
                  <a:lnTo>
                    <a:pt x="4263600" y="811642"/>
                  </a:lnTo>
                  <a:lnTo>
                    <a:pt x="4206000" y="816817"/>
                  </a:lnTo>
                  <a:lnTo>
                    <a:pt x="4155191" y="820768"/>
                  </a:lnTo>
                  <a:lnTo>
                    <a:pt x="4109395" y="823468"/>
                  </a:lnTo>
                  <a:lnTo>
                    <a:pt x="4066833" y="824894"/>
                  </a:lnTo>
                  <a:lnTo>
                    <a:pt x="4025726" y="825020"/>
                  </a:lnTo>
                  <a:lnTo>
                    <a:pt x="3984296" y="823821"/>
                  </a:lnTo>
                  <a:lnTo>
                    <a:pt x="3940764" y="821271"/>
                  </a:lnTo>
                  <a:lnTo>
                    <a:pt x="3893352" y="817346"/>
                  </a:lnTo>
                  <a:lnTo>
                    <a:pt x="3840280" y="812020"/>
                  </a:lnTo>
                  <a:lnTo>
                    <a:pt x="3779770" y="805268"/>
                  </a:lnTo>
                  <a:lnTo>
                    <a:pt x="3721780" y="799582"/>
                  </a:lnTo>
                  <a:lnTo>
                    <a:pt x="3666418" y="796008"/>
                  </a:lnTo>
                  <a:lnTo>
                    <a:pt x="3613338" y="794223"/>
                  </a:lnTo>
                  <a:lnTo>
                    <a:pt x="3562192" y="793903"/>
                  </a:lnTo>
                  <a:lnTo>
                    <a:pt x="3512634" y="794725"/>
                  </a:lnTo>
                  <a:lnTo>
                    <a:pt x="3464316" y="796365"/>
                  </a:lnTo>
                  <a:lnTo>
                    <a:pt x="3416892" y="798499"/>
                  </a:lnTo>
                  <a:lnTo>
                    <a:pt x="3370014" y="800805"/>
                  </a:lnTo>
                  <a:lnTo>
                    <a:pt x="3323336" y="802958"/>
                  </a:lnTo>
                  <a:lnTo>
                    <a:pt x="3276510" y="804636"/>
                  </a:lnTo>
                  <a:lnTo>
                    <a:pt x="3229191" y="805513"/>
                  </a:lnTo>
                  <a:lnTo>
                    <a:pt x="3181029" y="805268"/>
                  </a:lnTo>
                  <a:lnTo>
                    <a:pt x="3140293" y="804717"/>
                  </a:lnTo>
                  <a:lnTo>
                    <a:pt x="3096300" y="804491"/>
                  </a:lnTo>
                  <a:lnTo>
                    <a:pt x="3049509" y="804533"/>
                  </a:lnTo>
                  <a:lnTo>
                    <a:pt x="3000375" y="804786"/>
                  </a:lnTo>
                  <a:lnTo>
                    <a:pt x="2949357" y="805194"/>
                  </a:lnTo>
                  <a:lnTo>
                    <a:pt x="2896911" y="805699"/>
                  </a:lnTo>
                  <a:lnTo>
                    <a:pt x="2843495" y="806244"/>
                  </a:lnTo>
                  <a:lnTo>
                    <a:pt x="2789565" y="806774"/>
                  </a:lnTo>
                  <a:lnTo>
                    <a:pt x="2735580" y="807231"/>
                  </a:lnTo>
                  <a:lnTo>
                    <a:pt x="2681995" y="807559"/>
                  </a:lnTo>
                  <a:lnTo>
                    <a:pt x="2629269" y="807700"/>
                  </a:lnTo>
                  <a:lnTo>
                    <a:pt x="2577858" y="807599"/>
                  </a:lnTo>
                  <a:lnTo>
                    <a:pt x="2528219" y="807197"/>
                  </a:lnTo>
                  <a:lnTo>
                    <a:pt x="2480811" y="806439"/>
                  </a:lnTo>
                  <a:lnTo>
                    <a:pt x="2436089" y="805268"/>
                  </a:lnTo>
                  <a:lnTo>
                    <a:pt x="2392607" y="804484"/>
                  </a:lnTo>
                  <a:lnTo>
                    <a:pt x="2348561" y="804777"/>
                  </a:lnTo>
                  <a:lnTo>
                    <a:pt x="2303876" y="805925"/>
                  </a:lnTo>
                  <a:lnTo>
                    <a:pt x="2258480" y="807705"/>
                  </a:lnTo>
                  <a:lnTo>
                    <a:pt x="2212299" y="809893"/>
                  </a:lnTo>
                  <a:lnTo>
                    <a:pt x="2165259" y="812268"/>
                  </a:lnTo>
                  <a:lnTo>
                    <a:pt x="2117288" y="814606"/>
                  </a:lnTo>
                  <a:lnTo>
                    <a:pt x="2068311" y="816685"/>
                  </a:lnTo>
                  <a:lnTo>
                    <a:pt x="2018256" y="818282"/>
                  </a:lnTo>
                  <a:lnTo>
                    <a:pt x="1967049" y="819175"/>
                  </a:lnTo>
                  <a:lnTo>
                    <a:pt x="1914616" y="819139"/>
                  </a:lnTo>
                  <a:lnTo>
                    <a:pt x="1860884" y="817954"/>
                  </a:lnTo>
                  <a:lnTo>
                    <a:pt x="1805779" y="815395"/>
                  </a:lnTo>
                  <a:lnTo>
                    <a:pt x="1749228" y="811241"/>
                  </a:lnTo>
                  <a:lnTo>
                    <a:pt x="1691159" y="805268"/>
                  </a:lnTo>
                  <a:lnTo>
                    <a:pt x="1630941" y="799073"/>
                  </a:lnTo>
                  <a:lnTo>
                    <a:pt x="1575827" y="795170"/>
                  </a:lnTo>
                  <a:lnTo>
                    <a:pt x="1524944" y="793226"/>
                  </a:lnTo>
                  <a:lnTo>
                    <a:pt x="1477419" y="792904"/>
                  </a:lnTo>
                  <a:lnTo>
                    <a:pt x="1432380" y="793871"/>
                  </a:lnTo>
                  <a:lnTo>
                    <a:pt x="1388955" y="795790"/>
                  </a:lnTo>
                  <a:lnTo>
                    <a:pt x="1346271" y="798328"/>
                  </a:lnTo>
                  <a:lnTo>
                    <a:pt x="1303456" y="801149"/>
                  </a:lnTo>
                  <a:lnTo>
                    <a:pt x="1259637" y="803918"/>
                  </a:lnTo>
                  <a:lnTo>
                    <a:pt x="1213941" y="806301"/>
                  </a:lnTo>
                  <a:lnTo>
                    <a:pt x="1165497" y="807962"/>
                  </a:lnTo>
                  <a:lnTo>
                    <a:pt x="1113432" y="808567"/>
                  </a:lnTo>
                  <a:lnTo>
                    <a:pt x="1056874" y="807781"/>
                  </a:lnTo>
                  <a:lnTo>
                    <a:pt x="994949" y="805268"/>
                  </a:lnTo>
                  <a:lnTo>
                    <a:pt x="948366" y="803385"/>
                  </a:lnTo>
                  <a:lnTo>
                    <a:pt x="899676" y="802525"/>
                  </a:lnTo>
                  <a:lnTo>
                    <a:pt x="849179" y="802552"/>
                  </a:lnTo>
                  <a:lnTo>
                    <a:pt x="797178" y="803327"/>
                  </a:lnTo>
                  <a:lnTo>
                    <a:pt x="743973" y="804714"/>
                  </a:lnTo>
                  <a:lnTo>
                    <a:pt x="689865" y="806574"/>
                  </a:lnTo>
                  <a:lnTo>
                    <a:pt x="635157" y="808770"/>
                  </a:lnTo>
                  <a:lnTo>
                    <a:pt x="580149" y="811164"/>
                  </a:lnTo>
                  <a:lnTo>
                    <a:pt x="525142" y="813619"/>
                  </a:lnTo>
                  <a:lnTo>
                    <a:pt x="470439" y="815997"/>
                  </a:lnTo>
                  <a:lnTo>
                    <a:pt x="416339" y="818160"/>
                  </a:lnTo>
                  <a:lnTo>
                    <a:pt x="363145" y="819971"/>
                  </a:lnTo>
                  <a:lnTo>
                    <a:pt x="311157" y="821293"/>
                  </a:lnTo>
                  <a:lnTo>
                    <a:pt x="260677" y="821987"/>
                  </a:lnTo>
                  <a:lnTo>
                    <a:pt x="212007" y="821916"/>
                  </a:lnTo>
                  <a:lnTo>
                    <a:pt x="165447" y="820942"/>
                  </a:lnTo>
                  <a:lnTo>
                    <a:pt x="121299" y="818928"/>
                  </a:lnTo>
                  <a:lnTo>
                    <a:pt x="79864" y="815736"/>
                  </a:lnTo>
                  <a:lnTo>
                    <a:pt x="41443" y="811228"/>
                  </a:lnTo>
                  <a:lnTo>
                    <a:pt x="4892" y="736702"/>
                  </a:lnTo>
                  <a:lnTo>
                    <a:pt x="2971" y="673472"/>
                  </a:lnTo>
                  <a:lnTo>
                    <a:pt x="1148" y="615462"/>
                  </a:lnTo>
                  <a:lnTo>
                    <a:pt x="0" y="562551"/>
                  </a:lnTo>
                  <a:lnTo>
                    <a:pt x="98" y="514623"/>
                  </a:lnTo>
                  <a:lnTo>
                    <a:pt x="2020" y="471560"/>
                  </a:lnTo>
                  <a:lnTo>
                    <a:pt x="6338" y="433242"/>
                  </a:lnTo>
                  <a:lnTo>
                    <a:pt x="10669" y="399474"/>
                  </a:lnTo>
                  <a:lnTo>
                    <a:pt x="13696" y="360949"/>
                  </a:lnTo>
                  <a:lnTo>
                    <a:pt x="15453" y="317379"/>
                  </a:lnTo>
                  <a:lnTo>
                    <a:pt x="15972" y="268475"/>
                  </a:lnTo>
                  <a:lnTo>
                    <a:pt x="15287" y="213946"/>
                  </a:lnTo>
                  <a:lnTo>
                    <a:pt x="13430" y="153504"/>
                  </a:lnTo>
                  <a:lnTo>
                    <a:pt x="10436" y="86859"/>
                  </a:lnTo>
                  <a:lnTo>
                    <a:pt x="6338" y="1372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366737" y="275163"/>
            <a:ext cx="8682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44546A"/>
                </a:solidFill>
                <a:latin typeface="Trebuchet MS"/>
                <a:cs typeface="Trebuchet MS"/>
              </a:rPr>
              <a:t>The</a:t>
            </a:r>
            <a:r>
              <a:rPr sz="3600" spc="-204" dirty="0">
                <a:solidFill>
                  <a:srgbClr val="44546A"/>
                </a:solidFill>
                <a:latin typeface="Trebuchet MS"/>
                <a:cs typeface="Trebuchet MS"/>
              </a:rPr>
              <a:t> </a:t>
            </a:r>
            <a:r>
              <a:rPr sz="3600" spc="250" dirty="0">
                <a:solidFill>
                  <a:srgbClr val="44546A"/>
                </a:solidFill>
                <a:latin typeface="Trebuchet MS"/>
                <a:cs typeface="Trebuchet MS"/>
              </a:rPr>
              <a:t>AI</a:t>
            </a:r>
            <a:r>
              <a:rPr sz="3600" spc="-204" dirty="0">
                <a:solidFill>
                  <a:srgbClr val="44546A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44546A"/>
                </a:solidFill>
                <a:latin typeface="Trebuchet MS"/>
                <a:cs typeface="Trebuchet MS"/>
              </a:rPr>
              <a:t>landscape:</a:t>
            </a:r>
            <a:r>
              <a:rPr sz="3600" spc="-195" dirty="0">
                <a:solidFill>
                  <a:srgbClr val="44546A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44546A"/>
                </a:solidFill>
                <a:latin typeface="Trebuchet MS"/>
                <a:cs typeface="Trebuchet MS"/>
              </a:rPr>
              <a:t>lawsuits</a:t>
            </a:r>
            <a:r>
              <a:rPr sz="3600" spc="-204" dirty="0">
                <a:solidFill>
                  <a:srgbClr val="44546A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44546A"/>
                </a:solidFill>
                <a:latin typeface="Trebuchet MS"/>
                <a:cs typeface="Trebuchet MS"/>
              </a:rPr>
              <a:t>and</a:t>
            </a:r>
            <a:r>
              <a:rPr sz="3600" spc="-204" dirty="0">
                <a:solidFill>
                  <a:srgbClr val="44546A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44546A"/>
                </a:solidFill>
                <a:latin typeface="Trebuchet MS"/>
                <a:cs typeface="Trebuchet MS"/>
              </a:rPr>
              <a:t>regulations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6299200"/>
                  </a:lnTo>
                  <a:lnTo>
                    <a:pt x="7095261" y="6299200"/>
                  </a:lnTo>
                  <a:lnTo>
                    <a:pt x="6067392" y="6248400"/>
                  </a:lnTo>
                  <a:lnTo>
                    <a:pt x="5534331" y="6210300"/>
                  </a:lnTo>
                  <a:lnTo>
                    <a:pt x="5324684" y="6172200"/>
                  </a:lnTo>
                  <a:lnTo>
                    <a:pt x="5267058" y="6108700"/>
                  </a:lnTo>
                  <a:lnTo>
                    <a:pt x="5284220" y="6096000"/>
                  </a:lnTo>
                  <a:lnTo>
                    <a:pt x="5328597" y="6083300"/>
                  </a:lnTo>
                  <a:lnTo>
                    <a:pt x="5389521" y="6070600"/>
                  </a:lnTo>
                  <a:lnTo>
                    <a:pt x="5456326" y="6045200"/>
                  </a:lnTo>
                  <a:lnTo>
                    <a:pt x="5108543" y="6045200"/>
                  </a:lnTo>
                  <a:lnTo>
                    <a:pt x="5096612" y="6032500"/>
                  </a:lnTo>
                  <a:lnTo>
                    <a:pt x="5078732" y="6032500"/>
                  </a:lnTo>
                  <a:lnTo>
                    <a:pt x="5076178" y="6019800"/>
                  </a:lnTo>
                  <a:lnTo>
                    <a:pt x="5067963" y="6019800"/>
                  </a:lnTo>
                  <a:lnTo>
                    <a:pt x="5062477" y="6007100"/>
                  </a:lnTo>
                  <a:lnTo>
                    <a:pt x="5042765" y="6007100"/>
                  </a:lnTo>
                  <a:lnTo>
                    <a:pt x="5027001" y="5994400"/>
                  </a:lnTo>
                  <a:lnTo>
                    <a:pt x="4979812" y="5994400"/>
                  </a:lnTo>
                  <a:lnTo>
                    <a:pt x="4946848" y="5981700"/>
                  </a:lnTo>
                  <a:lnTo>
                    <a:pt x="4858334" y="5981700"/>
                  </a:lnTo>
                  <a:lnTo>
                    <a:pt x="4788417" y="5969000"/>
                  </a:lnTo>
                  <a:lnTo>
                    <a:pt x="4724073" y="5956300"/>
                  </a:lnTo>
                  <a:lnTo>
                    <a:pt x="4664889" y="5956300"/>
                  </a:lnTo>
                  <a:lnTo>
                    <a:pt x="4610454" y="5943600"/>
                  </a:lnTo>
                  <a:lnTo>
                    <a:pt x="4560354" y="5943600"/>
                  </a:lnTo>
                  <a:lnTo>
                    <a:pt x="4514178" y="5930900"/>
                  </a:lnTo>
                  <a:lnTo>
                    <a:pt x="4471514" y="5930900"/>
                  </a:lnTo>
                  <a:lnTo>
                    <a:pt x="4431948" y="5918200"/>
                  </a:lnTo>
                  <a:lnTo>
                    <a:pt x="4395070" y="5918200"/>
                  </a:lnTo>
                  <a:lnTo>
                    <a:pt x="4360465" y="5905500"/>
                  </a:lnTo>
                  <a:lnTo>
                    <a:pt x="4327724" y="5905500"/>
                  </a:lnTo>
                  <a:lnTo>
                    <a:pt x="4296432" y="5892800"/>
                  </a:lnTo>
                  <a:lnTo>
                    <a:pt x="4266178" y="5892800"/>
                  </a:lnTo>
                  <a:lnTo>
                    <a:pt x="4207135" y="5867400"/>
                  </a:lnTo>
                  <a:lnTo>
                    <a:pt x="4177521" y="5867400"/>
                  </a:lnTo>
                  <a:lnTo>
                    <a:pt x="4147295" y="5854700"/>
                  </a:lnTo>
                  <a:lnTo>
                    <a:pt x="4083362" y="5829300"/>
                  </a:lnTo>
                  <a:lnTo>
                    <a:pt x="3972572" y="5791200"/>
                  </a:lnTo>
                  <a:lnTo>
                    <a:pt x="3930022" y="5778500"/>
                  </a:lnTo>
                  <a:lnTo>
                    <a:pt x="3883975" y="5765800"/>
                  </a:lnTo>
                  <a:lnTo>
                    <a:pt x="3834018" y="5740400"/>
                  </a:lnTo>
                  <a:lnTo>
                    <a:pt x="3779740" y="5727700"/>
                  </a:lnTo>
                  <a:lnTo>
                    <a:pt x="3720729" y="5702300"/>
                  </a:lnTo>
                  <a:lnTo>
                    <a:pt x="3656571" y="5689600"/>
                  </a:lnTo>
                  <a:lnTo>
                    <a:pt x="3639845" y="5676900"/>
                  </a:lnTo>
                  <a:lnTo>
                    <a:pt x="3614008" y="5676900"/>
                  </a:lnTo>
                  <a:lnTo>
                    <a:pt x="3580115" y="5664200"/>
                  </a:lnTo>
                  <a:lnTo>
                    <a:pt x="3539221" y="5651500"/>
                  </a:lnTo>
                  <a:lnTo>
                    <a:pt x="3492381" y="5638800"/>
                  </a:lnTo>
                  <a:lnTo>
                    <a:pt x="3440649" y="5626100"/>
                  </a:lnTo>
                  <a:lnTo>
                    <a:pt x="3385081" y="5613400"/>
                  </a:lnTo>
                  <a:lnTo>
                    <a:pt x="3145544" y="5562600"/>
                  </a:lnTo>
                  <a:lnTo>
                    <a:pt x="3086618" y="5562600"/>
                  </a:lnTo>
                  <a:lnTo>
                    <a:pt x="3030184" y="5549900"/>
                  </a:lnTo>
                  <a:lnTo>
                    <a:pt x="2977299" y="5549900"/>
                  </a:lnTo>
                  <a:lnTo>
                    <a:pt x="2929503" y="5537200"/>
                  </a:lnTo>
                  <a:lnTo>
                    <a:pt x="2881434" y="5537200"/>
                  </a:lnTo>
                  <a:lnTo>
                    <a:pt x="2834997" y="5511800"/>
                  </a:lnTo>
                  <a:lnTo>
                    <a:pt x="2792095" y="5473700"/>
                  </a:lnTo>
                  <a:lnTo>
                    <a:pt x="3102555" y="5473700"/>
                  </a:lnTo>
                  <a:lnTo>
                    <a:pt x="3152698" y="5461000"/>
                  </a:lnTo>
                  <a:lnTo>
                    <a:pt x="3203160" y="5461000"/>
                  </a:lnTo>
                  <a:lnTo>
                    <a:pt x="3254235" y="5448300"/>
                  </a:lnTo>
                  <a:lnTo>
                    <a:pt x="3228934" y="5435600"/>
                  </a:lnTo>
                  <a:lnTo>
                    <a:pt x="2739443" y="5435600"/>
                  </a:lnTo>
                  <a:lnTo>
                    <a:pt x="2710827" y="5422900"/>
                  </a:lnTo>
                  <a:lnTo>
                    <a:pt x="2652168" y="5397500"/>
                  </a:lnTo>
                  <a:lnTo>
                    <a:pt x="2022921" y="5397500"/>
                  </a:lnTo>
                  <a:lnTo>
                    <a:pt x="1972919" y="5384800"/>
                  </a:lnTo>
                  <a:lnTo>
                    <a:pt x="1966777" y="5372100"/>
                  </a:lnTo>
                  <a:lnTo>
                    <a:pt x="1968638" y="5359400"/>
                  </a:lnTo>
                  <a:lnTo>
                    <a:pt x="1976268" y="5346700"/>
                  </a:lnTo>
                  <a:lnTo>
                    <a:pt x="1987435" y="5346700"/>
                  </a:lnTo>
                  <a:lnTo>
                    <a:pt x="2049385" y="5321300"/>
                  </a:lnTo>
                  <a:lnTo>
                    <a:pt x="2103868" y="5308600"/>
                  </a:lnTo>
                  <a:lnTo>
                    <a:pt x="2152391" y="5295900"/>
                  </a:lnTo>
                  <a:lnTo>
                    <a:pt x="2196463" y="5270500"/>
                  </a:lnTo>
                  <a:lnTo>
                    <a:pt x="2237591" y="5257800"/>
                  </a:lnTo>
                  <a:lnTo>
                    <a:pt x="2277284" y="5245100"/>
                  </a:lnTo>
                  <a:lnTo>
                    <a:pt x="2317050" y="5219700"/>
                  </a:lnTo>
                  <a:lnTo>
                    <a:pt x="2358396" y="5207000"/>
                  </a:lnTo>
                  <a:lnTo>
                    <a:pt x="2402830" y="5194300"/>
                  </a:lnTo>
                  <a:lnTo>
                    <a:pt x="2451861" y="5181600"/>
                  </a:lnTo>
                  <a:lnTo>
                    <a:pt x="2506996" y="5168900"/>
                  </a:lnTo>
                  <a:lnTo>
                    <a:pt x="2569743" y="5156200"/>
                  </a:lnTo>
                  <a:lnTo>
                    <a:pt x="2566629" y="5130800"/>
                  </a:lnTo>
                  <a:lnTo>
                    <a:pt x="2543978" y="5105400"/>
                  </a:lnTo>
                  <a:lnTo>
                    <a:pt x="2526227" y="5092700"/>
                  </a:lnTo>
                  <a:lnTo>
                    <a:pt x="2537815" y="5054600"/>
                  </a:lnTo>
                  <a:lnTo>
                    <a:pt x="2580689" y="5041900"/>
                  </a:lnTo>
                  <a:lnTo>
                    <a:pt x="2759916" y="5041900"/>
                  </a:lnTo>
                  <a:lnTo>
                    <a:pt x="2802547" y="5016500"/>
                  </a:lnTo>
                  <a:lnTo>
                    <a:pt x="2783321" y="5003800"/>
                  </a:lnTo>
                  <a:lnTo>
                    <a:pt x="2755382" y="5003800"/>
                  </a:lnTo>
                  <a:lnTo>
                    <a:pt x="2730705" y="4991100"/>
                  </a:lnTo>
                  <a:lnTo>
                    <a:pt x="2721267" y="4978400"/>
                  </a:lnTo>
                  <a:lnTo>
                    <a:pt x="2731432" y="4953000"/>
                  </a:lnTo>
                  <a:lnTo>
                    <a:pt x="2752915" y="4940300"/>
                  </a:lnTo>
                  <a:lnTo>
                    <a:pt x="2964510" y="4940300"/>
                  </a:lnTo>
                  <a:lnTo>
                    <a:pt x="3065379" y="4914900"/>
                  </a:lnTo>
                  <a:lnTo>
                    <a:pt x="3115500" y="4889500"/>
                  </a:lnTo>
                  <a:lnTo>
                    <a:pt x="3216598" y="4864100"/>
                  </a:lnTo>
                  <a:lnTo>
                    <a:pt x="3268167" y="4864100"/>
                  </a:lnTo>
                  <a:lnTo>
                    <a:pt x="3245461" y="4851400"/>
                  </a:lnTo>
                  <a:lnTo>
                    <a:pt x="3216160" y="4851400"/>
                  </a:lnTo>
                  <a:lnTo>
                    <a:pt x="3180812" y="4838700"/>
                  </a:lnTo>
                  <a:lnTo>
                    <a:pt x="3094159" y="4838700"/>
                  </a:lnTo>
                  <a:lnTo>
                    <a:pt x="3043949" y="4826000"/>
                  </a:lnTo>
                  <a:lnTo>
                    <a:pt x="1904796" y="4826000"/>
                  </a:lnTo>
                  <a:lnTo>
                    <a:pt x="1793572" y="4800600"/>
                  </a:lnTo>
                  <a:lnTo>
                    <a:pt x="1738461" y="4800600"/>
                  </a:lnTo>
                  <a:lnTo>
                    <a:pt x="1686514" y="4787900"/>
                  </a:lnTo>
                  <a:lnTo>
                    <a:pt x="1639853" y="4775200"/>
                  </a:lnTo>
                  <a:lnTo>
                    <a:pt x="1600600" y="4762500"/>
                  </a:lnTo>
                  <a:lnTo>
                    <a:pt x="1570880" y="4762500"/>
                  </a:lnTo>
                  <a:lnTo>
                    <a:pt x="1552813" y="4749800"/>
                  </a:lnTo>
                  <a:lnTo>
                    <a:pt x="1548522" y="4737100"/>
                  </a:lnTo>
                  <a:lnTo>
                    <a:pt x="1560131" y="4737100"/>
                  </a:lnTo>
                  <a:lnTo>
                    <a:pt x="1588122" y="4724400"/>
                  </a:lnTo>
                  <a:lnTo>
                    <a:pt x="1624881" y="4711700"/>
                  </a:lnTo>
                  <a:lnTo>
                    <a:pt x="1668464" y="4686300"/>
                  </a:lnTo>
                  <a:lnTo>
                    <a:pt x="1716931" y="4648200"/>
                  </a:lnTo>
                  <a:lnTo>
                    <a:pt x="1768339" y="4622800"/>
                  </a:lnTo>
                  <a:lnTo>
                    <a:pt x="1820747" y="4584700"/>
                  </a:lnTo>
                  <a:lnTo>
                    <a:pt x="1872213" y="4559300"/>
                  </a:lnTo>
                  <a:lnTo>
                    <a:pt x="1920794" y="4521200"/>
                  </a:lnTo>
                  <a:lnTo>
                    <a:pt x="1964550" y="4495800"/>
                  </a:lnTo>
                  <a:lnTo>
                    <a:pt x="2001537" y="4483100"/>
                  </a:lnTo>
                  <a:lnTo>
                    <a:pt x="2029815" y="4470400"/>
                  </a:lnTo>
                  <a:lnTo>
                    <a:pt x="2073706" y="4470400"/>
                  </a:lnTo>
                  <a:lnTo>
                    <a:pt x="2109631" y="4457700"/>
                  </a:lnTo>
                  <a:lnTo>
                    <a:pt x="2142878" y="4445000"/>
                  </a:lnTo>
                  <a:lnTo>
                    <a:pt x="2178739" y="4432300"/>
                  </a:lnTo>
                  <a:lnTo>
                    <a:pt x="2222503" y="4394200"/>
                  </a:lnTo>
                  <a:lnTo>
                    <a:pt x="1868424" y="4394200"/>
                  </a:lnTo>
                  <a:lnTo>
                    <a:pt x="1865579" y="4381500"/>
                  </a:lnTo>
                  <a:lnTo>
                    <a:pt x="1886869" y="4356100"/>
                  </a:lnTo>
                  <a:lnTo>
                    <a:pt x="1925940" y="4343400"/>
                  </a:lnTo>
                  <a:lnTo>
                    <a:pt x="1976436" y="4305300"/>
                  </a:lnTo>
                  <a:lnTo>
                    <a:pt x="2032001" y="4279900"/>
                  </a:lnTo>
                  <a:lnTo>
                    <a:pt x="2086281" y="4254500"/>
                  </a:lnTo>
                  <a:lnTo>
                    <a:pt x="2132921" y="4229100"/>
                  </a:lnTo>
                  <a:lnTo>
                    <a:pt x="2165565" y="4203700"/>
                  </a:lnTo>
                  <a:lnTo>
                    <a:pt x="2177859" y="4191000"/>
                  </a:lnTo>
                  <a:lnTo>
                    <a:pt x="2172298" y="4178300"/>
                  </a:lnTo>
                  <a:lnTo>
                    <a:pt x="2157756" y="4165600"/>
                  </a:lnTo>
                  <a:lnTo>
                    <a:pt x="2114575" y="4165600"/>
                  </a:lnTo>
                  <a:lnTo>
                    <a:pt x="2077167" y="4152900"/>
                  </a:lnTo>
                  <a:lnTo>
                    <a:pt x="2056523" y="4152900"/>
                  </a:lnTo>
                  <a:lnTo>
                    <a:pt x="2035879" y="4140200"/>
                  </a:lnTo>
                  <a:lnTo>
                    <a:pt x="1998472" y="4140200"/>
                  </a:lnTo>
                  <a:lnTo>
                    <a:pt x="2051469" y="4114800"/>
                  </a:lnTo>
                  <a:lnTo>
                    <a:pt x="2101346" y="4102100"/>
                  </a:lnTo>
                  <a:lnTo>
                    <a:pt x="2148784" y="4089400"/>
                  </a:lnTo>
                  <a:lnTo>
                    <a:pt x="2194463" y="4089400"/>
                  </a:lnTo>
                  <a:lnTo>
                    <a:pt x="2239064" y="4076700"/>
                  </a:lnTo>
                  <a:lnTo>
                    <a:pt x="2283267" y="4076700"/>
                  </a:lnTo>
                  <a:lnTo>
                    <a:pt x="2373201" y="4051300"/>
                  </a:lnTo>
                  <a:lnTo>
                    <a:pt x="2420293" y="4051300"/>
                  </a:lnTo>
                  <a:lnTo>
                    <a:pt x="2469709" y="4038600"/>
                  </a:lnTo>
                  <a:lnTo>
                    <a:pt x="2522131" y="4013200"/>
                  </a:lnTo>
                  <a:lnTo>
                    <a:pt x="2538328" y="4000500"/>
                  </a:lnTo>
                  <a:lnTo>
                    <a:pt x="2536684" y="3987800"/>
                  </a:lnTo>
                  <a:lnTo>
                    <a:pt x="2521179" y="3975100"/>
                  </a:lnTo>
                  <a:lnTo>
                    <a:pt x="2495794" y="3962400"/>
                  </a:lnTo>
                  <a:lnTo>
                    <a:pt x="2464509" y="3937000"/>
                  </a:lnTo>
                  <a:lnTo>
                    <a:pt x="2431307" y="3924300"/>
                  </a:lnTo>
                  <a:lnTo>
                    <a:pt x="2400166" y="3898900"/>
                  </a:lnTo>
                  <a:lnTo>
                    <a:pt x="2375068" y="3886200"/>
                  </a:lnTo>
                  <a:lnTo>
                    <a:pt x="2359994" y="3873500"/>
                  </a:lnTo>
                  <a:lnTo>
                    <a:pt x="2358924" y="3860800"/>
                  </a:lnTo>
                  <a:lnTo>
                    <a:pt x="2375839" y="3848100"/>
                  </a:lnTo>
                  <a:lnTo>
                    <a:pt x="2405953" y="3835400"/>
                  </a:lnTo>
                  <a:lnTo>
                    <a:pt x="1369707" y="3835400"/>
                  </a:lnTo>
                  <a:lnTo>
                    <a:pt x="1374325" y="3822700"/>
                  </a:lnTo>
                  <a:lnTo>
                    <a:pt x="1412308" y="3784600"/>
                  </a:lnTo>
                  <a:lnTo>
                    <a:pt x="1464985" y="3746500"/>
                  </a:lnTo>
                  <a:lnTo>
                    <a:pt x="1513687" y="3733800"/>
                  </a:lnTo>
                  <a:lnTo>
                    <a:pt x="1559488" y="3721100"/>
                  </a:lnTo>
                  <a:lnTo>
                    <a:pt x="1606216" y="3721100"/>
                  </a:lnTo>
                  <a:lnTo>
                    <a:pt x="1649786" y="3708400"/>
                  </a:lnTo>
                  <a:lnTo>
                    <a:pt x="1686115" y="3670300"/>
                  </a:lnTo>
                  <a:lnTo>
                    <a:pt x="1545712" y="3670300"/>
                  </a:lnTo>
                  <a:lnTo>
                    <a:pt x="1453311" y="3644900"/>
                  </a:lnTo>
                  <a:lnTo>
                    <a:pt x="1695775" y="3581400"/>
                  </a:lnTo>
                  <a:lnTo>
                    <a:pt x="1742745" y="3581400"/>
                  </a:lnTo>
                  <a:lnTo>
                    <a:pt x="1788906" y="3568700"/>
                  </a:lnTo>
                  <a:lnTo>
                    <a:pt x="1834131" y="3568700"/>
                  </a:lnTo>
                  <a:lnTo>
                    <a:pt x="1921256" y="3543300"/>
                  </a:lnTo>
                  <a:lnTo>
                    <a:pt x="1913595" y="3505200"/>
                  </a:lnTo>
                  <a:lnTo>
                    <a:pt x="1881771" y="3492500"/>
                  </a:lnTo>
                  <a:lnTo>
                    <a:pt x="1841242" y="3479800"/>
                  </a:lnTo>
                  <a:lnTo>
                    <a:pt x="1807464" y="3467100"/>
                  </a:lnTo>
                  <a:lnTo>
                    <a:pt x="1890019" y="3454400"/>
                  </a:lnTo>
                  <a:lnTo>
                    <a:pt x="1965563" y="3454400"/>
                  </a:lnTo>
                  <a:lnTo>
                    <a:pt x="2034341" y="3441700"/>
                  </a:lnTo>
                  <a:lnTo>
                    <a:pt x="2096599" y="3429000"/>
                  </a:lnTo>
                  <a:lnTo>
                    <a:pt x="2152581" y="3429000"/>
                  </a:lnTo>
                  <a:lnTo>
                    <a:pt x="2202534" y="3416300"/>
                  </a:lnTo>
                  <a:lnTo>
                    <a:pt x="2246703" y="3403600"/>
                  </a:lnTo>
                  <a:lnTo>
                    <a:pt x="2285333" y="3403600"/>
                  </a:lnTo>
                  <a:lnTo>
                    <a:pt x="2318669" y="3390900"/>
                  </a:lnTo>
                  <a:lnTo>
                    <a:pt x="2346958" y="3378200"/>
                  </a:lnTo>
                  <a:lnTo>
                    <a:pt x="2370444" y="3365500"/>
                  </a:lnTo>
                  <a:lnTo>
                    <a:pt x="2389373" y="3352800"/>
                  </a:lnTo>
                  <a:lnTo>
                    <a:pt x="2403991" y="3352800"/>
                  </a:lnTo>
                  <a:lnTo>
                    <a:pt x="2414542" y="3340100"/>
                  </a:lnTo>
                  <a:lnTo>
                    <a:pt x="2421273" y="3327400"/>
                  </a:lnTo>
                  <a:lnTo>
                    <a:pt x="2424428" y="3314700"/>
                  </a:lnTo>
                  <a:lnTo>
                    <a:pt x="2424254" y="3302000"/>
                  </a:lnTo>
                  <a:lnTo>
                    <a:pt x="2406206" y="3263900"/>
                  </a:lnTo>
                  <a:lnTo>
                    <a:pt x="2367027" y="3225800"/>
                  </a:lnTo>
                  <a:lnTo>
                    <a:pt x="2332439" y="3200400"/>
                  </a:lnTo>
                  <a:lnTo>
                    <a:pt x="2293368" y="3175000"/>
                  </a:lnTo>
                  <a:lnTo>
                    <a:pt x="2272765" y="3162300"/>
                  </a:lnTo>
                  <a:lnTo>
                    <a:pt x="2251778" y="3162300"/>
                  </a:lnTo>
                  <a:lnTo>
                    <a:pt x="2209631" y="3136900"/>
                  </a:lnTo>
                  <a:lnTo>
                    <a:pt x="2188962" y="3124200"/>
                  </a:lnTo>
                  <a:lnTo>
                    <a:pt x="2168891" y="3111500"/>
                  </a:lnTo>
                  <a:lnTo>
                    <a:pt x="2149662" y="3098800"/>
                  </a:lnTo>
                  <a:lnTo>
                    <a:pt x="2131522" y="3086100"/>
                  </a:lnTo>
                  <a:lnTo>
                    <a:pt x="2114715" y="3086100"/>
                  </a:lnTo>
                  <a:lnTo>
                    <a:pt x="2099487" y="3073400"/>
                  </a:lnTo>
                  <a:lnTo>
                    <a:pt x="2096351" y="3060700"/>
                  </a:lnTo>
                  <a:lnTo>
                    <a:pt x="2109108" y="3048000"/>
                  </a:lnTo>
                  <a:lnTo>
                    <a:pt x="2135476" y="3035300"/>
                  </a:lnTo>
                  <a:lnTo>
                    <a:pt x="2173174" y="3022600"/>
                  </a:lnTo>
                  <a:lnTo>
                    <a:pt x="2219920" y="2997200"/>
                  </a:lnTo>
                  <a:lnTo>
                    <a:pt x="2273431" y="2984500"/>
                  </a:lnTo>
                  <a:lnTo>
                    <a:pt x="2331426" y="2959100"/>
                  </a:lnTo>
                  <a:lnTo>
                    <a:pt x="2391622" y="2946400"/>
                  </a:lnTo>
                  <a:lnTo>
                    <a:pt x="2451738" y="2921000"/>
                  </a:lnTo>
                  <a:lnTo>
                    <a:pt x="2509491" y="2908300"/>
                  </a:lnTo>
                  <a:lnTo>
                    <a:pt x="2562600" y="2882900"/>
                  </a:lnTo>
                  <a:lnTo>
                    <a:pt x="2608782" y="2870200"/>
                  </a:lnTo>
                  <a:lnTo>
                    <a:pt x="2645756" y="2857500"/>
                  </a:lnTo>
                  <a:lnTo>
                    <a:pt x="2682951" y="2857500"/>
                  </a:lnTo>
                  <a:lnTo>
                    <a:pt x="2720096" y="2844800"/>
                  </a:lnTo>
                  <a:lnTo>
                    <a:pt x="2948334" y="2844800"/>
                  </a:lnTo>
                  <a:lnTo>
                    <a:pt x="2981363" y="2832100"/>
                  </a:lnTo>
                  <a:lnTo>
                    <a:pt x="2990976" y="2819400"/>
                  </a:lnTo>
                  <a:lnTo>
                    <a:pt x="2974657" y="2819400"/>
                  </a:lnTo>
                  <a:lnTo>
                    <a:pt x="2944790" y="2806700"/>
                  </a:lnTo>
                  <a:lnTo>
                    <a:pt x="2913761" y="2794000"/>
                  </a:lnTo>
                  <a:lnTo>
                    <a:pt x="2893955" y="2781300"/>
                  </a:lnTo>
                  <a:lnTo>
                    <a:pt x="2897759" y="2768600"/>
                  </a:lnTo>
                  <a:lnTo>
                    <a:pt x="2961727" y="2730500"/>
                  </a:lnTo>
                  <a:lnTo>
                    <a:pt x="3015532" y="2679700"/>
                  </a:lnTo>
                  <a:lnTo>
                    <a:pt x="3059731" y="2641600"/>
                  </a:lnTo>
                  <a:lnTo>
                    <a:pt x="3094875" y="2590800"/>
                  </a:lnTo>
                  <a:lnTo>
                    <a:pt x="3121521" y="2552700"/>
                  </a:lnTo>
                  <a:lnTo>
                    <a:pt x="3140222" y="2514600"/>
                  </a:lnTo>
                  <a:lnTo>
                    <a:pt x="3151533" y="2476500"/>
                  </a:lnTo>
                  <a:lnTo>
                    <a:pt x="3156009" y="2438400"/>
                  </a:lnTo>
                  <a:lnTo>
                    <a:pt x="3154203" y="2413000"/>
                  </a:lnTo>
                  <a:lnTo>
                    <a:pt x="1588699" y="2413000"/>
                  </a:lnTo>
                  <a:lnTo>
                    <a:pt x="1560715" y="2387600"/>
                  </a:lnTo>
                  <a:lnTo>
                    <a:pt x="1604338" y="2362200"/>
                  </a:lnTo>
                  <a:lnTo>
                    <a:pt x="1695349" y="2336800"/>
                  </a:lnTo>
                  <a:lnTo>
                    <a:pt x="1742471" y="2311400"/>
                  </a:lnTo>
                  <a:lnTo>
                    <a:pt x="1790490" y="2298700"/>
                  </a:lnTo>
                  <a:lnTo>
                    <a:pt x="1839274" y="2298700"/>
                  </a:lnTo>
                  <a:lnTo>
                    <a:pt x="1938599" y="2273300"/>
                  </a:lnTo>
                  <a:lnTo>
                    <a:pt x="1988872" y="2273300"/>
                  </a:lnTo>
                  <a:lnTo>
                    <a:pt x="2039374" y="2260600"/>
                  </a:lnTo>
                  <a:lnTo>
                    <a:pt x="2089969" y="2260600"/>
                  </a:lnTo>
                  <a:lnTo>
                    <a:pt x="2190907" y="2235200"/>
                  </a:lnTo>
                  <a:lnTo>
                    <a:pt x="2240982" y="2235200"/>
                  </a:lnTo>
                  <a:lnTo>
                    <a:pt x="2388019" y="2197100"/>
                  </a:lnTo>
                  <a:lnTo>
                    <a:pt x="2296006" y="2146300"/>
                  </a:lnTo>
                  <a:lnTo>
                    <a:pt x="2249628" y="2133600"/>
                  </a:lnTo>
                  <a:lnTo>
                    <a:pt x="1996342" y="2133600"/>
                  </a:lnTo>
                  <a:lnTo>
                    <a:pt x="1985695" y="2120900"/>
                  </a:lnTo>
                  <a:lnTo>
                    <a:pt x="1988488" y="2095500"/>
                  </a:lnTo>
                  <a:lnTo>
                    <a:pt x="2005433" y="2082800"/>
                  </a:lnTo>
                  <a:lnTo>
                    <a:pt x="1754047" y="2082800"/>
                  </a:lnTo>
                  <a:lnTo>
                    <a:pt x="1768614" y="2057400"/>
                  </a:lnTo>
                  <a:lnTo>
                    <a:pt x="1785688" y="2044700"/>
                  </a:lnTo>
                  <a:lnTo>
                    <a:pt x="1795358" y="2019300"/>
                  </a:lnTo>
                  <a:lnTo>
                    <a:pt x="1787715" y="1993900"/>
                  </a:lnTo>
                  <a:lnTo>
                    <a:pt x="1767960" y="1981200"/>
                  </a:lnTo>
                  <a:lnTo>
                    <a:pt x="1745919" y="1968500"/>
                  </a:lnTo>
                  <a:lnTo>
                    <a:pt x="1733022" y="1943100"/>
                  </a:lnTo>
                  <a:lnTo>
                    <a:pt x="1740700" y="1917700"/>
                  </a:lnTo>
                  <a:lnTo>
                    <a:pt x="1784107" y="1905000"/>
                  </a:lnTo>
                  <a:lnTo>
                    <a:pt x="1926175" y="1866900"/>
                  </a:lnTo>
                  <a:lnTo>
                    <a:pt x="1970007" y="1854200"/>
                  </a:lnTo>
                  <a:lnTo>
                    <a:pt x="2008339" y="1816100"/>
                  </a:lnTo>
                  <a:lnTo>
                    <a:pt x="2043138" y="1790700"/>
                  </a:lnTo>
                  <a:lnTo>
                    <a:pt x="2081263" y="1765300"/>
                  </a:lnTo>
                  <a:lnTo>
                    <a:pt x="2121997" y="1739900"/>
                  </a:lnTo>
                  <a:lnTo>
                    <a:pt x="2164623" y="1727200"/>
                  </a:lnTo>
                  <a:lnTo>
                    <a:pt x="2208425" y="1701800"/>
                  </a:lnTo>
                  <a:lnTo>
                    <a:pt x="2252686" y="1689100"/>
                  </a:lnTo>
                  <a:lnTo>
                    <a:pt x="2296690" y="1663700"/>
                  </a:lnTo>
                  <a:lnTo>
                    <a:pt x="2339720" y="1651000"/>
                  </a:lnTo>
                  <a:lnTo>
                    <a:pt x="2381059" y="1625600"/>
                  </a:lnTo>
                  <a:lnTo>
                    <a:pt x="2405720" y="1612900"/>
                  </a:lnTo>
                  <a:lnTo>
                    <a:pt x="2446417" y="1600200"/>
                  </a:lnTo>
                  <a:lnTo>
                    <a:pt x="2498287" y="1587500"/>
                  </a:lnTo>
                  <a:lnTo>
                    <a:pt x="2556463" y="1562100"/>
                  </a:lnTo>
                  <a:lnTo>
                    <a:pt x="2616083" y="1549400"/>
                  </a:lnTo>
                  <a:lnTo>
                    <a:pt x="2672279" y="1524000"/>
                  </a:lnTo>
                  <a:lnTo>
                    <a:pt x="2720189" y="1511300"/>
                  </a:lnTo>
                  <a:lnTo>
                    <a:pt x="2754947" y="1498600"/>
                  </a:lnTo>
                  <a:lnTo>
                    <a:pt x="2976975" y="1435100"/>
                  </a:lnTo>
                  <a:lnTo>
                    <a:pt x="3020802" y="1409700"/>
                  </a:lnTo>
                  <a:lnTo>
                    <a:pt x="2776423" y="1409700"/>
                  </a:lnTo>
                  <a:lnTo>
                    <a:pt x="2830292" y="1384300"/>
                  </a:lnTo>
                  <a:lnTo>
                    <a:pt x="2985280" y="1346200"/>
                  </a:lnTo>
                  <a:lnTo>
                    <a:pt x="3034341" y="1333500"/>
                  </a:lnTo>
                  <a:lnTo>
                    <a:pt x="3081904" y="1308100"/>
                  </a:lnTo>
                  <a:lnTo>
                    <a:pt x="3127850" y="1295400"/>
                  </a:lnTo>
                  <a:lnTo>
                    <a:pt x="3172062" y="1282700"/>
                  </a:lnTo>
                  <a:lnTo>
                    <a:pt x="3214420" y="1257300"/>
                  </a:lnTo>
                  <a:lnTo>
                    <a:pt x="3254806" y="1231900"/>
                  </a:lnTo>
                  <a:lnTo>
                    <a:pt x="3269581" y="1231900"/>
                  </a:lnTo>
                  <a:lnTo>
                    <a:pt x="3288053" y="1219200"/>
                  </a:lnTo>
                  <a:lnTo>
                    <a:pt x="3378722" y="1219200"/>
                  </a:lnTo>
                  <a:lnTo>
                    <a:pt x="3430078" y="1206500"/>
                  </a:lnTo>
                  <a:lnTo>
                    <a:pt x="3532820" y="1193800"/>
                  </a:lnTo>
                  <a:lnTo>
                    <a:pt x="3584186" y="1181100"/>
                  </a:lnTo>
                  <a:lnTo>
                    <a:pt x="3635537" y="1181100"/>
                  </a:lnTo>
                  <a:lnTo>
                    <a:pt x="3686863" y="1168400"/>
                  </a:lnTo>
                  <a:lnTo>
                    <a:pt x="3738156" y="1168400"/>
                  </a:lnTo>
                  <a:lnTo>
                    <a:pt x="3840601" y="1143000"/>
                  </a:lnTo>
                  <a:lnTo>
                    <a:pt x="3891736" y="1143000"/>
                  </a:lnTo>
                  <a:lnTo>
                    <a:pt x="4095470" y="1092200"/>
                  </a:lnTo>
                  <a:lnTo>
                    <a:pt x="4144413" y="1092200"/>
                  </a:lnTo>
                  <a:lnTo>
                    <a:pt x="4195259" y="1079500"/>
                  </a:lnTo>
                  <a:lnTo>
                    <a:pt x="4233368" y="1066800"/>
                  </a:lnTo>
                  <a:lnTo>
                    <a:pt x="3554477" y="1066800"/>
                  </a:lnTo>
                  <a:lnTo>
                    <a:pt x="3502139" y="1054100"/>
                  </a:lnTo>
                  <a:lnTo>
                    <a:pt x="3550663" y="1054100"/>
                  </a:lnTo>
                  <a:lnTo>
                    <a:pt x="3599146" y="1041400"/>
                  </a:lnTo>
                  <a:lnTo>
                    <a:pt x="3792945" y="1003300"/>
                  </a:lnTo>
                  <a:lnTo>
                    <a:pt x="3841452" y="990600"/>
                  </a:lnTo>
                  <a:lnTo>
                    <a:pt x="3841079" y="990600"/>
                  </a:lnTo>
                  <a:lnTo>
                    <a:pt x="3793336" y="977900"/>
                  </a:lnTo>
                  <a:lnTo>
                    <a:pt x="3746450" y="977900"/>
                  </a:lnTo>
                  <a:lnTo>
                    <a:pt x="3700136" y="965200"/>
                  </a:lnTo>
                  <a:lnTo>
                    <a:pt x="3432760" y="965200"/>
                  </a:lnTo>
                  <a:lnTo>
                    <a:pt x="3401699" y="952500"/>
                  </a:lnTo>
                  <a:lnTo>
                    <a:pt x="3378476" y="927100"/>
                  </a:lnTo>
                  <a:lnTo>
                    <a:pt x="3367443" y="901700"/>
                  </a:lnTo>
                  <a:lnTo>
                    <a:pt x="3371745" y="876300"/>
                  </a:lnTo>
                  <a:lnTo>
                    <a:pt x="3388780" y="863600"/>
                  </a:lnTo>
                  <a:lnTo>
                    <a:pt x="3413000" y="850900"/>
                  </a:lnTo>
                  <a:lnTo>
                    <a:pt x="3438855" y="838200"/>
                  </a:lnTo>
                  <a:lnTo>
                    <a:pt x="3480055" y="825500"/>
                  </a:lnTo>
                  <a:lnTo>
                    <a:pt x="3519982" y="800100"/>
                  </a:lnTo>
                  <a:lnTo>
                    <a:pt x="3560264" y="787400"/>
                  </a:lnTo>
                  <a:lnTo>
                    <a:pt x="3602529" y="774700"/>
                  </a:lnTo>
                  <a:lnTo>
                    <a:pt x="3648405" y="762000"/>
                  </a:lnTo>
                  <a:lnTo>
                    <a:pt x="3718202" y="762000"/>
                  </a:lnTo>
                  <a:lnTo>
                    <a:pt x="3736881" y="749300"/>
                  </a:lnTo>
                  <a:lnTo>
                    <a:pt x="3779302" y="723900"/>
                  </a:lnTo>
                  <a:lnTo>
                    <a:pt x="3919845" y="685800"/>
                  </a:lnTo>
                  <a:lnTo>
                    <a:pt x="3965422" y="685800"/>
                  </a:lnTo>
                  <a:lnTo>
                    <a:pt x="4064966" y="660400"/>
                  </a:lnTo>
                  <a:lnTo>
                    <a:pt x="4114852" y="660400"/>
                  </a:lnTo>
                  <a:lnTo>
                    <a:pt x="4264906" y="622300"/>
                  </a:lnTo>
                  <a:lnTo>
                    <a:pt x="4315040" y="622300"/>
                  </a:lnTo>
                  <a:lnTo>
                    <a:pt x="4365222" y="609600"/>
                  </a:lnTo>
                  <a:lnTo>
                    <a:pt x="4415450" y="609600"/>
                  </a:lnTo>
                  <a:lnTo>
                    <a:pt x="4516018" y="584200"/>
                  </a:lnTo>
                  <a:lnTo>
                    <a:pt x="4566349" y="584200"/>
                  </a:lnTo>
                  <a:lnTo>
                    <a:pt x="4616705" y="571500"/>
                  </a:lnTo>
                  <a:lnTo>
                    <a:pt x="4667081" y="571500"/>
                  </a:lnTo>
                  <a:lnTo>
                    <a:pt x="4717472" y="558800"/>
                  </a:lnTo>
                  <a:lnTo>
                    <a:pt x="4767872" y="558800"/>
                  </a:lnTo>
                  <a:lnTo>
                    <a:pt x="4818278" y="546100"/>
                  </a:lnTo>
                  <a:lnTo>
                    <a:pt x="4869556" y="546100"/>
                  </a:lnTo>
                  <a:lnTo>
                    <a:pt x="4921060" y="533400"/>
                  </a:lnTo>
                  <a:lnTo>
                    <a:pt x="5128149" y="533400"/>
                  </a:lnTo>
                  <a:lnTo>
                    <a:pt x="5179889" y="520700"/>
                  </a:lnTo>
                  <a:lnTo>
                    <a:pt x="5282908" y="520700"/>
                  </a:lnTo>
                  <a:lnTo>
                    <a:pt x="5334068" y="508000"/>
                  </a:lnTo>
                  <a:lnTo>
                    <a:pt x="5384914" y="508000"/>
                  </a:lnTo>
                  <a:lnTo>
                    <a:pt x="5436818" y="495300"/>
                  </a:lnTo>
                  <a:lnTo>
                    <a:pt x="5488692" y="495300"/>
                  </a:lnTo>
                  <a:lnTo>
                    <a:pt x="5540538" y="482600"/>
                  </a:lnTo>
                  <a:lnTo>
                    <a:pt x="5592359" y="482600"/>
                  </a:lnTo>
                  <a:lnTo>
                    <a:pt x="5644155" y="469900"/>
                  </a:lnTo>
                  <a:lnTo>
                    <a:pt x="5695929" y="469900"/>
                  </a:lnTo>
                  <a:lnTo>
                    <a:pt x="5747683" y="457200"/>
                  </a:lnTo>
                  <a:lnTo>
                    <a:pt x="5954532" y="457200"/>
                  </a:lnTo>
                  <a:lnTo>
                    <a:pt x="6006213" y="444500"/>
                  </a:lnTo>
                  <a:lnTo>
                    <a:pt x="12192000" y="444500"/>
                  </a:lnTo>
                  <a:lnTo>
                    <a:pt x="12192000" y="0"/>
                  </a:lnTo>
                  <a:close/>
                </a:path>
                <a:path w="12192000" h="6858000">
                  <a:moveTo>
                    <a:pt x="12192000" y="444500"/>
                  </a:moveTo>
                  <a:lnTo>
                    <a:pt x="7127060" y="444500"/>
                  </a:lnTo>
                  <a:lnTo>
                    <a:pt x="7278080" y="457200"/>
                  </a:lnTo>
                  <a:lnTo>
                    <a:pt x="7529537" y="457200"/>
                  </a:lnTo>
                  <a:lnTo>
                    <a:pt x="7579489" y="469900"/>
                  </a:lnTo>
                  <a:lnTo>
                    <a:pt x="8279975" y="469900"/>
                  </a:lnTo>
                  <a:lnTo>
                    <a:pt x="8630617" y="482600"/>
                  </a:lnTo>
                  <a:lnTo>
                    <a:pt x="9182748" y="482600"/>
                  </a:lnTo>
                  <a:lnTo>
                    <a:pt x="9234113" y="495300"/>
                  </a:lnTo>
                  <a:lnTo>
                    <a:pt x="9438690" y="495300"/>
                  </a:lnTo>
                  <a:lnTo>
                    <a:pt x="9489568" y="508000"/>
                  </a:lnTo>
                  <a:lnTo>
                    <a:pt x="9590939" y="508000"/>
                  </a:lnTo>
                  <a:lnTo>
                    <a:pt x="9641414" y="520700"/>
                  </a:lnTo>
                  <a:lnTo>
                    <a:pt x="9741898" y="520700"/>
                  </a:lnTo>
                  <a:lnTo>
                    <a:pt x="9791889" y="533400"/>
                  </a:lnTo>
                  <a:lnTo>
                    <a:pt x="9841700" y="533400"/>
                  </a:lnTo>
                  <a:lnTo>
                    <a:pt x="9940745" y="558800"/>
                  </a:lnTo>
                  <a:lnTo>
                    <a:pt x="9989962" y="558800"/>
                  </a:lnTo>
                  <a:lnTo>
                    <a:pt x="10136276" y="596900"/>
                  </a:lnTo>
                  <a:lnTo>
                    <a:pt x="10170984" y="596900"/>
                  </a:lnTo>
                  <a:lnTo>
                    <a:pt x="10205797" y="609600"/>
                  </a:lnTo>
                  <a:lnTo>
                    <a:pt x="10238651" y="622300"/>
                  </a:lnTo>
                  <a:lnTo>
                    <a:pt x="10267480" y="635000"/>
                  </a:lnTo>
                  <a:lnTo>
                    <a:pt x="10286631" y="660400"/>
                  </a:lnTo>
                  <a:lnTo>
                    <a:pt x="10286569" y="685800"/>
                  </a:lnTo>
                  <a:lnTo>
                    <a:pt x="10268546" y="698500"/>
                  </a:lnTo>
                  <a:lnTo>
                    <a:pt x="10233812" y="711200"/>
                  </a:lnTo>
                  <a:lnTo>
                    <a:pt x="10178994" y="723900"/>
                  </a:lnTo>
                  <a:lnTo>
                    <a:pt x="10123141" y="723900"/>
                  </a:lnTo>
                  <a:lnTo>
                    <a:pt x="10065873" y="736600"/>
                  </a:lnTo>
                  <a:lnTo>
                    <a:pt x="10006812" y="736600"/>
                  </a:lnTo>
                  <a:lnTo>
                    <a:pt x="10036507" y="762000"/>
                  </a:lnTo>
                  <a:lnTo>
                    <a:pt x="10073282" y="762000"/>
                  </a:lnTo>
                  <a:lnTo>
                    <a:pt x="10107884" y="774700"/>
                  </a:lnTo>
                  <a:lnTo>
                    <a:pt x="10131056" y="800100"/>
                  </a:lnTo>
                  <a:lnTo>
                    <a:pt x="10086773" y="812800"/>
                  </a:lnTo>
                  <a:lnTo>
                    <a:pt x="10040570" y="812800"/>
                  </a:lnTo>
                  <a:lnTo>
                    <a:pt x="9946731" y="825500"/>
                  </a:lnTo>
                  <a:lnTo>
                    <a:pt x="9901256" y="838200"/>
                  </a:lnTo>
                  <a:lnTo>
                    <a:pt x="9858184" y="850900"/>
                  </a:lnTo>
                  <a:lnTo>
                    <a:pt x="9862667" y="863600"/>
                  </a:lnTo>
                  <a:lnTo>
                    <a:pt x="9871394" y="863600"/>
                  </a:lnTo>
                  <a:lnTo>
                    <a:pt x="9882514" y="876300"/>
                  </a:lnTo>
                  <a:lnTo>
                    <a:pt x="9908547" y="876300"/>
                  </a:lnTo>
                  <a:lnTo>
                    <a:pt x="9924222" y="889000"/>
                  </a:lnTo>
                  <a:lnTo>
                    <a:pt x="9934018" y="889000"/>
                  </a:lnTo>
                  <a:lnTo>
                    <a:pt x="9930752" y="914400"/>
                  </a:lnTo>
                  <a:lnTo>
                    <a:pt x="9883895" y="914400"/>
                  </a:lnTo>
                  <a:lnTo>
                    <a:pt x="9837302" y="927100"/>
                  </a:lnTo>
                  <a:lnTo>
                    <a:pt x="9790863" y="927100"/>
                  </a:lnTo>
                  <a:lnTo>
                    <a:pt x="9604456" y="977900"/>
                  </a:lnTo>
                  <a:lnTo>
                    <a:pt x="9557141" y="977900"/>
                  </a:lnTo>
                  <a:lnTo>
                    <a:pt x="9509321" y="990600"/>
                  </a:lnTo>
                  <a:lnTo>
                    <a:pt x="9467197" y="990600"/>
                  </a:lnTo>
                  <a:lnTo>
                    <a:pt x="9574386" y="1016000"/>
                  </a:lnTo>
                  <a:lnTo>
                    <a:pt x="9626408" y="1016000"/>
                  </a:lnTo>
                  <a:lnTo>
                    <a:pt x="9728065" y="1041400"/>
                  </a:lnTo>
                  <a:lnTo>
                    <a:pt x="9778001" y="1066800"/>
                  </a:lnTo>
                  <a:lnTo>
                    <a:pt x="10024808" y="1130300"/>
                  </a:lnTo>
                  <a:lnTo>
                    <a:pt x="10007227" y="1168400"/>
                  </a:lnTo>
                  <a:lnTo>
                    <a:pt x="9974732" y="1181100"/>
                  </a:lnTo>
                  <a:lnTo>
                    <a:pt x="9939408" y="1181100"/>
                  </a:lnTo>
                  <a:lnTo>
                    <a:pt x="9913340" y="1206500"/>
                  </a:lnTo>
                  <a:lnTo>
                    <a:pt x="10020768" y="1231900"/>
                  </a:lnTo>
                  <a:lnTo>
                    <a:pt x="10073015" y="1257300"/>
                  </a:lnTo>
                  <a:lnTo>
                    <a:pt x="10173558" y="1282700"/>
                  </a:lnTo>
                  <a:lnTo>
                    <a:pt x="10221448" y="1308100"/>
                  </a:lnTo>
                  <a:lnTo>
                    <a:pt x="10267480" y="1333500"/>
                  </a:lnTo>
                  <a:lnTo>
                    <a:pt x="10455716" y="1435100"/>
                  </a:lnTo>
                  <a:lnTo>
                    <a:pt x="10504469" y="1460500"/>
                  </a:lnTo>
                  <a:lnTo>
                    <a:pt x="10605161" y="1511300"/>
                  </a:lnTo>
                  <a:lnTo>
                    <a:pt x="10647409" y="1536700"/>
                  </a:lnTo>
                  <a:lnTo>
                    <a:pt x="10680626" y="1562100"/>
                  </a:lnTo>
                  <a:lnTo>
                    <a:pt x="10703830" y="1600200"/>
                  </a:lnTo>
                  <a:lnTo>
                    <a:pt x="10716036" y="1638300"/>
                  </a:lnTo>
                  <a:lnTo>
                    <a:pt x="10716172" y="1714500"/>
                  </a:lnTo>
                  <a:lnTo>
                    <a:pt x="10724681" y="1739900"/>
                  </a:lnTo>
                  <a:lnTo>
                    <a:pt x="10743204" y="1765300"/>
                  </a:lnTo>
                  <a:lnTo>
                    <a:pt x="10773156" y="1778000"/>
                  </a:lnTo>
                  <a:lnTo>
                    <a:pt x="10806695" y="1790700"/>
                  </a:lnTo>
                  <a:lnTo>
                    <a:pt x="10822000" y="1816100"/>
                  </a:lnTo>
                  <a:lnTo>
                    <a:pt x="10825655" y="1841500"/>
                  </a:lnTo>
                  <a:lnTo>
                    <a:pt x="10824248" y="1866900"/>
                  </a:lnTo>
                  <a:lnTo>
                    <a:pt x="10816579" y="1905000"/>
                  </a:lnTo>
                  <a:lnTo>
                    <a:pt x="10799062" y="1930400"/>
                  </a:lnTo>
                  <a:lnTo>
                    <a:pt x="10772075" y="1943100"/>
                  </a:lnTo>
                  <a:lnTo>
                    <a:pt x="10735995" y="1968500"/>
                  </a:lnTo>
                  <a:lnTo>
                    <a:pt x="10691583" y="1981200"/>
                  </a:lnTo>
                  <a:lnTo>
                    <a:pt x="10670686" y="2006600"/>
                  </a:lnTo>
                  <a:lnTo>
                    <a:pt x="10668076" y="2044700"/>
                  </a:lnTo>
                  <a:lnTo>
                    <a:pt x="10678528" y="2082800"/>
                  </a:lnTo>
                  <a:lnTo>
                    <a:pt x="10687922" y="2095500"/>
                  </a:lnTo>
                  <a:lnTo>
                    <a:pt x="10699715" y="2108200"/>
                  </a:lnTo>
                  <a:lnTo>
                    <a:pt x="10714122" y="2133600"/>
                  </a:lnTo>
                  <a:lnTo>
                    <a:pt x="10731360" y="2146300"/>
                  </a:lnTo>
                  <a:lnTo>
                    <a:pt x="10779952" y="2184400"/>
                  </a:lnTo>
                  <a:lnTo>
                    <a:pt x="10796160" y="2209800"/>
                  </a:lnTo>
                  <a:lnTo>
                    <a:pt x="10780257" y="2247900"/>
                  </a:lnTo>
                  <a:lnTo>
                    <a:pt x="10732516" y="2298700"/>
                  </a:lnTo>
                  <a:lnTo>
                    <a:pt x="10715778" y="2311400"/>
                  </a:lnTo>
                  <a:lnTo>
                    <a:pt x="10701816" y="2324100"/>
                  </a:lnTo>
                  <a:lnTo>
                    <a:pt x="10694061" y="2336800"/>
                  </a:lnTo>
                  <a:lnTo>
                    <a:pt x="10695940" y="2362200"/>
                  </a:lnTo>
                  <a:lnTo>
                    <a:pt x="10711603" y="2425700"/>
                  </a:lnTo>
                  <a:lnTo>
                    <a:pt x="10712969" y="2463800"/>
                  </a:lnTo>
                  <a:lnTo>
                    <a:pt x="10695357" y="2476500"/>
                  </a:lnTo>
                  <a:lnTo>
                    <a:pt x="10654085" y="2501900"/>
                  </a:lnTo>
                  <a:lnTo>
                    <a:pt x="10584472" y="2514600"/>
                  </a:lnTo>
                  <a:lnTo>
                    <a:pt x="10558583" y="2527300"/>
                  </a:lnTo>
                  <a:lnTo>
                    <a:pt x="10531933" y="2527300"/>
                  </a:lnTo>
                  <a:lnTo>
                    <a:pt x="10507896" y="2540000"/>
                  </a:lnTo>
                  <a:lnTo>
                    <a:pt x="10489844" y="2552700"/>
                  </a:lnTo>
                  <a:lnTo>
                    <a:pt x="10491874" y="2565400"/>
                  </a:lnTo>
                  <a:lnTo>
                    <a:pt x="10492773" y="2603500"/>
                  </a:lnTo>
                  <a:lnTo>
                    <a:pt x="10492793" y="2641600"/>
                  </a:lnTo>
                  <a:lnTo>
                    <a:pt x="10492183" y="2705100"/>
                  </a:lnTo>
                  <a:lnTo>
                    <a:pt x="10491194" y="2768600"/>
                  </a:lnTo>
                  <a:lnTo>
                    <a:pt x="10490077" y="2832100"/>
                  </a:lnTo>
                  <a:lnTo>
                    <a:pt x="10489082" y="2908300"/>
                  </a:lnTo>
                  <a:lnTo>
                    <a:pt x="10488585" y="2959100"/>
                  </a:lnTo>
                  <a:lnTo>
                    <a:pt x="10488462" y="3035300"/>
                  </a:lnTo>
                  <a:lnTo>
                    <a:pt x="10489337" y="3086100"/>
                  </a:lnTo>
                  <a:lnTo>
                    <a:pt x="10491337" y="3136900"/>
                  </a:lnTo>
                  <a:lnTo>
                    <a:pt x="10499712" y="3175000"/>
                  </a:lnTo>
                  <a:lnTo>
                    <a:pt x="10554376" y="3200400"/>
                  </a:lnTo>
                  <a:lnTo>
                    <a:pt x="10598521" y="3213100"/>
                  </a:lnTo>
                  <a:lnTo>
                    <a:pt x="10632112" y="3238500"/>
                  </a:lnTo>
                  <a:lnTo>
                    <a:pt x="10655114" y="3276600"/>
                  </a:lnTo>
                  <a:lnTo>
                    <a:pt x="10667492" y="3302000"/>
                  </a:lnTo>
                  <a:lnTo>
                    <a:pt x="10669210" y="3327400"/>
                  </a:lnTo>
                  <a:lnTo>
                    <a:pt x="10660236" y="3365500"/>
                  </a:lnTo>
                  <a:lnTo>
                    <a:pt x="10640532" y="3390900"/>
                  </a:lnTo>
                  <a:lnTo>
                    <a:pt x="10610065" y="3429000"/>
                  </a:lnTo>
                  <a:lnTo>
                    <a:pt x="10568800" y="3467100"/>
                  </a:lnTo>
                  <a:lnTo>
                    <a:pt x="10534913" y="3505200"/>
                  </a:lnTo>
                  <a:lnTo>
                    <a:pt x="10510966" y="3556000"/>
                  </a:lnTo>
                  <a:lnTo>
                    <a:pt x="10495960" y="3594100"/>
                  </a:lnTo>
                  <a:lnTo>
                    <a:pt x="10488895" y="3644900"/>
                  </a:lnTo>
                  <a:lnTo>
                    <a:pt x="10488769" y="3683000"/>
                  </a:lnTo>
                  <a:lnTo>
                    <a:pt x="10494583" y="3733800"/>
                  </a:lnTo>
                  <a:lnTo>
                    <a:pt x="10505338" y="3771900"/>
                  </a:lnTo>
                  <a:lnTo>
                    <a:pt x="10520032" y="3810000"/>
                  </a:lnTo>
                  <a:lnTo>
                    <a:pt x="10572782" y="3835400"/>
                  </a:lnTo>
                  <a:lnTo>
                    <a:pt x="10609911" y="3848100"/>
                  </a:lnTo>
                  <a:lnTo>
                    <a:pt x="10634576" y="3886200"/>
                  </a:lnTo>
                  <a:lnTo>
                    <a:pt x="10649934" y="3911600"/>
                  </a:lnTo>
                  <a:lnTo>
                    <a:pt x="10659141" y="3949700"/>
                  </a:lnTo>
                  <a:lnTo>
                    <a:pt x="10665354" y="3987800"/>
                  </a:lnTo>
                  <a:lnTo>
                    <a:pt x="10671729" y="4025900"/>
                  </a:lnTo>
                  <a:lnTo>
                    <a:pt x="10681423" y="4064000"/>
                  </a:lnTo>
                  <a:lnTo>
                    <a:pt x="10680625" y="4102100"/>
                  </a:lnTo>
                  <a:lnTo>
                    <a:pt x="10655442" y="4127500"/>
                  </a:lnTo>
                  <a:lnTo>
                    <a:pt x="10626559" y="4140200"/>
                  </a:lnTo>
                  <a:lnTo>
                    <a:pt x="10614660" y="4152900"/>
                  </a:lnTo>
                  <a:lnTo>
                    <a:pt x="10662910" y="4178300"/>
                  </a:lnTo>
                  <a:lnTo>
                    <a:pt x="10713720" y="4203700"/>
                  </a:lnTo>
                  <a:lnTo>
                    <a:pt x="10762024" y="4229100"/>
                  </a:lnTo>
                  <a:lnTo>
                    <a:pt x="10802759" y="4267200"/>
                  </a:lnTo>
                  <a:lnTo>
                    <a:pt x="10756552" y="4292600"/>
                  </a:lnTo>
                  <a:lnTo>
                    <a:pt x="10718174" y="4318000"/>
                  </a:lnTo>
                  <a:lnTo>
                    <a:pt x="10685425" y="4356100"/>
                  </a:lnTo>
                  <a:lnTo>
                    <a:pt x="10656103" y="4381500"/>
                  </a:lnTo>
                  <a:lnTo>
                    <a:pt x="10628007" y="4419600"/>
                  </a:lnTo>
                  <a:lnTo>
                    <a:pt x="10593805" y="4457700"/>
                  </a:lnTo>
                  <a:lnTo>
                    <a:pt x="10556627" y="4495800"/>
                  </a:lnTo>
                  <a:lnTo>
                    <a:pt x="10516839" y="4533900"/>
                  </a:lnTo>
                  <a:lnTo>
                    <a:pt x="10474805" y="4559300"/>
                  </a:lnTo>
                  <a:lnTo>
                    <a:pt x="10430892" y="4597400"/>
                  </a:lnTo>
                  <a:lnTo>
                    <a:pt x="10385466" y="4622800"/>
                  </a:lnTo>
                  <a:lnTo>
                    <a:pt x="10338892" y="4660900"/>
                  </a:lnTo>
                  <a:lnTo>
                    <a:pt x="10330116" y="4724400"/>
                  </a:lnTo>
                  <a:lnTo>
                    <a:pt x="10319834" y="4800600"/>
                  </a:lnTo>
                  <a:lnTo>
                    <a:pt x="10308230" y="4864100"/>
                  </a:lnTo>
                  <a:lnTo>
                    <a:pt x="10295489" y="4940300"/>
                  </a:lnTo>
                  <a:lnTo>
                    <a:pt x="10281794" y="5003800"/>
                  </a:lnTo>
                  <a:lnTo>
                    <a:pt x="10267331" y="5067300"/>
                  </a:lnTo>
                  <a:lnTo>
                    <a:pt x="10252282" y="5130800"/>
                  </a:lnTo>
                  <a:lnTo>
                    <a:pt x="10236834" y="5194300"/>
                  </a:lnTo>
                  <a:lnTo>
                    <a:pt x="10205473" y="5321300"/>
                  </a:lnTo>
                  <a:lnTo>
                    <a:pt x="10189930" y="5372100"/>
                  </a:lnTo>
                  <a:lnTo>
                    <a:pt x="10174723" y="5422900"/>
                  </a:lnTo>
                  <a:lnTo>
                    <a:pt x="10160038" y="5473700"/>
                  </a:lnTo>
                  <a:lnTo>
                    <a:pt x="10146059" y="5511800"/>
                  </a:lnTo>
                  <a:lnTo>
                    <a:pt x="10132969" y="5549900"/>
                  </a:lnTo>
                  <a:lnTo>
                    <a:pt x="10120954" y="5588000"/>
                  </a:lnTo>
                  <a:lnTo>
                    <a:pt x="10110197" y="5626100"/>
                  </a:lnTo>
                  <a:lnTo>
                    <a:pt x="10100884" y="5651500"/>
                  </a:lnTo>
                  <a:lnTo>
                    <a:pt x="10093197" y="5664200"/>
                  </a:lnTo>
                  <a:lnTo>
                    <a:pt x="10087323" y="5676900"/>
                  </a:lnTo>
                  <a:lnTo>
                    <a:pt x="10083444" y="5689600"/>
                  </a:lnTo>
                  <a:lnTo>
                    <a:pt x="10059450" y="5689600"/>
                  </a:lnTo>
                  <a:lnTo>
                    <a:pt x="10032096" y="5702300"/>
                  </a:lnTo>
                  <a:lnTo>
                    <a:pt x="10001821" y="5740400"/>
                  </a:lnTo>
                  <a:lnTo>
                    <a:pt x="9969065" y="5765800"/>
                  </a:lnTo>
                  <a:lnTo>
                    <a:pt x="9934267" y="5803900"/>
                  </a:lnTo>
                  <a:lnTo>
                    <a:pt x="9897868" y="5854700"/>
                  </a:lnTo>
                  <a:lnTo>
                    <a:pt x="9860307" y="5892800"/>
                  </a:lnTo>
                  <a:lnTo>
                    <a:pt x="9822023" y="5930900"/>
                  </a:lnTo>
                  <a:lnTo>
                    <a:pt x="9745046" y="5981700"/>
                  </a:lnTo>
                  <a:lnTo>
                    <a:pt x="9707232" y="6007100"/>
                  </a:lnTo>
                  <a:lnTo>
                    <a:pt x="9640288" y="6007100"/>
                  </a:lnTo>
                  <a:lnTo>
                    <a:pt x="9613693" y="6019800"/>
                  </a:lnTo>
                  <a:lnTo>
                    <a:pt x="9549811" y="6019800"/>
                  </a:lnTo>
                  <a:lnTo>
                    <a:pt x="9512849" y="6032500"/>
                  </a:lnTo>
                  <a:lnTo>
                    <a:pt x="9472756" y="6032500"/>
                  </a:lnTo>
                  <a:lnTo>
                    <a:pt x="9429696" y="6045200"/>
                  </a:lnTo>
                  <a:lnTo>
                    <a:pt x="9383830" y="6045200"/>
                  </a:lnTo>
                  <a:lnTo>
                    <a:pt x="9335322" y="6057900"/>
                  </a:lnTo>
                  <a:lnTo>
                    <a:pt x="9284334" y="6057900"/>
                  </a:lnTo>
                  <a:lnTo>
                    <a:pt x="9231029" y="6070600"/>
                  </a:lnTo>
                  <a:lnTo>
                    <a:pt x="9175570" y="6070600"/>
                  </a:lnTo>
                  <a:lnTo>
                    <a:pt x="9058837" y="6096000"/>
                  </a:lnTo>
                  <a:lnTo>
                    <a:pt x="8997890" y="6096000"/>
                  </a:lnTo>
                  <a:lnTo>
                    <a:pt x="8935438" y="6108700"/>
                  </a:lnTo>
                  <a:lnTo>
                    <a:pt x="8871645" y="6108700"/>
                  </a:lnTo>
                  <a:lnTo>
                    <a:pt x="8740686" y="6134100"/>
                  </a:lnTo>
                  <a:lnTo>
                    <a:pt x="8673844" y="6134100"/>
                  </a:lnTo>
                  <a:lnTo>
                    <a:pt x="8538252" y="6159500"/>
                  </a:lnTo>
                  <a:lnTo>
                    <a:pt x="8469826" y="6159500"/>
                  </a:lnTo>
                  <a:lnTo>
                    <a:pt x="8332529" y="6184900"/>
                  </a:lnTo>
                  <a:lnTo>
                    <a:pt x="8263982" y="6184900"/>
                  </a:lnTo>
                  <a:lnTo>
                    <a:pt x="8127907" y="6210300"/>
                  </a:lnTo>
                  <a:lnTo>
                    <a:pt x="8060703" y="6210300"/>
                  </a:lnTo>
                  <a:lnTo>
                    <a:pt x="7994272" y="6223000"/>
                  </a:lnTo>
                  <a:lnTo>
                    <a:pt x="7928777" y="6223000"/>
                  </a:lnTo>
                  <a:lnTo>
                    <a:pt x="7864381" y="6235700"/>
                  </a:lnTo>
                  <a:lnTo>
                    <a:pt x="7801245" y="6235700"/>
                  </a:lnTo>
                  <a:lnTo>
                    <a:pt x="7739532" y="6248400"/>
                  </a:lnTo>
                  <a:lnTo>
                    <a:pt x="7679406" y="6248400"/>
                  </a:lnTo>
                  <a:lnTo>
                    <a:pt x="7621028" y="6261100"/>
                  </a:lnTo>
                  <a:lnTo>
                    <a:pt x="7564562" y="6261100"/>
                  </a:lnTo>
                  <a:lnTo>
                    <a:pt x="7510170" y="6273800"/>
                  </a:lnTo>
                  <a:lnTo>
                    <a:pt x="7408259" y="6273800"/>
                  </a:lnTo>
                  <a:lnTo>
                    <a:pt x="7361065" y="6286500"/>
                  </a:lnTo>
                  <a:lnTo>
                    <a:pt x="7201161" y="6286500"/>
                  </a:lnTo>
                  <a:lnTo>
                    <a:pt x="7169217" y="6299200"/>
                  </a:lnTo>
                  <a:lnTo>
                    <a:pt x="12192000" y="6299200"/>
                  </a:lnTo>
                  <a:lnTo>
                    <a:pt x="12192000" y="444500"/>
                  </a:lnTo>
                  <a:close/>
                </a:path>
                <a:path w="12192000" h="6858000">
                  <a:moveTo>
                    <a:pt x="2966652" y="5384800"/>
                  </a:moveTo>
                  <a:lnTo>
                    <a:pt x="2923165" y="5384800"/>
                  </a:lnTo>
                  <a:lnTo>
                    <a:pt x="2879459" y="5397500"/>
                  </a:lnTo>
                  <a:lnTo>
                    <a:pt x="2833903" y="5422900"/>
                  </a:lnTo>
                  <a:lnTo>
                    <a:pt x="2805609" y="5435600"/>
                  </a:lnTo>
                  <a:lnTo>
                    <a:pt x="3228934" y="5435600"/>
                  </a:lnTo>
                  <a:lnTo>
                    <a:pt x="3203634" y="5422900"/>
                  </a:lnTo>
                  <a:lnTo>
                    <a:pt x="3054068" y="5422900"/>
                  </a:lnTo>
                  <a:lnTo>
                    <a:pt x="3011551" y="5410200"/>
                  </a:lnTo>
                  <a:lnTo>
                    <a:pt x="2966652" y="5384800"/>
                  </a:lnTo>
                  <a:close/>
                </a:path>
                <a:path w="12192000" h="6858000">
                  <a:moveTo>
                    <a:pt x="2533316" y="5359400"/>
                  </a:moveTo>
                  <a:lnTo>
                    <a:pt x="2406138" y="5359400"/>
                  </a:lnTo>
                  <a:lnTo>
                    <a:pt x="2341003" y="5372100"/>
                  </a:lnTo>
                  <a:lnTo>
                    <a:pt x="2287161" y="5372100"/>
                  </a:lnTo>
                  <a:lnTo>
                    <a:pt x="2233298" y="5384800"/>
                  </a:lnTo>
                  <a:lnTo>
                    <a:pt x="2126565" y="5384800"/>
                  </a:lnTo>
                  <a:lnTo>
                    <a:pt x="2074225" y="5397500"/>
                  </a:lnTo>
                  <a:lnTo>
                    <a:pt x="2652168" y="5397500"/>
                  </a:lnTo>
                  <a:lnTo>
                    <a:pt x="2606015" y="5384800"/>
                  </a:lnTo>
                  <a:lnTo>
                    <a:pt x="2567890" y="5372100"/>
                  </a:lnTo>
                  <a:lnTo>
                    <a:pt x="2533316" y="5359400"/>
                  </a:lnTo>
                  <a:close/>
                </a:path>
                <a:path w="12192000" h="6858000">
                  <a:moveTo>
                    <a:pt x="2913169" y="4940300"/>
                  </a:moveTo>
                  <a:lnTo>
                    <a:pt x="2807195" y="4940300"/>
                  </a:lnTo>
                  <a:lnTo>
                    <a:pt x="2860830" y="4953000"/>
                  </a:lnTo>
                  <a:lnTo>
                    <a:pt x="2913169" y="4940300"/>
                  </a:lnTo>
                  <a:close/>
                </a:path>
                <a:path w="12192000" h="6858000">
                  <a:moveTo>
                    <a:pt x="2288524" y="4343400"/>
                  </a:moveTo>
                  <a:lnTo>
                    <a:pt x="2271079" y="4343400"/>
                  </a:lnTo>
                  <a:lnTo>
                    <a:pt x="2242047" y="4356100"/>
                  </a:lnTo>
                  <a:lnTo>
                    <a:pt x="2203726" y="4356100"/>
                  </a:lnTo>
                  <a:lnTo>
                    <a:pt x="2158414" y="4368800"/>
                  </a:lnTo>
                  <a:lnTo>
                    <a:pt x="2108409" y="4381500"/>
                  </a:lnTo>
                  <a:lnTo>
                    <a:pt x="2056009" y="4381500"/>
                  </a:lnTo>
                  <a:lnTo>
                    <a:pt x="2003512" y="4394200"/>
                  </a:lnTo>
                  <a:lnTo>
                    <a:pt x="2222503" y="4394200"/>
                  </a:lnTo>
                  <a:lnTo>
                    <a:pt x="2279459" y="4368800"/>
                  </a:lnTo>
                  <a:lnTo>
                    <a:pt x="2292083" y="4356100"/>
                  </a:lnTo>
                  <a:lnTo>
                    <a:pt x="2288524" y="4343400"/>
                  </a:lnTo>
                  <a:close/>
                </a:path>
                <a:path w="12192000" h="6858000">
                  <a:moveTo>
                    <a:pt x="2421699" y="3784600"/>
                  </a:moveTo>
                  <a:lnTo>
                    <a:pt x="2386193" y="3797300"/>
                  </a:lnTo>
                  <a:lnTo>
                    <a:pt x="2353195" y="3797300"/>
                  </a:lnTo>
                  <a:lnTo>
                    <a:pt x="2293456" y="3822700"/>
                  </a:lnTo>
                  <a:lnTo>
                    <a:pt x="1418153" y="3822700"/>
                  </a:lnTo>
                  <a:lnTo>
                    <a:pt x="1369707" y="3835400"/>
                  </a:lnTo>
                  <a:lnTo>
                    <a:pt x="2437374" y="3835400"/>
                  </a:lnTo>
                  <a:lnTo>
                    <a:pt x="2466619" y="3822700"/>
                  </a:lnTo>
                  <a:lnTo>
                    <a:pt x="2490203" y="3810000"/>
                  </a:lnTo>
                  <a:lnTo>
                    <a:pt x="2457205" y="3797300"/>
                  </a:lnTo>
                  <a:lnTo>
                    <a:pt x="2421699" y="3784600"/>
                  </a:lnTo>
                  <a:close/>
                </a:path>
                <a:path w="12192000" h="6858000">
                  <a:moveTo>
                    <a:pt x="2183724" y="3746500"/>
                  </a:moveTo>
                  <a:lnTo>
                    <a:pt x="2096933" y="3746500"/>
                  </a:lnTo>
                  <a:lnTo>
                    <a:pt x="2051291" y="3759200"/>
                  </a:lnTo>
                  <a:lnTo>
                    <a:pt x="2002731" y="3771900"/>
                  </a:lnTo>
                  <a:lnTo>
                    <a:pt x="1954096" y="3771900"/>
                  </a:lnTo>
                  <a:lnTo>
                    <a:pt x="1905400" y="3784600"/>
                  </a:lnTo>
                  <a:lnTo>
                    <a:pt x="1807881" y="3784600"/>
                  </a:lnTo>
                  <a:lnTo>
                    <a:pt x="1759085" y="3797300"/>
                  </a:lnTo>
                  <a:lnTo>
                    <a:pt x="1612724" y="3797300"/>
                  </a:lnTo>
                  <a:lnTo>
                    <a:pt x="1563991" y="3810000"/>
                  </a:lnTo>
                  <a:lnTo>
                    <a:pt x="1515309" y="3810000"/>
                  </a:lnTo>
                  <a:lnTo>
                    <a:pt x="1466692" y="3822700"/>
                  </a:lnTo>
                  <a:lnTo>
                    <a:pt x="2251711" y="3822700"/>
                  </a:lnTo>
                  <a:lnTo>
                    <a:pt x="2245207" y="3797300"/>
                  </a:lnTo>
                  <a:lnTo>
                    <a:pt x="2219078" y="3771900"/>
                  </a:lnTo>
                  <a:lnTo>
                    <a:pt x="2183724" y="3746500"/>
                  </a:lnTo>
                  <a:close/>
                </a:path>
                <a:path w="12192000" h="6858000">
                  <a:moveTo>
                    <a:pt x="3116643" y="2362200"/>
                  </a:moveTo>
                  <a:lnTo>
                    <a:pt x="2973760" y="2362200"/>
                  </a:lnTo>
                  <a:lnTo>
                    <a:pt x="2882087" y="2387600"/>
                  </a:lnTo>
                  <a:lnTo>
                    <a:pt x="2863181" y="2400300"/>
                  </a:lnTo>
                  <a:lnTo>
                    <a:pt x="1679727" y="2400300"/>
                  </a:lnTo>
                  <a:lnTo>
                    <a:pt x="1650764" y="2413000"/>
                  </a:lnTo>
                  <a:lnTo>
                    <a:pt x="3154203" y="2413000"/>
                  </a:lnTo>
                  <a:lnTo>
                    <a:pt x="3146671" y="2387600"/>
                  </a:lnTo>
                  <a:lnTo>
                    <a:pt x="3133966" y="2374900"/>
                  </a:lnTo>
                  <a:lnTo>
                    <a:pt x="3116643" y="2362200"/>
                  </a:lnTo>
                  <a:close/>
                </a:path>
                <a:path w="12192000" h="6858000">
                  <a:moveTo>
                    <a:pt x="2093754" y="2044700"/>
                  </a:moveTo>
                  <a:lnTo>
                    <a:pt x="1891556" y="2044700"/>
                  </a:lnTo>
                  <a:lnTo>
                    <a:pt x="1754047" y="2082800"/>
                  </a:lnTo>
                  <a:lnTo>
                    <a:pt x="2005433" y="2082800"/>
                  </a:lnTo>
                  <a:lnTo>
                    <a:pt x="2029781" y="2070100"/>
                  </a:lnTo>
                  <a:lnTo>
                    <a:pt x="2054783" y="2057400"/>
                  </a:lnTo>
                  <a:lnTo>
                    <a:pt x="2093754" y="2044700"/>
                  </a:lnTo>
                  <a:close/>
                </a:path>
                <a:path w="12192000" h="6858000">
                  <a:moveTo>
                    <a:pt x="2228951" y="2006600"/>
                  </a:moveTo>
                  <a:lnTo>
                    <a:pt x="2127450" y="2006600"/>
                  </a:lnTo>
                  <a:lnTo>
                    <a:pt x="2030853" y="2032000"/>
                  </a:lnTo>
                  <a:lnTo>
                    <a:pt x="1983879" y="2032000"/>
                  </a:lnTo>
                  <a:lnTo>
                    <a:pt x="1937515" y="2044700"/>
                  </a:lnTo>
                  <a:lnTo>
                    <a:pt x="2137948" y="2044700"/>
                  </a:lnTo>
                  <a:lnTo>
                    <a:pt x="2184101" y="2032000"/>
                  </a:lnTo>
                  <a:lnTo>
                    <a:pt x="2228951" y="2006600"/>
                  </a:lnTo>
                  <a:close/>
                </a:path>
                <a:path w="12192000" h="6858000">
                  <a:moveTo>
                    <a:pt x="3063227" y="1384300"/>
                  </a:moveTo>
                  <a:lnTo>
                    <a:pt x="3016865" y="1384300"/>
                  </a:lnTo>
                  <a:lnTo>
                    <a:pt x="2927011" y="1409700"/>
                  </a:lnTo>
                  <a:lnTo>
                    <a:pt x="3020802" y="1409700"/>
                  </a:lnTo>
                  <a:lnTo>
                    <a:pt x="3063227" y="1384300"/>
                  </a:lnTo>
                  <a:close/>
                </a:path>
                <a:path w="12192000" h="6858000">
                  <a:moveTo>
                    <a:pt x="4226120" y="1003300"/>
                  </a:moveTo>
                  <a:lnTo>
                    <a:pt x="4154935" y="1003300"/>
                  </a:lnTo>
                  <a:lnTo>
                    <a:pt x="4112542" y="1016000"/>
                  </a:lnTo>
                  <a:lnTo>
                    <a:pt x="4072826" y="1028700"/>
                  </a:lnTo>
                  <a:lnTo>
                    <a:pt x="4021208" y="1028700"/>
                  </a:lnTo>
                  <a:lnTo>
                    <a:pt x="3969577" y="1041400"/>
                  </a:lnTo>
                  <a:lnTo>
                    <a:pt x="3917919" y="1041400"/>
                  </a:lnTo>
                  <a:lnTo>
                    <a:pt x="3866222" y="1054100"/>
                  </a:lnTo>
                  <a:lnTo>
                    <a:pt x="3762656" y="1054100"/>
                  </a:lnTo>
                  <a:lnTo>
                    <a:pt x="3710762" y="1066800"/>
                  </a:lnTo>
                  <a:lnTo>
                    <a:pt x="4233368" y="1066800"/>
                  </a:lnTo>
                  <a:lnTo>
                    <a:pt x="4244098" y="1041400"/>
                  </a:lnTo>
                  <a:lnTo>
                    <a:pt x="4226120" y="1003300"/>
                  </a:lnTo>
                  <a:close/>
                </a:path>
                <a:path w="12192000" h="6858000">
                  <a:moveTo>
                    <a:pt x="3889959" y="977900"/>
                  </a:moveTo>
                  <a:lnTo>
                    <a:pt x="3841079" y="990600"/>
                  </a:lnTo>
                  <a:lnTo>
                    <a:pt x="3841452" y="990600"/>
                  </a:lnTo>
                  <a:lnTo>
                    <a:pt x="3889959" y="977900"/>
                  </a:lnTo>
                  <a:close/>
                </a:path>
                <a:path w="12192000" h="6858000">
                  <a:moveTo>
                    <a:pt x="3608102" y="952500"/>
                  </a:moveTo>
                  <a:lnTo>
                    <a:pt x="3514978" y="952500"/>
                  </a:lnTo>
                  <a:lnTo>
                    <a:pt x="3467303" y="965200"/>
                  </a:lnTo>
                  <a:lnTo>
                    <a:pt x="3654115" y="965200"/>
                  </a:lnTo>
                  <a:lnTo>
                    <a:pt x="3608102" y="952500"/>
                  </a:lnTo>
                  <a:close/>
                </a:path>
                <a:path w="12192000" h="6858000">
                  <a:moveTo>
                    <a:pt x="3718202" y="762000"/>
                  </a:moveTo>
                  <a:lnTo>
                    <a:pt x="3648405" y="762000"/>
                  </a:lnTo>
                  <a:lnTo>
                    <a:pt x="3699522" y="774700"/>
                  </a:lnTo>
                  <a:lnTo>
                    <a:pt x="3718202" y="762000"/>
                  </a:lnTo>
                  <a:close/>
                </a:path>
              </a:pathLst>
            </a:custGeom>
            <a:solidFill>
              <a:srgbClr val="E7E6E6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5760" y="2737412"/>
              <a:ext cx="6864350" cy="3432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42973" y="1898764"/>
              <a:ext cx="2348865" cy="1483995"/>
            </a:xfrm>
            <a:custGeom>
              <a:avLst/>
              <a:gdLst/>
              <a:ahLst/>
              <a:cxnLst/>
              <a:rect l="l" t="t" r="r" b="b"/>
              <a:pathLst>
                <a:path w="2348865" h="1483995">
                  <a:moveTo>
                    <a:pt x="1957184" y="986497"/>
                  </a:moveTo>
                  <a:lnTo>
                    <a:pt x="1370025" y="986497"/>
                  </a:lnTo>
                  <a:lnTo>
                    <a:pt x="2055088" y="1483715"/>
                  </a:lnTo>
                  <a:lnTo>
                    <a:pt x="1957184" y="986497"/>
                  </a:lnTo>
                  <a:close/>
                </a:path>
                <a:path w="2348865" h="1483995">
                  <a:moveTo>
                    <a:pt x="2184196" y="0"/>
                  </a:moveTo>
                  <a:lnTo>
                    <a:pt x="164426" y="0"/>
                  </a:lnTo>
                  <a:lnTo>
                    <a:pt x="120717" y="5873"/>
                  </a:lnTo>
                  <a:lnTo>
                    <a:pt x="81439" y="22450"/>
                  </a:lnTo>
                  <a:lnTo>
                    <a:pt x="48161" y="48161"/>
                  </a:lnTo>
                  <a:lnTo>
                    <a:pt x="22450" y="81439"/>
                  </a:lnTo>
                  <a:lnTo>
                    <a:pt x="5873" y="120717"/>
                  </a:lnTo>
                  <a:lnTo>
                    <a:pt x="0" y="164426"/>
                  </a:lnTo>
                  <a:lnTo>
                    <a:pt x="1" y="822083"/>
                  </a:lnTo>
                  <a:lnTo>
                    <a:pt x="5873" y="865784"/>
                  </a:lnTo>
                  <a:lnTo>
                    <a:pt x="22450" y="905063"/>
                  </a:lnTo>
                  <a:lnTo>
                    <a:pt x="48161" y="938341"/>
                  </a:lnTo>
                  <a:lnTo>
                    <a:pt x="81439" y="964050"/>
                  </a:lnTo>
                  <a:lnTo>
                    <a:pt x="120717" y="980624"/>
                  </a:lnTo>
                  <a:lnTo>
                    <a:pt x="164426" y="986497"/>
                  </a:lnTo>
                  <a:lnTo>
                    <a:pt x="2184196" y="986497"/>
                  </a:lnTo>
                  <a:lnTo>
                    <a:pt x="2227905" y="980624"/>
                  </a:lnTo>
                  <a:lnTo>
                    <a:pt x="2267180" y="964050"/>
                  </a:lnTo>
                  <a:lnTo>
                    <a:pt x="2300455" y="938341"/>
                  </a:lnTo>
                  <a:lnTo>
                    <a:pt x="2326163" y="905063"/>
                  </a:lnTo>
                  <a:lnTo>
                    <a:pt x="2342738" y="865784"/>
                  </a:lnTo>
                  <a:lnTo>
                    <a:pt x="2348609" y="822083"/>
                  </a:lnTo>
                  <a:lnTo>
                    <a:pt x="2348610" y="164426"/>
                  </a:lnTo>
                  <a:lnTo>
                    <a:pt x="2342738" y="120717"/>
                  </a:lnTo>
                  <a:lnTo>
                    <a:pt x="2326163" y="81439"/>
                  </a:lnTo>
                  <a:lnTo>
                    <a:pt x="2300455" y="48161"/>
                  </a:lnTo>
                  <a:lnTo>
                    <a:pt x="2267180" y="22450"/>
                  </a:lnTo>
                  <a:lnTo>
                    <a:pt x="2227905" y="5873"/>
                  </a:lnTo>
                  <a:lnTo>
                    <a:pt x="2184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2973" y="1898764"/>
              <a:ext cx="2348865" cy="1483995"/>
            </a:xfrm>
            <a:custGeom>
              <a:avLst/>
              <a:gdLst/>
              <a:ahLst/>
              <a:cxnLst/>
              <a:rect l="l" t="t" r="r" b="b"/>
              <a:pathLst>
                <a:path w="2348865" h="1483995">
                  <a:moveTo>
                    <a:pt x="0" y="164418"/>
                  </a:moveTo>
                  <a:lnTo>
                    <a:pt x="5873" y="120709"/>
                  </a:lnTo>
                  <a:lnTo>
                    <a:pt x="22447" y="81433"/>
                  </a:lnTo>
                  <a:lnTo>
                    <a:pt x="48156" y="48157"/>
                  </a:lnTo>
                  <a:lnTo>
                    <a:pt x="81433" y="22447"/>
                  </a:lnTo>
                  <a:lnTo>
                    <a:pt x="120709" y="5873"/>
                  </a:lnTo>
                  <a:lnTo>
                    <a:pt x="164418" y="0"/>
                  </a:lnTo>
                  <a:lnTo>
                    <a:pt x="1370020" y="0"/>
                  </a:lnTo>
                  <a:lnTo>
                    <a:pt x="1957181" y="0"/>
                  </a:lnTo>
                  <a:lnTo>
                    <a:pt x="2184191" y="0"/>
                  </a:lnTo>
                  <a:lnTo>
                    <a:pt x="2227901" y="5873"/>
                  </a:lnTo>
                  <a:lnTo>
                    <a:pt x="2267178" y="22447"/>
                  </a:lnTo>
                  <a:lnTo>
                    <a:pt x="2300455" y="48157"/>
                  </a:lnTo>
                  <a:lnTo>
                    <a:pt x="2326163" y="81433"/>
                  </a:lnTo>
                  <a:lnTo>
                    <a:pt x="2342738" y="120709"/>
                  </a:lnTo>
                  <a:lnTo>
                    <a:pt x="2348611" y="164418"/>
                  </a:lnTo>
                  <a:lnTo>
                    <a:pt x="2348611" y="575452"/>
                  </a:lnTo>
                  <a:lnTo>
                    <a:pt x="2348611" y="822074"/>
                  </a:lnTo>
                  <a:lnTo>
                    <a:pt x="2342738" y="865781"/>
                  </a:lnTo>
                  <a:lnTo>
                    <a:pt x="2326163" y="905057"/>
                  </a:lnTo>
                  <a:lnTo>
                    <a:pt x="2300455" y="938333"/>
                  </a:lnTo>
                  <a:lnTo>
                    <a:pt x="2267178" y="964042"/>
                  </a:lnTo>
                  <a:lnTo>
                    <a:pt x="2227901" y="980617"/>
                  </a:lnTo>
                  <a:lnTo>
                    <a:pt x="2184191" y="986490"/>
                  </a:lnTo>
                  <a:lnTo>
                    <a:pt x="1957181" y="986490"/>
                  </a:lnTo>
                  <a:lnTo>
                    <a:pt x="2055081" y="1483710"/>
                  </a:lnTo>
                  <a:lnTo>
                    <a:pt x="1370020" y="986490"/>
                  </a:lnTo>
                  <a:lnTo>
                    <a:pt x="164418" y="986490"/>
                  </a:lnTo>
                  <a:lnTo>
                    <a:pt x="120709" y="980617"/>
                  </a:lnTo>
                  <a:lnTo>
                    <a:pt x="81433" y="964042"/>
                  </a:lnTo>
                  <a:lnTo>
                    <a:pt x="48156" y="938333"/>
                  </a:lnTo>
                  <a:lnTo>
                    <a:pt x="22447" y="905057"/>
                  </a:lnTo>
                  <a:lnTo>
                    <a:pt x="5873" y="865781"/>
                  </a:lnTo>
                  <a:lnTo>
                    <a:pt x="0" y="822072"/>
                  </a:lnTo>
                  <a:lnTo>
                    <a:pt x="0" y="575452"/>
                  </a:lnTo>
                  <a:lnTo>
                    <a:pt x="0" y="164418"/>
                  </a:lnTo>
                  <a:close/>
                </a:path>
              </a:pathLst>
            </a:custGeom>
            <a:ln w="127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31720" y="2214025"/>
            <a:ext cx="1565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95" dirty="0">
                <a:latin typeface="Liberation Sans Narrow"/>
                <a:cs typeface="Liberation Sans Narrow"/>
              </a:rPr>
              <a:t>AI</a:t>
            </a:r>
            <a:r>
              <a:rPr sz="2000" spc="85" dirty="0">
                <a:latin typeface="Liberation Sans Narrow"/>
                <a:cs typeface="Liberation Sans Narrow"/>
              </a:rPr>
              <a:t> </a:t>
            </a:r>
            <a:r>
              <a:rPr sz="2000" spc="70" dirty="0">
                <a:solidFill>
                  <a:srgbClr val="970000"/>
                </a:solidFill>
                <a:latin typeface="Liberation Sans Narrow"/>
                <a:cs typeface="Liberation Sans Narrow"/>
              </a:rPr>
              <a:t>Governance</a:t>
            </a:r>
            <a:endParaRPr sz="2000">
              <a:latin typeface="Liberation Sans Narrow"/>
              <a:cs typeface="Liberation Sans Narro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15344" y="1705432"/>
            <a:ext cx="2361565" cy="1617980"/>
            <a:chOff x="4915344" y="1705432"/>
            <a:chExt cx="2361565" cy="1617980"/>
          </a:xfrm>
        </p:grpSpPr>
        <p:sp>
          <p:nvSpPr>
            <p:cNvPr id="9" name="object 9"/>
            <p:cNvSpPr/>
            <p:nvPr/>
          </p:nvSpPr>
          <p:spPr>
            <a:xfrm>
              <a:off x="4921694" y="1711782"/>
              <a:ext cx="2348865" cy="1605280"/>
            </a:xfrm>
            <a:custGeom>
              <a:avLst/>
              <a:gdLst/>
              <a:ahLst/>
              <a:cxnLst/>
              <a:rect l="l" t="t" r="r" b="b"/>
              <a:pathLst>
                <a:path w="2348865" h="1605279">
                  <a:moveTo>
                    <a:pt x="1957171" y="986485"/>
                  </a:moveTo>
                  <a:lnTo>
                    <a:pt x="1370025" y="986485"/>
                  </a:lnTo>
                  <a:lnTo>
                    <a:pt x="1495170" y="1605038"/>
                  </a:lnTo>
                  <a:lnTo>
                    <a:pt x="1957171" y="986485"/>
                  </a:lnTo>
                  <a:close/>
                </a:path>
                <a:path w="2348865" h="1605279">
                  <a:moveTo>
                    <a:pt x="2184196" y="0"/>
                  </a:moveTo>
                  <a:lnTo>
                    <a:pt x="164414" y="0"/>
                  </a:lnTo>
                  <a:lnTo>
                    <a:pt x="120705" y="5872"/>
                  </a:lnTo>
                  <a:lnTo>
                    <a:pt x="81430" y="22447"/>
                  </a:lnTo>
                  <a:lnTo>
                    <a:pt x="48155" y="48155"/>
                  </a:lnTo>
                  <a:lnTo>
                    <a:pt x="22447" y="81430"/>
                  </a:lnTo>
                  <a:lnTo>
                    <a:pt x="5872" y="120705"/>
                  </a:lnTo>
                  <a:lnTo>
                    <a:pt x="0" y="164414"/>
                  </a:lnTo>
                  <a:lnTo>
                    <a:pt x="0" y="822071"/>
                  </a:lnTo>
                  <a:lnTo>
                    <a:pt x="5872" y="865779"/>
                  </a:lnTo>
                  <a:lnTo>
                    <a:pt x="22447" y="905054"/>
                  </a:lnTo>
                  <a:lnTo>
                    <a:pt x="48155" y="938329"/>
                  </a:lnTo>
                  <a:lnTo>
                    <a:pt x="81430" y="964038"/>
                  </a:lnTo>
                  <a:lnTo>
                    <a:pt x="120705" y="980612"/>
                  </a:lnTo>
                  <a:lnTo>
                    <a:pt x="164414" y="986485"/>
                  </a:lnTo>
                  <a:lnTo>
                    <a:pt x="2184196" y="986485"/>
                  </a:lnTo>
                  <a:lnTo>
                    <a:pt x="2227905" y="980612"/>
                  </a:lnTo>
                  <a:lnTo>
                    <a:pt x="2267180" y="964038"/>
                  </a:lnTo>
                  <a:lnTo>
                    <a:pt x="2300455" y="938329"/>
                  </a:lnTo>
                  <a:lnTo>
                    <a:pt x="2326163" y="905054"/>
                  </a:lnTo>
                  <a:lnTo>
                    <a:pt x="2342738" y="865779"/>
                  </a:lnTo>
                  <a:lnTo>
                    <a:pt x="2348611" y="822071"/>
                  </a:lnTo>
                  <a:lnTo>
                    <a:pt x="2348611" y="164414"/>
                  </a:lnTo>
                  <a:lnTo>
                    <a:pt x="2342738" y="120705"/>
                  </a:lnTo>
                  <a:lnTo>
                    <a:pt x="2326163" y="81430"/>
                  </a:lnTo>
                  <a:lnTo>
                    <a:pt x="2300455" y="48155"/>
                  </a:lnTo>
                  <a:lnTo>
                    <a:pt x="2267180" y="22447"/>
                  </a:lnTo>
                  <a:lnTo>
                    <a:pt x="2227905" y="5872"/>
                  </a:lnTo>
                  <a:lnTo>
                    <a:pt x="2184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21694" y="1711782"/>
              <a:ext cx="2348865" cy="1605280"/>
            </a:xfrm>
            <a:custGeom>
              <a:avLst/>
              <a:gdLst/>
              <a:ahLst/>
              <a:cxnLst/>
              <a:rect l="l" t="t" r="r" b="b"/>
              <a:pathLst>
                <a:path w="2348865" h="1605279">
                  <a:moveTo>
                    <a:pt x="0" y="164418"/>
                  </a:moveTo>
                  <a:lnTo>
                    <a:pt x="5873" y="120709"/>
                  </a:lnTo>
                  <a:lnTo>
                    <a:pt x="22447" y="81433"/>
                  </a:lnTo>
                  <a:lnTo>
                    <a:pt x="48156" y="48157"/>
                  </a:lnTo>
                  <a:lnTo>
                    <a:pt x="81433" y="22447"/>
                  </a:lnTo>
                  <a:lnTo>
                    <a:pt x="120709" y="5873"/>
                  </a:lnTo>
                  <a:lnTo>
                    <a:pt x="164418" y="0"/>
                  </a:lnTo>
                  <a:lnTo>
                    <a:pt x="1370020" y="0"/>
                  </a:lnTo>
                  <a:lnTo>
                    <a:pt x="1957181" y="0"/>
                  </a:lnTo>
                  <a:lnTo>
                    <a:pt x="2184191" y="0"/>
                  </a:lnTo>
                  <a:lnTo>
                    <a:pt x="2227901" y="5873"/>
                  </a:lnTo>
                  <a:lnTo>
                    <a:pt x="2267178" y="22447"/>
                  </a:lnTo>
                  <a:lnTo>
                    <a:pt x="2300455" y="48157"/>
                  </a:lnTo>
                  <a:lnTo>
                    <a:pt x="2326163" y="81433"/>
                  </a:lnTo>
                  <a:lnTo>
                    <a:pt x="2342738" y="120709"/>
                  </a:lnTo>
                  <a:lnTo>
                    <a:pt x="2348611" y="164418"/>
                  </a:lnTo>
                  <a:lnTo>
                    <a:pt x="2348611" y="575452"/>
                  </a:lnTo>
                  <a:lnTo>
                    <a:pt x="2348611" y="822074"/>
                  </a:lnTo>
                  <a:lnTo>
                    <a:pt x="2342738" y="865781"/>
                  </a:lnTo>
                  <a:lnTo>
                    <a:pt x="2326163" y="905057"/>
                  </a:lnTo>
                  <a:lnTo>
                    <a:pt x="2300455" y="938333"/>
                  </a:lnTo>
                  <a:lnTo>
                    <a:pt x="2267178" y="964042"/>
                  </a:lnTo>
                  <a:lnTo>
                    <a:pt x="2227901" y="980617"/>
                  </a:lnTo>
                  <a:lnTo>
                    <a:pt x="2184191" y="986490"/>
                  </a:lnTo>
                  <a:lnTo>
                    <a:pt x="1957181" y="986490"/>
                  </a:lnTo>
                  <a:lnTo>
                    <a:pt x="1495170" y="1605040"/>
                  </a:lnTo>
                  <a:lnTo>
                    <a:pt x="1370020" y="986490"/>
                  </a:lnTo>
                  <a:lnTo>
                    <a:pt x="164418" y="986490"/>
                  </a:lnTo>
                  <a:lnTo>
                    <a:pt x="120709" y="980617"/>
                  </a:lnTo>
                  <a:lnTo>
                    <a:pt x="81433" y="964042"/>
                  </a:lnTo>
                  <a:lnTo>
                    <a:pt x="48156" y="938333"/>
                  </a:lnTo>
                  <a:lnTo>
                    <a:pt x="22447" y="905057"/>
                  </a:lnTo>
                  <a:lnTo>
                    <a:pt x="5873" y="865781"/>
                  </a:lnTo>
                  <a:lnTo>
                    <a:pt x="0" y="822072"/>
                  </a:lnTo>
                  <a:lnTo>
                    <a:pt x="0" y="575452"/>
                  </a:lnTo>
                  <a:lnTo>
                    <a:pt x="0" y="164418"/>
                  </a:lnTo>
                  <a:close/>
                </a:path>
              </a:pathLst>
            </a:custGeom>
            <a:ln w="127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10441" y="2027767"/>
            <a:ext cx="15665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95" dirty="0">
                <a:latin typeface="Liberation Sans Narrow"/>
                <a:cs typeface="Liberation Sans Narrow"/>
              </a:rPr>
              <a:t>AI</a:t>
            </a:r>
            <a:r>
              <a:rPr sz="2000" spc="85" dirty="0">
                <a:latin typeface="Liberation Sans Narrow"/>
                <a:cs typeface="Liberation Sans Narrow"/>
              </a:rPr>
              <a:t> </a:t>
            </a:r>
            <a:r>
              <a:rPr sz="2000" spc="70" dirty="0">
                <a:latin typeface="Liberation Sans Narrow"/>
                <a:cs typeface="Liberation Sans Narrow"/>
              </a:rPr>
              <a:t>Governance</a:t>
            </a:r>
            <a:endParaRPr sz="2000">
              <a:latin typeface="Liberation Sans Narrow"/>
              <a:cs typeface="Liberation Sans Narro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06587" y="2131872"/>
            <a:ext cx="1813560" cy="1192530"/>
            <a:chOff x="8206587" y="2131872"/>
            <a:chExt cx="1813560" cy="1192530"/>
          </a:xfrm>
        </p:grpSpPr>
        <p:sp>
          <p:nvSpPr>
            <p:cNvPr id="13" name="object 13"/>
            <p:cNvSpPr/>
            <p:nvPr/>
          </p:nvSpPr>
          <p:spPr>
            <a:xfrm>
              <a:off x="8212937" y="2138222"/>
              <a:ext cx="1800860" cy="1179830"/>
            </a:xfrm>
            <a:custGeom>
              <a:avLst/>
              <a:gdLst/>
              <a:ahLst/>
              <a:cxnLst/>
              <a:rect l="l" t="t" r="r" b="b"/>
              <a:pathLst>
                <a:path w="1800859" h="1179829">
                  <a:moveTo>
                    <a:pt x="750290" y="677989"/>
                  </a:moveTo>
                  <a:lnTo>
                    <a:pt x="300113" y="677989"/>
                  </a:lnTo>
                  <a:lnTo>
                    <a:pt x="612127" y="1179525"/>
                  </a:lnTo>
                  <a:lnTo>
                    <a:pt x="750290" y="677989"/>
                  </a:lnTo>
                  <a:close/>
                </a:path>
                <a:path w="1800859" h="1179829">
                  <a:moveTo>
                    <a:pt x="1687690" y="0"/>
                  </a:moveTo>
                  <a:lnTo>
                    <a:pt x="112991" y="0"/>
                  </a:lnTo>
                  <a:lnTo>
                    <a:pt x="69008" y="8878"/>
                  </a:lnTo>
                  <a:lnTo>
                    <a:pt x="33093" y="33093"/>
                  </a:lnTo>
                  <a:lnTo>
                    <a:pt x="8878" y="69008"/>
                  </a:lnTo>
                  <a:lnTo>
                    <a:pt x="0" y="112991"/>
                  </a:lnTo>
                  <a:lnTo>
                    <a:pt x="0" y="564984"/>
                  </a:lnTo>
                  <a:lnTo>
                    <a:pt x="8878" y="608970"/>
                  </a:lnTo>
                  <a:lnTo>
                    <a:pt x="33093" y="644890"/>
                  </a:lnTo>
                  <a:lnTo>
                    <a:pt x="69008" y="669108"/>
                  </a:lnTo>
                  <a:lnTo>
                    <a:pt x="112991" y="677989"/>
                  </a:lnTo>
                  <a:lnTo>
                    <a:pt x="1687690" y="677989"/>
                  </a:lnTo>
                  <a:lnTo>
                    <a:pt x="1731675" y="669108"/>
                  </a:lnTo>
                  <a:lnTo>
                    <a:pt x="1767595" y="644890"/>
                  </a:lnTo>
                  <a:lnTo>
                    <a:pt x="1791814" y="608970"/>
                  </a:lnTo>
                  <a:lnTo>
                    <a:pt x="1800694" y="564984"/>
                  </a:lnTo>
                  <a:lnTo>
                    <a:pt x="1800694" y="112991"/>
                  </a:lnTo>
                  <a:lnTo>
                    <a:pt x="1791814" y="69008"/>
                  </a:lnTo>
                  <a:lnTo>
                    <a:pt x="1767595" y="33093"/>
                  </a:lnTo>
                  <a:lnTo>
                    <a:pt x="1731675" y="8878"/>
                  </a:lnTo>
                  <a:lnTo>
                    <a:pt x="16876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12937" y="2138222"/>
              <a:ext cx="1800860" cy="1179830"/>
            </a:xfrm>
            <a:custGeom>
              <a:avLst/>
              <a:gdLst/>
              <a:ahLst/>
              <a:cxnLst/>
              <a:rect l="l" t="t" r="r" b="b"/>
              <a:pathLst>
                <a:path w="1800859" h="1179829">
                  <a:moveTo>
                    <a:pt x="0" y="113000"/>
                  </a:moveTo>
                  <a:lnTo>
                    <a:pt x="8880" y="69015"/>
                  </a:lnTo>
                  <a:lnTo>
                    <a:pt x="33097" y="33097"/>
                  </a:lnTo>
                  <a:lnTo>
                    <a:pt x="69015" y="8880"/>
                  </a:lnTo>
                  <a:lnTo>
                    <a:pt x="113000" y="0"/>
                  </a:lnTo>
                  <a:lnTo>
                    <a:pt x="300116" y="0"/>
                  </a:lnTo>
                  <a:lnTo>
                    <a:pt x="750290" y="0"/>
                  </a:lnTo>
                  <a:lnTo>
                    <a:pt x="1687700" y="0"/>
                  </a:lnTo>
                  <a:lnTo>
                    <a:pt x="1731686" y="8880"/>
                  </a:lnTo>
                  <a:lnTo>
                    <a:pt x="1767604" y="33097"/>
                  </a:lnTo>
                  <a:lnTo>
                    <a:pt x="1791821" y="69015"/>
                  </a:lnTo>
                  <a:lnTo>
                    <a:pt x="1800701" y="113000"/>
                  </a:lnTo>
                  <a:lnTo>
                    <a:pt x="1800701" y="395494"/>
                  </a:lnTo>
                  <a:lnTo>
                    <a:pt x="1800701" y="564991"/>
                  </a:lnTo>
                  <a:lnTo>
                    <a:pt x="1791821" y="608973"/>
                  </a:lnTo>
                  <a:lnTo>
                    <a:pt x="1767604" y="644892"/>
                  </a:lnTo>
                  <a:lnTo>
                    <a:pt x="1731686" y="669109"/>
                  </a:lnTo>
                  <a:lnTo>
                    <a:pt x="1687700" y="677989"/>
                  </a:lnTo>
                  <a:lnTo>
                    <a:pt x="750290" y="677989"/>
                  </a:lnTo>
                  <a:lnTo>
                    <a:pt x="612129" y="1179530"/>
                  </a:lnTo>
                  <a:lnTo>
                    <a:pt x="300116" y="677989"/>
                  </a:lnTo>
                  <a:lnTo>
                    <a:pt x="113000" y="677989"/>
                  </a:lnTo>
                  <a:lnTo>
                    <a:pt x="69015" y="669109"/>
                  </a:lnTo>
                  <a:lnTo>
                    <a:pt x="33097" y="644892"/>
                  </a:lnTo>
                  <a:lnTo>
                    <a:pt x="8880" y="608973"/>
                  </a:lnTo>
                  <a:lnTo>
                    <a:pt x="0" y="564989"/>
                  </a:lnTo>
                  <a:lnTo>
                    <a:pt x="0" y="395494"/>
                  </a:lnTo>
                  <a:lnTo>
                    <a:pt x="0" y="113000"/>
                  </a:lnTo>
                  <a:close/>
                </a:path>
              </a:pathLst>
            </a:custGeom>
            <a:ln w="127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485301" y="2332567"/>
            <a:ext cx="12522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80" dirty="0">
                <a:latin typeface="Liberation Sans Narrow"/>
                <a:cs typeface="Liberation Sans Narrow"/>
              </a:rPr>
              <a:t>AI</a:t>
            </a:r>
            <a:r>
              <a:rPr sz="1600" spc="60" dirty="0">
                <a:latin typeface="Liberation Sans Narrow"/>
                <a:cs typeface="Liberation Sans Narrow"/>
              </a:rPr>
              <a:t> </a:t>
            </a:r>
            <a:r>
              <a:rPr sz="1600" spc="50" dirty="0">
                <a:latin typeface="Liberation Sans Narrow"/>
                <a:cs typeface="Liberation Sans Narrow"/>
              </a:rPr>
              <a:t>Governance</a:t>
            </a:r>
            <a:endParaRPr sz="16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38" y="1562096"/>
            <a:ext cx="35439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20" dirty="0">
                <a:solidFill>
                  <a:srgbClr val="FFFFFF"/>
                </a:solidFill>
                <a:latin typeface="Trebuchet MS"/>
                <a:cs typeface="Trebuchet MS"/>
              </a:rPr>
              <a:t>Hallucinations?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667" rIns="0" bIns="0" rtlCol="0">
            <a:spAutoFit/>
          </a:bodyPr>
          <a:lstStyle/>
          <a:p>
            <a:pPr marL="8003540">
              <a:lnSpc>
                <a:spcPct val="100000"/>
              </a:lnSpc>
              <a:spcBef>
                <a:spcPts val="100"/>
              </a:spcBef>
            </a:pPr>
            <a:r>
              <a:rPr sz="3600" b="1" spc="-114" dirty="0">
                <a:solidFill>
                  <a:srgbClr val="FF0000"/>
                </a:solidFill>
                <a:latin typeface="Trebuchet MS"/>
                <a:cs typeface="Trebuchet MS"/>
              </a:rPr>
              <a:t>Explainability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901" y="6278025"/>
            <a:ext cx="36696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70" dirty="0">
                <a:solidFill>
                  <a:srgbClr val="FFFFFF"/>
                </a:solidFill>
                <a:latin typeface="Trebuchet MS"/>
                <a:cs typeface="Trebuchet MS"/>
              </a:rPr>
              <a:t>Laws</a:t>
            </a:r>
            <a:r>
              <a:rPr sz="3200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200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85" dirty="0">
                <a:solidFill>
                  <a:srgbClr val="FF0000"/>
                </a:solidFill>
                <a:latin typeface="Trebuchet MS"/>
                <a:cs typeface="Trebuchet MS"/>
              </a:rPr>
              <a:t>regulations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87828" y="5143496"/>
            <a:ext cx="30022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10" dirty="0">
                <a:solidFill>
                  <a:srgbClr val="FFFFFF"/>
                </a:solidFill>
                <a:latin typeface="Trebuchet MS"/>
                <a:cs typeface="Trebuchet MS"/>
              </a:rPr>
              <a:t>Where</a:t>
            </a:r>
            <a:r>
              <a:rPr sz="3200" spc="-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rebuchet MS"/>
                <a:cs typeface="Trebuchet MS"/>
              </a:rPr>
              <a:t>begin?</a:t>
            </a:r>
            <a:r>
              <a:rPr sz="3200" spc="-10" dirty="0">
                <a:latin typeface="Trebuchet MS"/>
                <a:cs typeface="Trebuchet MS"/>
              </a:rPr>
              <a:t>?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4019" y="2510367"/>
            <a:ext cx="5847715" cy="222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60"/>
              </a:lnSpc>
              <a:spcBef>
                <a:spcPts val="100"/>
              </a:spcBef>
            </a:pPr>
            <a:r>
              <a:rPr sz="3600" spc="-100" dirty="0">
                <a:latin typeface="Trebuchet MS"/>
                <a:cs typeface="Trebuchet MS"/>
              </a:rPr>
              <a:t>Governing</a:t>
            </a:r>
            <a:r>
              <a:rPr sz="3600" spc="-320" dirty="0">
                <a:latin typeface="Trebuchet MS"/>
                <a:cs typeface="Trebuchet MS"/>
              </a:rPr>
              <a:t> </a:t>
            </a:r>
            <a:r>
              <a:rPr sz="3600" spc="-100" dirty="0">
                <a:latin typeface="Trebuchet MS"/>
                <a:cs typeface="Trebuchet MS"/>
              </a:rPr>
              <a:t>not</a:t>
            </a:r>
            <a:r>
              <a:rPr sz="3600" spc="-325" dirty="0">
                <a:latin typeface="Trebuchet MS"/>
                <a:cs typeface="Trebuchet MS"/>
              </a:rPr>
              <a:t> </a:t>
            </a:r>
            <a:r>
              <a:rPr sz="3600" spc="-110" dirty="0">
                <a:latin typeface="Trebuchet MS"/>
                <a:cs typeface="Trebuchet MS"/>
              </a:rPr>
              <a:t>only</a:t>
            </a:r>
            <a:r>
              <a:rPr sz="3600" spc="-320" dirty="0">
                <a:latin typeface="Trebuchet MS"/>
                <a:cs typeface="Trebuchet MS"/>
              </a:rPr>
              <a:t> </a:t>
            </a:r>
            <a:r>
              <a:rPr sz="3600" spc="-105" dirty="0">
                <a:latin typeface="Trebuchet MS"/>
                <a:cs typeface="Trebuchet MS"/>
              </a:rPr>
              <a:t>models</a:t>
            </a:r>
            <a:r>
              <a:rPr sz="3600" spc="-325" dirty="0">
                <a:latin typeface="Trebuchet MS"/>
                <a:cs typeface="Trebuchet MS"/>
              </a:rPr>
              <a:t> </a:t>
            </a:r>
            <a:r>
              <a:rPr sz="3600" spc="-25" dirty="0">
                <a:latin typeface="Trebuchet MS"/>
                <a:cs typeface="Trebuchet MS"/>
              </a:rPr>
              <a:t>but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ts val="5180"/>
              </a:lnSpc>
            </a:pPr>
            <a:r>
              <a:rPr sz="4400" b="1" spc="22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prompts</a:t>
            </a:r>
            <a:r>
              <a:rPr sz="4400" b="1" spc="-254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3600" spc="-100" dirty="0">
                <a:latin typeface="Trebuchet MS"/>
                <a:cs typeface="Trebuchet MS"/>
              </a:rPr>
              <a:t>running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55" dirty="0">
                <a:latin typeface="Trebuchet MS"/>
                <a:cs typeface="Trebuchet MS"/>
              </a:rPr>
              <a:t>on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110" dirty="0">
                <a:latin typeface="Trebuchet MS"/>
                <a:cs typeface="Trebuchet MS"/>
              </a:rPr>
              <a:t>top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25" dirty="0">
                <a:latin typeface="Trebuchet MS"/>
                <a:cs typeface="Trebuchet MS"/>
              </a:rPr>
              <a:t>of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ts val="7880"/>
              </a:lnSpc>
            </a:pPr>
            <a:r>
              <a:rPr sz="6600" b="1" spc="29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LLMs</a:t>
            </a:r>
            <a:r>
              <a:rPr sz="6600" spc="290" dirty="0">
                <a:latin typeface="Trebuchet MS"/>
                <a:cs typeface="Trebuchet MS"/>
              </a:rPr>
              <a:t>?</a:t>
            </a:r>
            <a:endParaRPr sz="6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07725" y="2400296"/>
            <a:ext cx="4938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0" dirty="0">
                <a:latin typeface="Trebuchet MS"/>
                <a:cs typeface="Trebuchet MS"/>
              </a:rPr>
              <a:t>What</a:t>
            </a:r>
            <a:r>
              <a:rPr sz="4000" spc="-380" dirty="0">
                <a:latin typeface="Trebuchet MS"/>
                <a:cs typeface="Trebuchet MS"/>
              </a:rPr>
              <a:t> </a:t>
            </a:r>
            <a:r>
              <a:rPr sz="4000" spc="-95" dirty="0">
                <a:latin typeface="Trebuchet MS"/>
                <a:cs typeface="Trebuchet MS"/>
              </a:rPr>
              <a:t>does</a:t>
            </a:r>
            <a:r>
              <a:rPr sz="4000" spc="-380" dirty="0">
                <a:latin typeface="Trebuchet MS"/>
                <a:cs typeface="Trebuchet MS"/>
              </a:rPr>
              <a:t> </a:t>
            </a:r>
            <a:r>
              <a:rPr sz="4000" spc="-70" dirty="0">
                <a:latin typeface="Trebuchet MS"/>
                <a:cs typeface="Trebuchet MS"/>
              </a:rPr>
              <a:t>María</a:t>
            </a:r>
            <a:r>
              <a:rPr sz="4000" spc="-370" dirty="0">
                <a:latin typeface="Trebuchet MS"/>
                <a:cs typeface="Trebuchet MS"/>
              </a:rPr>
              <a:t> </a:t>
            </a:r>
            <a:r>
              <a:rPr sz="4000" spc="-30" dirty="0">
                <a:latin typeface="Trebuchet MS"/>
                <a:cs typeface="Trebuchet MS"/>
              </a:rPr>
              <a:t>need?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07725" y="2992967"/>
            <a:ext cx="5827395" cy="182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770505" algn="ctr">
              <a:lnSpc>
                <a:spcPts val="6734"/>
              </a:lnSpc>
              <a:spcBef>
                <a:spcPts val="100"/>
              </a:spcBef>
            </a:pPr>
            <a:r>
              <a:rPr sz="6000" b="1" spc="16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3</a:t>
            </a:r>
            <a:r>
              <a:rPr sz="6000" b="1" spc="-1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6000" spc="-270" dirty="0">
                <a:solidFill>
                  <a:srgbClr val="FF0000"/>
                </a:solidFill>
                <a:latin typeface="Trebuchet MS"/>
                <a:cs typeface="Trebuchet MS"/>
              </a:rPr>
              <a:t>pillars</a:t>
            </a:r>
            <a:r>
              <a:rPr sz="6000" spc="-5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4400" spc="-25" dirty="0">
                <a:latin typeface="Trebuchet MS"/>
                <a:cs typeface="Trebuchet MS"/>
              </a:rPr>
              <a:t>of</a:t>
            </a:r>
            <a:endParaRPr sz="4400">
              <a:latin typeface="Trebuchet MS"/>
              <a:cs typeface="Trebuchet MS"/>
            </a:endParaRPr>
          </a:p>
          <a:p>
            <a:pPr marL="752475" algn="ctr">
              <a:lnSpc>
                <a:spcPts val="7455"/>
              </a:lnSpc>
            </a:pPr>
            <a:r>
              <a:rPr sz="6600" dirty="0">
                <a:latin typeface="Trebuchet MS"/>
                <a:cs typeface="Trebuchet MS"/>
              </a:rPr>
              <a:t>AI</a:t>
            </a:r>
            <a:r>
              <a:rPr sz="6600" spc="-869" dirty="0">
                <a:latin typeface="Trebuchet MS"/>
                <a:cs typeface="Trebuchet MS"/>
              </a:rPr>
              <a:t> </a:t>
            </a:r>
            <a:r>
              <a:rPr sz="6600" spc="-195" dirty="0">
                <a:latin typeface="Trebuchet MS"/>
                <a:cs typeface="Trebuchet MS"/>
              </a:rPr>
              <a:t>Governance</a:t>
            </a:r>
            <a:endParaRPr sz="6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264" y="2954235"/>
            <a:ext cx="1674981" cy="33713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4544" y="1401225"/>
            <a:ext cx="7690484" cy="3815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60" dirty="0">
                <a:solidFill>
                  <a:srgbClr val="FF0000"/>
                </a:solidFill>
                <a:latin typeface="Trebuchet MS"/>
                <a:cs typeface="Trebuchet MS"/>
              </a:rPr>
              <a:t>Transparency</a:t>
            </a:r>
            <a:r>
              <a:rPr sz="3200" b="1" spc="-3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across</a:t>
            </a:r>
            <a:r>
              <a:rPr sz="3200" spc="-28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her</a:t>
            </a:r>
            <a:r>
              <a:rPr sz="3200" spc="-290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models</a:t>
            </a:r>
            <a:r>
              <a:rPr sz="3200" spc="-280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and</a:t>
            </a:r>
            <a:r>
              <a:rPr sz="3200" spc="-29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prompts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15"/>
              </a:spcBef>
            </a:pPr>
            <a:endParaRPr sz="3200">
              <a:latin typeface="Trebuchet MS"/>
              <a:cs typeface="Trebuchet MS"/>
            </a:endParaRPr>
          </a:p>
          <a:p>
            <a:pPr marL="2412365" marR="2419350">
              <a:lnSpc>
                <a:spcPct val="100699"/>
              </a:lnSpc>
            </a:pPr>
            <a:r>
              <a:rPr sz="2400" spc="-110" dirty="0">
                <a:latin typeface="Trebuchet MS"/>
                <a:cs typeface="Trebuchet MS"/>
              </a:rPr>
              <a:t>for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each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AI</a:t>
            </a:r>
            <a:r>
              <a:rPr sz="3200" spc="-46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asset</a:t>
            </a:r>
            <a:r>
              <a:rPr sz="2400" spc="-10" dirty="0">
                <a:latin typeface="Trebuchet MS"/>
                <a:cs typeface="Trebuchet MS"/>
              </a:rPr>
              <a:t>: </a:t>
            </a:r>
            <a:r>
              <a:rPr sz="2400" spc="-95" dirty="0">
                <a:latin typeface="Trebuchet MS"/>
                <a:cs typeface="Trebuchet MS"/>
              </a:rPr>
              <a:t>what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3200" b="1" spc="-125" dirty="0">
                <a:solidFill>
                  <a:srgbClr val="FF0000"/>
                </a:solidFill>
                <a:latin typeface="Trebuchet MS"/>
                <a:cs typeface="Trebuchet MS"/>
              </a:rPr>
              <a:t>parameters</a:t>
            </a:r>
            <a:r>
              <a:rPr sz="2400" b="1" spc="-12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? </a:t>
            </a:r>
            <a:r>
              <a:rPr sz="2400" spc="-95" dirty="0">
                <a:latin typeface="Trebuchet MS"/>
                <a:cs typeface="Trebuchet MS"/>
              </a:rPr>
              <a:t>what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rebuchet MS"/>
                <a:cs typeface="Trebuchet MS"/>
              </a:rPr>
              <a:t>data</a:t>
            </a:r>
            <a:r>
              <a:rPr sz="2400" b="1" spc="-1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?</a:t>
            </a:r>
            <a:endParaRPr sz="2400">
              <a:latin typeface="Liberation Sans Narrow"/>
              <a:cs typeface="Liberation Sans Narrow"/>
            </a:endParaRPr>
          </a:p>
          <a:p>
            <a:pPr marL="2412365" marR="1577340">
              <a:lnSpc>
                <a:spcPts val="3870"/>
              </a:lnSpc>
              <a:spcBef>
                <a:spcPts val="30"/>
              </a:spcBef>
            </a:pPr>
            <a:r>
              <a:rPr sz="2400" spc="-95" dirty="0">
                <a:latin typeface="Trebuchet MS"/>
                <a:cs typeface="Trebuchet MS"/>
              </a:rPr>
              <a:t>what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few-</a:t>
            </a:r>
            <a:r>
              <a:rPr sz="2400" spc="-55" dirty="0">
                <a:latin typeface="Trebuchet MS"/>
                <a:cs typeface="Trebuchet MS"/>
              </a:rPr>
              <a:t>shot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3200" b="1" spc="-75" dirty="0">
                <a:solidFill>
                  <a:srgbClr val="FF0000"/>
                </a:solidFill>
                <a:latin typeface="Trebuchet MS"/>
                <a:cs typeface="Trebuchet MS"/>
              </a:rPr>
              <a:t>examples</a:t>
            </a:r>
            <a:r>
              <a:rPr sz="2400" spc="-75" dirty="0">
                <a:latin typeface="Trebuchet MS"/>
                <a:cs typeface="Trebuchet MS"/>
              </a:rPr>
              <a:t>? </a:t>
            </a:r>
            <a:r>
              <a:rPr sz="2400" spc="-95" dirty="0">
                <a:latin typeface="Trebuchet MS"/>
                <a:cs typeface="Trebuchet MS"/>
              </a:rPr>
              <a:t>what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rebuchet MS"/>
                <a:cs typeface="Trebuchet MS"/>
              </a:rPr>
              <a:t>LLM</a:t>
            </a:r>
            <a:r>
              <a:rPr sz="3200" b="1" spc="-4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were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used?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86912" y="495296"/>
            <a:ext cx="15106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Pillar</a:t>
            </a:r>
            <a:r>
              <a:rPr sz="4000" b="1" spc="-8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9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1</a:t>
            </a:r>
            <a:endParaRPr sz="40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5054" y="2019296"/>
            <a:ext cx="10481945" cy="306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10" dirty="0">
                <a:latin typeface="Trebuchet MS"/>
                <a:cs typeface="Trebuchet MS"/>
              </a:rPr>
              <a:t>different</a:t>
            </a:r>
            <a:r>
              <a:rPr sz="4400" spc="-400" dirty="0">
                <a:latin typeface="Trebuchet MS"/>
                <a:cs typeface="Trebuchet MS"/>
              </a:rPr>
              <a:t> </a:t>
            </a:r>
            <a:r>
              <a:rPr sz="4400" spc="-35" dirty="0">
                <a:latin typeface="Trebuchet MS"/>
                <a:cs typeface="Trebuchet MS"/>
              </a:rPr>
              <a:t>platforms</a:t>
            </a:r>
            <a:endParaRPr sz="4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90"/>
              </a:spcBef>
            </a:pPr>
            <a:endParaRPr sz="4400">
              <a:latin typeface="Trebuchet MS"/>
              <a:cs typeface="Trebuchet MS"/>
            </a:endParaRPr>
          </a:p>
          <a:p>
            <a:pPr marL="4768850" marR="5080">
              <a:lnSpc>
                <a:spcPts val="4270"/>
              </a:lnSpc>
            </a:pPr>
            <a:r>
              <a:rPr sz="3600" spc="-175" dirty="0">
                <a:latin typeface="Trebuchet MS"/>
                <a:cs typeface="Trebuchet MS"/>
              </a:rPr>
              <a:t>centralized</a:t>
            </a:r>
            <a:r>
              <a:rPr sz="3600" spc="-305" dirty="0">
                <a:latin typeface="Trebuchet MS"/>
                <a:cs typeface="Trebuchet MS"/>
              </a:rPr>
              <a:t> </a:t>
            </a:r>
            <a:r>
              <a:rPr sz="3600" b="1" spc="-160" dirty="0">
                <a:solidFill>
                  <a:srgbClr val="FF0000"/>
                </a:solidFill>
                <a:latin typeface="Trebuchet MS"/>
                <a:cs typeface="Trebuchet MS"/>
              </a:rPr>
              <a:t>inventory</a:t>
            </a:r>
            <a:r>
              <a:rPr sz="3600" b="1" spc="-2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spc="-120" dirty="0">
                <a:latin typeface="Trebuchet MS"/>
                <a:cs typeface="Trebuchet MS"/>
              </a:rPr>
              <a:t>of</a:t>
            </a:r>
            <a:r>
              <a:rPr sz="3600" spc="-295" dirty="0">
                <a:latin typeface="Trebuchet MS"/>
                <a:cs typeface="Trebuchet MS"/>
              </a:rPr>
              <a:t> </a:t>
            </a:r>
            <a:r>
              <a:rPr sz="3600" spc="-80" dirty="0">
                <a:latin typeface="Trebuchet MS"/>
                <a:cs typeface="Trebuchet MS"/>
              </a:rPr>
              <a:t>these </a:t>
            </a:r>
            <a:r>
              <a:rPr sz="3600" dirty="0">
                <a:latin typeface="Trebuchet MS"/>
                <a:cs typeface="Trebuchet MS"/>
              </a:rPr>
              <a:t>AI</a:t>
            </a:r>
            <a:r>
              <a:rPr sz="3600" spc="-330" dirty="0">
                <a:latin typeface="Trebuchet MS"/>
                <a:cs typeface="Trebuchet MS"/>
              </a:rPr>
              <a:t> </a:t>
            </a:r>
            <a:r>
              <a:rPr sz="3600" spc="-10" dirty="0">
                <a:latin typeface="Trebuchet MS"/>
                <a:cs typeface="Trebuchet MS"/>
              </a:rPr>
              <a:t>assets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86912" y="495296"/>
            <a:ext cx="15106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Pillar</a:t>
            </a:r>
            <a:r>
              <a:rPr sz="4000" b="1" spc="-8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9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1</a:t>
            </a:r>
            <a:endParaRPr sz="40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4266" y="2341025"/>
            <a:ext cx="7752080" cy="14954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65"/>
              </a:spcBef>
            </a:pPr>
            <a:r>
              <a:rPr sz="2800" spc="-35" dirty="0">
                <a:latin typeface="Trebuchet MS"/>
                <a:cs typeface="Trebuchet MS"/>
              </a:rPr>
              <a:t>Models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5" dirty="0">
                <a:latin typeface="Trebuchet MS"/>
                <a:cs typeface="Trebuchet MS"/>
              </a:rPr>
              <a:t>/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prompts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have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different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3600" b="1" spc="-155" dirty="0">
                <a:solidFill>
                  <a:srgbClr val="FF0000"/>
                </a:solidFill>
                <a:latin typeface="Trebuchet MS"/>
                <a:cs typeface="Trebuchet MS"/>
              </a:rPr>
              <a:t>versions</a:t>
            </a:r>
            <a:r>
              <a:rPr sz="3600" b="1" spc="-48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may </a:t>
            </a:r>
            <a:r>
              <a:rPr sz="2800" spc="-114" dirty="0">
                <a:latin typeface="Trebuchet MS"/>
                <a:cs typeface="Trebuchet MS"/>
              </a:rPr>
              <a:t>be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running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on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i="1" spc="-190" dirty="0">
                <a:latin typeface="Trebuchet MS"/>
                <a:cs typeface="Trebuchet MS"/>
              </a:rPr>
              <a:t>development</a:t>
            </a:r>
            <a:r>
              <a:rPr sz="2800" spc="-190" dirty="0">
                <a:latin typeface="Trebuchet MS"/>
                <a:cs typeface="Trebuchet MS"/>
              </a:rPr>
              <a:t>,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i="1" spc="-215" dirty="0">
                <a:latin typeface="Trebuchet MS"/>
                <a:cs typeface="Trebuchet MS"/>
              </a:rPr>
              <a:t>pre-</a:t>
            </a:r>
            <a:r>
              <a:rPr sz="2800" i="1" spc="-185" dirty="0">
                <a:latin typeface="Trebuchet MS"/>
                <a:cs typeface="Trebuchet MS"/>
              </a:rPr>
              <a:t>production</a:t>
            </a:r>
            <a:r>
              <a:rPr sz="2800" i="1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or </a:t>
            </a:r>
            <a:r>
              <a:rPr sz="2800" i="1" spc="-185" dirty="0">
                <a:latin typeface="Trebuchet MS"/>
                <a:cs typeface="Trebuchet MS"/>
              </a:rPr>
              <a:t>production</a:t>
            </a:r>
            <a:r>
              <a:rPr sz="2800" i="1" spc="-195" dirty="0">
                <a:latin typeface="Trebuchet MS"/>
                <a:cs typeface="Trebuchet MS"/>
              </a:rPr>
              <a:t> </a:t>
            </a:r>
            <a:r>
              <a:rPr sz="3200" b="1" spc="-40" dirty="0">
                <a:solidFill>
                  <a:srgbClr val="FF0000"/>
                </a:solidFill>
                <a:latin typeface="Trebuchet MS"/>
                <a:cs typeface="Trebuchet MS"/>
              </a:rPr>
              <a:t>environments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86912" y="495296"/>
            <a:ext cx="15106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Pillar</a:t>
            </a:r>
            <a:r>
              <a:rPr sz="4000" b="1" spc="-8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9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1</a:t>
            </a:r>
            <a:endParaRPr sz="40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1529" y="2281767"/>
            <a:ext cx="4142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25" dirty="0">
                <a:latin typeface="Trebuchet MS"/>
                <a:cs typeface="Trebuchet MS"/>
              </a:rPr>
              <a:t>We</a:t>
            </a:r>
            <a:r>
              <a:rPr sz="3600" spc="-350" dirty="0">
                <a:latin typeface="Trebuchet MS"/>
                <a:cs typeface="Trebuchet MS"/>
              </a:rPr>
              <a:t> </a:t>
            </a:r>
            <a:r>
              <a:rPr sz="3600" spc="-215" dirty="0">
                <a:latin typeface="Trebuchet MS"/>
                <a:cs typeface="Trebuchet MS"/>
              </a:rPr>
              <a:t>call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120" dirty="0">
                <a:latin typeface="Trebuchet MS"/>
                <a:cs typeface="Trebuchet MS"/>
              </a:rPr>
              <a:t>this</a:t>
            </a:r>
            <a:r>
              <a:rPr sz="3600" spc="-330" dirty="0">
                <a:latin typeface="Trebuchet MS"/>
                <a:cs typeface="Trebuchet MS"/>
              </a:rPr>
              <a:t> </a:t>
            </a:r>
            <a:r>
              <a:rPr sz="3600" spc="-165" dirty="0">
                <a:solidFill>
                  <a:srgbClr val="FF0000"/>
                </a:solidFill>
                <a:latin typeface="Trebuchet MS"/>
                <a:cs typeface="Trebuchet MS"/>
              </a:rPr>
              <a:t>first</a:t>
            </a:r>
            <a:r>
              <a:rPr sz="3600" spc="-3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spc="-185" dirty="0">
                <a:latin typeface="Trebuchet MS"/>
                <a:cs typeface="Trebuchet MS"/>
              </a:rPr>
              <a:t>pillar: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0185" y="3424767"/>
            <a:ext cx="62693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1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Lifecycle</a:t>
            </a:r>
            <a:r>
              <a:rPr sz="5400" b="1" spc="-34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5400" b="1" spc="19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Governance</a:t>
            </a:r>
            <a:endParaRPr sz="5400">
              <a:latin typeface="Liberation Sans Narrow"/>
              <a:cs typeface="Liberation Sans Narro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886912" y="495296"/>
            <a:ext cx="15106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Pillar</a:t>
            </a:r>
            <a:r>
              <a:rPr sz="4000" b="1" spc="-8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9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1</a:t>
            </a:r>
            <a:endParaRPr sz="40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0679" y="986367"/>
            <a:ext cx="7578090" cy="408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0000"/>
                </a:solidFill>
                <a:latin typeface="Trebuchet MS"/>
                <a:cs typeface="Trebuchet MS"/>
              </a:rPr>
              <a:t>Monitoring</a:t>
            </a:r>
            <a:endParaRPr sz="3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25"/>
              </a:spcBef>
            </a:pPr>
            <a:endParaRPr sz="3600">
              <a:latin typeface="Trebuchet MS"/>
              <a:cs typeface="Trebuchet MS"/>
            </a:endParaRPr>
          </a:p>
          <a:p>
            <a:pPr marL="622935" marR="5080">
              <a:lnSpc>
                <a:spcPct val="101200"/>
              </a:lnSpc>
            </a:pPr>
            <a:r>
              <a:rPr sz="2800" b="1" spc="15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drift</a:t>
            </a:r>
            <a:r>
              <a:rPr sz="2800" b="1" spc="-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decay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performance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over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time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due </a:t>
            </a:r>
            <a:r>
              <a:rPr sz="2800" spc="-85" dirty="0">
                <a:latin typeface="Trebuchet MS"/>
                <a:cs typeface="Trebuchet MS"/>
              </a:rPr>
              <a:t>to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changes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the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data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processes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800">
              <a:latin typeface="Trebuchet MS"/>
              <a:cs typeface="Trebuchet MS"/>
            </a:endParaRPr>
          </a:p>
          <a:p>
            <a:pPr marL="2681605" marR="66040">
              <a:lnSpc>
                <a:spcPct val="101200"/>
              </a:lnSpc>
            </a:pPr>
            <a:r>
              <a:rPr sz="2800" b="1" spc="13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retrain</a:t>
            </a:r>
            <a:r>
              <a:rPr sz="2800" b="1" spc="-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b="1" spc="18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/</a:t>
            </a:r>
            <a:r>
              <a:rPr sz="2800" b="1" spc="-4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b="1" spc="12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re-engineer</a:t>
            </a:r>
            <a:r>
              <a:rPr sz="2800" b="1" spc="-6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to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maintain </a:t>
            </a:r>
            <a:r>
              <a:rPr sz="2800" spc="-25" dirty="0">
                <a:latin typeface="Trebuchet MS"/>
                <a:cs typeface="Trebuchet MS"/>
              </a:rPr>
              <a:t>performance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86912" y="495296"/>
            <a:ext cx="15125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Pillar</a:t>
            </a:r>
            <a:r>
              <a:rPr sz="4000" b="1" spc="-8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10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2</a:t>
            </a:r>
            <a:endParaRPr sz="40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5059" y="994825"/>
            <a:ext cx="8791575" cy="540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55" dirty="0">
                <a:solidFill>
                  <a:srgbClr val="FF0000"/>
                </a:solidFill>
                <a:latin typeface="Trebuchet MS"/>
                <a:cs typeface="Trebuchet MS"/>
              </a:rPr>
              <a:t>fairness</a:t>
            </a:r>
            <a:r>
              <a:rPr sz="3600" b="1" spc="-5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issues?</a:t>
            </a:r>
            <a:endParaRPr sz="2400">
              <a:latin typeface="Trebuchet MS"/>
              <a:cs typeface="Trebuchet MS"/>
            </a:endParaRPr>
          </a:p>
          <a:p>
            <a:pPr marL="469900" marR="3371215">
              <a:lnSpc>
                <a:spcPct val="100699"/>
              </a:lnSpc>
              <a:spcBef>
                <a:spcPts val="2860"/>
              </a:spcBef>
            </a:pPr>
            <a:r>
              <a:rPr sz="2400" spc="-50" dirty="0">
                <a:latin typeface="Trebuchet MS"/>
                <a:cs typeface="Trebuchet MS"/>
              </a:rPr>
              <a:t>Is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model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is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producing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consistently </a:t>
            </a:r>
            <a:r>
              <a:rPr sz="2400" spc="-100" dirty="0">
                <a:latin typeface="Trebuchet MS"/>
                <a:cs typeface="Trebuchet MS"/>
              </a:rPr>
              <a:t>unfavorable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outcomes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against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certain </a:t>
            </a:r>
            <a:r>
              <a:rPr sz="2400" spc="-10" dirty="0">
                <a:latin typeface="Trebuchet MS"/>
                <a:cs typeface="Trebuchet MS"/>
              </a:rPr>
              <a:t>population?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latin typeface="Trebuchet MS"/>
              <a:cs typeface="Trebuchet MS"/>
            </a:endParaRPr>
          </a:p>
          <a:p>
            <a:pPr marL="3702685" marR="5080" algn="just">
              <a:lnSpc>
                <a:spcPct val="99800"/>
              </a:lnSpc>
              <a:spcBef>
                <a:spcPts val="5"/>
              </a:spcBef>
            </a:pPr>
            <a:r>
              <a:rPr sz="2800" spc="-120" dirty="0">
                <a:latin typeface="Trebuchet MS"/>
                <a:cs typeface="Trebuchet MS"/>
              </a:rPr>
              <a:t>answers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265" dirty="0">
                <a:latin typeface="Trebuchet MS"/>
                <a:cs typeface="Trebuchet MS"/>
              </a:rPr>
              <a:t>of</a:t>
            </a:r>
            <a:r>
              <a:rPr sz="2800" spc="55" dirty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the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model…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need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240" dirty="0">
                <a:latin typeface="Trebuchet MS"/>
                <a:cs typeface="Trebuchet MS"/>
              </a:rPr>
              <a:t>to</a:t>
            </a:r>
            <a:r>
              <a:rPr sz="2800" spc="3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be </a:t>
            </a:r>
            <a:r>
              <a:rPr sz="3600" b="1" spc="-210" dirty="0">
                <a:solidFill>
                  <a:srgbClr val="FF0000"/>
                </a:solidFill>
                <a:latin typeface="Trebuchet MS"/>
                <a:cs typeface="Trebuchet MS"/>
              </a:rPr>
              <a:t>explained</a:t>
            </a:r>
            <a:r>
              <a:rPr sz="3600" b="1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265" dirty="0">
                <a:latin typeface="Trebuchet MS"/>
                <a:cs typeface="Trebuchet MS"/>
              </a:rPr>
              <a:t>or</a:t>
            </a:r>
            <a:r>
              <a:rPr sz="2800" spc="55" dirty="0">
                <a:latin typeface="Trebuchet MS"/>
                <a:cs typeface="Trebuchet MS"/>
              </a:rPr>
              <a:t> </a:t>
            </a:r>
            <a:r>
              <a:rPr sz="2800" spc="-200" dirty="0">
                <a:latin typeface="Trebuchet MS"/>
                <a:cs typeface="Trebuchet MS"/>
              </a:rPr>
              <a:t>cited</a:t>
            </a:r>
            <a:r>
              <a:rPr sz="2800" spc="35" dirty="0">
                <a:latin typeface="Trebuchet MS"/>
                <a:cs typeface="Trebuchet MS"/>
              </a:rPr>
              <a:t> </a:t>
            </a:r>
            <a:r>
              <a:rPr sz="2800" spc="-245" dirty="0">
                <a:latin typeface="Trebuchet MS"/>
                <a:cs typeface="Trebuchet MS"/>
              </a:rPr>
              <a:t>to</a:t>
            </a:r>
            <a:r>
              <a:rPr sz="2800" spc="7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guarantee </a:t>
            </a:r>
            <a:r>
              <a:rPr sz="2800" spc="-30" dirty="0">
                <a:latin typeface="Trebuchet MS"/>
                <a:cs typeface="Trebuchet MS"/>
              </a:rPr>
              <a:t>faithfulness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2800">
              <a:latin typeface="Trebuchet MS"/>
              <a:cs typeface="Trebuchet MS"/>
            </a:endParaRPr>
          </a:p>
          <a:p>
            <a:pPr marL="654050">
              <a:lnSpc>
                <a:spcPct val="100000"/>
              </a:lnSpc>
            </a:pPr>
            <a:r>
              <a:rPr sz="2800" b="1" spc="95" dirty="0">
                <a:latin typeface="Liberation Sans Narrow"/>
                <a:cs typeface="Liberation Sans Narrow"/>
              </a:rPr>
              <a:t>Second</a:t>
            </a:r>
            <a:r>
              <a:rPr sz="2800" b="1" spc="-40" dirty="0">
                <a:latin typeface="Liberation Sans Narrow"/>
                <a:cs typeface="Liberation Sans Narrow"/>
              </a:rPr>
              <a:t> </a:t>
            </a:r>
            <a:r>
              <a:rPr sz="2800" b="1" spc="85" dirty="0">
                <a:latin typeface="Liberation Sans Narrow"/>
                <a:cs typeface="Liberation Sans Narrow"/>
              </a:rPr>
              <a:t>pillar:</a:t>
            </a:r>
            <a:r>
              <a:rPr sz="2800" b="1" spc="-35" dirty="0">
                <a:latin typeface="Liberation Sans Narrow"/>
                <a:cs typeface="Liberation Sans Narrow"/>
              </a:rPr>
              <a:t> </a:t>
            </a:r>
            <a:r>
              <a:rPr sz="3600" b="1" spc="-80" dirty="0">
                <a:solidFill>
                  <a:srgbClr val="FF0000"/>
                </a:solidFill>
                <a:latin typeface="Trebuchet MS"/>
                <a:cs typeface="Trebuchet MS"/>
              </a:rPr>
              <a:t>Risk</a:t>
            </a:r>
            <a:r>
              <a:rPr sz="3600" b="1" spc="-3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Trebuchet MS"/>
                <a:cs typeface="Trebuchet MS"/>
              </a:rPr>
              <a:t>management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86912" y="495296"/>
            <a:ext cx="15125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Pillar</a:t>
            </a:r>
            <a:r>
              <a:rPr sz="4000" b="1" spc="-8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10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2</a:t>
            </a:r>
            <a:endParaRPr sz="40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938" y="1663696"/>
            <a:ext cx="304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latin typeface="Trebuchet MS"/>
                <a:cs typeface="Trebuchet MS"/>
              </a:rPr>
              <a:t>comply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with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regulations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41498" y="4152896"/>
            <a:ext cx="24447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25" dirty="0">
                <a:latin typeface="Liberation Sans Narrow"/>
                <a:cs typeface="Liberation Sans Narrow"/>
              </a:rPr>
              <a:t>complex</a:t>
            </a:r>
            <a:r>
              <a:rPr sz="2000" spc="-55" dirty="0">
                <a:latin typeface="Liberation Sans Narrow"/>
                <a:cs typeface="Liberation Sans Narrow"/>
              </a:rPr>
              <a:t> </a:t>
            </a:r>
            <a:r>
              <a:rPr sz="2000" spc="195" dirty="0">
                <a:latin typeface="Liberation Sans Narrow"/>
                <a:cs typeface="Liberation Sans Narrow"/>
              </a:rPr>
              <a:t>to</a:t>
            </a:r>
            <a:r>
              <a:rPr sz="2000" spc="-60" dirty="0">
                <a:latin typeface="Liberation Sans Narrow"/>
                <a:cs typeface="Liberation Sans Narrow"/>
              </a:rPr>
              <a:t> </a:t>
            </a:r>
            <a:r>
              <a:rPr sz="2000" spc="105" dirty="0">
                <a:latin typeface="Liberation Sans Narrow"/>
                <a:cs typeface="Liberation Sans Narrow"/>
              </a:rPr>
              <a:t>understand</a:t>
            </a:r>
            <a:endParaRPr sz="2000">
              <a:latin typeface="Liberation Sans Narrow"/>
              <a:cs typeface="Liberation Sans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6331" y="4999567"/>
            <a:ext cx="6298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>
                <a:latin typeface="Trebuchet MS"/>
                <a:cs typeface="Trebuchet MS"/>
              </a:rPr>
              <a:t>Third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pillar: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3600" b="1" spc="-110" dirty="0">
                <a:solidFill>
                  <a:srgbClr val="FF0000"/>
                </a:solidFill>
                <a:latin typeface="Trebuchet MS"/>
                <a:cs typeface="Trebuchet MS"/>
              </a:rPr>
              <a:t>Regulatory</a:t>
            </a:r>
            <a:r>
              <a:rPr sz="3600" b="1" spc="-3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b="1" spc="-114" dirty="0">
                <a:solidFill>
                  <a:srgbClr val="FF0000"/>
                </a:solidFill>
                <a:latin typeface="Trebuchet MS"/>
                <a:cs typeface="Trebuchet MS"/>
              </a:rPr>
              <a:t>compliance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886912" y="495296"/>
            <a:ext cx="15068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Pillar</a:t>
            </a:r>
            <a:r>
              <a:rPr sz="4000" b="1" spc="-8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3</a:t>
            </a:r>
            <a:endParaRPr sz="4000">
              <a:latin typeface="Liberation Sans Narrow"/>
              <a:cs typeface="Liberation Sans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4763" y="2476496"/>
            <a:ext cx="6725920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35"/>
              </a:lnSpc>
              <a:spcBef>
                <a:spcPts val="100"/>
              </a:spcBef>
            </a:pPr>
            <a:r>
              <a:rPr sz="4000" b="1" spc="24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EU</a:t>
            </a:r>
            <a:r>
              <a:rPr sz="4000" b="1" spc="-26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21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AI</a:t>
            </a:r>
            <a:r>
              <a:rPr sz="4000" b="1" spc="-26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4000" b="1" spc="17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Act</a:t>
            </a:r>
            <a:endParaRPr sz="4000">
              <a:latin typeface="Liberation Sans Narrow"/>
              <a:cs typeface="Liberation Sans Narrow"/>
            </a:endParaRPr>
          </a:p>
          <a:p>
            <a:pPr marL="3608070">
              <a:lnSpc>
                <a:spcPts val="3775"/>
              </a:lnSpc>
            </a:pPr>
            <a:r>
              <a:rPr sz="3200" b="1" spc="114" dirty="0">
                <a:solidFill>
                  <a:srgbClr val="FF0000"/>
                </a:solidFill>
                <a:latin typeface="Trebuchet MS"/>
                <a:cs typeface="Trebuchet MS"/>
              </a:rPr>
              <a:t>NY</a:t>
            </a:r>
            <a:r>
              <a:rPr sz="3200" b="1" spc="-2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120" dirty="0">
                <a:solidFill>
                  <a:srgbClr val="FF0000"/>
                </a:solidFill>
                <a:latin typeface="Trebuchet MS"/>
                <a:cs typeface="Trebuchet MS"/>
              </a:rPr>
              <a:t>Local</a:t>
            </a:r>
            <a:r>
              <a:rPr sz="3200" b="1" spc="-2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95" dirty="0">
                <a:solidFill>
                  <a:srgbClr val="FF0000"/>
                </a:solidFill>
                <a:latin typeface="Trebuchet MS"/>
                <a:cs typeface="Trebuchet MS"/>
              </a:rPr>
              <a:t>Law</a:t>
            </a:r>
            <a:r>
              <a:rPr sz="3200" b="1" spc="-2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165" dirty="0">
                <a:solidFill>
                  <a:srgbClr val="FF0000"/>
                </a:solidFill>
                <a:latin typeface="Trebuchet MS"/>
                <a:cs typeface="Trebuchet MS"/>
              </a:rPr>
              <a:t>144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3541" y="2451096"/>
            <a:ext cx="4556760" cy="111633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4270"/>
              </a:lnSpc>
              <a:spcBef>
                <a:spcPts val="245"/>
              </a:spcBef>
            </a:pPr>
            <a:r>
              <a:rPr sz="3600" spc="-50" dirty="0">
                <a:latin typeface="Trebuchet MS"/>
                <a:cs typeface="Trebuchet MS"/>
              </a:rPr>
              <a:t>How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60" dirty="0">
                <a:latin typeface="Trebuchet MS"/>
                <a:cs typeface="Trebuchet MS"/>
              </a:rPr>
              <a:t>can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70" dirty="0">
                <a:latin typeface="Trebuchet MS"/>
                <a:cs typeface="Trebuchet MS"/>
              </a:rPr>
              <a:t>we</a:t>
            </a:r>
            <a:r>
              <a:rPr sz="3600" spc="-350" dirty="0">
                <a:latin typeface="Trebuchet MS"/>
                <a:cs typeface="Trebuchet MS"/>
              </a:rPr>
              <a:t> </a:t>
            </a:r>
            <a:r>
              <a:rPr sz="3600" b="1" spc="-175" dirty="0">
                <a:solidFill>
                  <a:srgbClr val="FF0000"/>
                </a:solidFill>
                <a:latin typeface="Trebuchet MS"/>
                <a:cs typeface="Trebuchet MS"/>
              </a:rPr>
              <a:t>help</a:t>
            </a:r>
            <a:r>
              <a:rPr sz="3600" b="1" spc="-3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latin typeface="Trebuchet MS"/>
                <a:cs typeface="Trebuchet MS"/>
              </a:rPr>
              <a:t>María </a:t>
            </a:r>
            <a:r>
              <a:rPr sz="3600" spc="-114" dirty="0">
                <a:latin typeface="Trebuchet MS"/>
                <a:cs typeface="Trebuchet MS"/>
              </a:rPr>
              <a:t>address</a:t>
            </a:r>
            <a:r>
              <a:rPr sz="3600" spc="-325" dirty="0">
                <a:latin typeface="Trebuchet MS"/>
                <a:cs typeface="Trebuchet MS"/>
              </a:rPr>
              <a:t> </a:t>
            </a:r>
            <a:r>
              <a:rPr sz="3600" spc="-204" dirty="0">
                <a:latin typeface="Trebuchet MS"/>
                <a:cs typeface="Trebuchet MS"/>
              </a:rPr>
              <a:t>all</a:t>
            </a:r>
            <a:r>
              <a:rPr sz="3600" spc="-320" dirty="0">
                <a:latin typeface="Trebuchet MS"/>
                <a:cs typeface="Trebuchet MS"/>
              </a:rPr>
              <a:t> </a:t>
            </a:r>
            <a:r>
              <a:rPr sz="3600" spc="-135" dirty="0">
                <a:latin typeface="Trebuchet MS"/>
                <a:cs typeface="Trebuchet MS"/>
              </a:rPr>
              <a:t>these</a:t>
            </a:r>
            <a:r>
              <a:rPr sz="3600" spc="-320" dirty="0">
                <a:latin typeface="Trebuchet MS"/>
                <a:cs typeface="Trebuchet MS"/>
              </a:rPr>
              <a:t> </a:t>
            </a:r>
            <a:r>
              <a:rPr sz="3600" spc="-35" dirty="0">
                <a:latin typeface="Trebuchet MS"/>
                <a:cs typeface="Trebuchet MS"/>
              </a:rPr>
              <a:t>issues?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054" y="275163"/>
            <a:ext cx="16859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Trebuchet MS"/>
                <a:cs typeface="Trebuchet MS"/>
              </a:rPr>
              <a:t>Introducing…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8000" y="681563"/>
            <a:ext cx="62913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315" dirty="0" err="1">
                <a:latin typeface="Liberation Sans Narrow"/>
                <a:cs typeface="Liberation Sans Narrow"/>
              </a:rPr>
              <a:t>watson</a:t>
            </a:r>
            <a:r>
              <a:rPr sz="3600" b="1" spc="315" dirty="0" err="1">
                <a:solidFill>
                  <a:srgbClr val="0D62FE"/>
                </a:solidFill>
                <a:latin typeface="Liberation Sans Narrow"/>
                <a:cs typeface="Liberation Sans Narrow"/>
              </a:rPr>
              <a:t>x</a:t>
            </a:r>
            <a:r>
              <a:rPr sz="3600" b="1" spc="315" dirty="0" err="1">
                <a:latin typeface="Liberation Sans Narrow"/>
                <a:cs typeface="Liberation Sans Narrow"/>
              </a:rPr>
              <a:t>.governance</a:t>
            </a:r>
            <a:endParaRPr sz="3600" dirty="0">
              <a:latin typeface="Liberation Sans Narrow"/>
              <a:cs typeface="Liberation Sans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54" y="1358896"/>
            <a:ext cx="10659745" cy="3364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0" dirty="0">
                <a:latin typeface="Trebuchet MS"/>
                <a:cs typeface="Trebuchet MS"/>
              </a:rPr>
              <a:t>The</a:t>
            </a:r>
            <a:r>
              <a:rPr sz="1400" b="1" spc="-50" dirty="0"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0F62FE"/>
                </a:solidFill>
                <a:latin typeface="Trebuchet MS"/>
                <a:cs typeface="Trebuchet MS"/>
              </a:rPr>
              <a:t>Essentials</a:t>
            </a:r>
            <a:r>
              <a:rPr sz="1400" b="1" spc="-50" dirty="0">
                <a:solidFill>
                  <a:srgbClr val="0F62F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0F62FE"/>
                </a:solidFill>
                <a:latin typeface="Trebuchet MS"/>
                <a:cs typeface="Trebuchet MS"/>
              </a:rPr>
              <a:t>Cloud</a:t>
            </a:r>
            <a:r>
              <a:rPr sz="1400" b="1" spc="-50" dirty="0">
                <a:solidFill>
                  <a:srgbClr val="0F62F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0F62FE"/>
                </a:solidFill>
                <a:latin typeface="Trebuchet MS"/>
                <a:cs typeface="Trebuchet MS"/>
              </a:rPr>
              <a:t>Plan</a:t>
            </a:r>
            <a:r>
              <a:rPr sz="1400" b="1" spc="-45" dirty="0">
                <a:solidFill>
                  <a:srgbClr val="0F62FE"/>
                </a:solidFill>
                <a:latin typeface="Trebuchet MS"/>
                <a:cs typeface="Trebuchet MS"/>
              </a:rPr>
              <a:t> </a:t>
            </a:r>
            <a:r>
              <a:rPr sz="1400" b="1" spc="50" dirty="0">
                <a:solidFill>
                  <a:srgbClr val="0F62FE"/>
                </a:solidFill>
                <a:latin typeface="Trebuchet MS"/>
                <a:cs typeface="Trebuchet MS"/>
              </a:rPr>
              <a:t>-</a:t>
            </a:r>
            <a:r>
              <a:rPr sz="1400" b="1" spc="-45" dirty="0">
                <a:solidFill>
                  <a:srgbClr val="0F62F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One</a:t>
            </a:r>
            <a:r>
              <a:rPr sz="1400" b="1" spc="-50" dirty="0">
                <a:latin typeface="Trebuchet MS"/>
                <a:cs typeface="Trebuchet MS"/>
              </a:rPr>
              <a:t> </a:t>
            </a:r>
            <a:r>
              <a:rPr sz="1400" b="1" spc="-20" dirty="0">
                <a:latin typeface="Trebuchet MS"/>
                <a:cs typeface="Trebuchet MS"/>
              </a:rPr>
              <a:t>unified,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integrated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spc="140" dirty="0">
                <a:latin typeface="Trebuchet MS"/>
                <a:cs typeface="Trebuchet MS"/>
              </a:rPr>
              <a:t>AI</a:t>
            </a:r>
            <a:r>
              <a:rPr sz="1400" b="1" spc="-5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Governance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platform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to</a:t>
            </a:r>
            <a:r>
              <a:rPr sz="1400" b="1" spc="-5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govern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Generative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spc="140" dirty="0">
                <a:latin typeface="Trebuchet MS"/>
                <a:cs typeface="Trebuchet MS"/>
              </a:rPr>
              <a:t>AI</a:t>
            </a:r>
            <a:r>
              <a:rPr sz="1400" b="1" spc="-5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and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Predictive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spc="-25" dirty="0">
                <a:latin typeface="Trebuchet MS"/>
                <a:cs typeface="Trebuchet MS"/>
              </a:rPr>
              <a:t>ML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400" dirty="0">
              <a:latin typeface="Trebuchet MS"/>
              <a:cs typeface="Trebuchet MS"/>
            </a:endParaRPr>
          </a:p>
          <a:p>
            <a:pPr marL="1612900">
              <a:lnSpc>
                <a:spcPct val="100000"/>
              </a:lnSpc>
            </a:pPr>
            <a:r>
              <a:rPr sz="1750" spc="-55" dirty="0">
                <a:solidFill>
                  <a:srgbClr val="0F62FE"/>
                </a:solidFill>
                <a:latin typeface="Verdana"/>
                <a:cs typeface="Verdana"/>
              </a:rPr>
              <a:t>Monitoring</a:t>
            </a:r>
            <a:r>
              <a:rPr sz="1750" spc="-120" dirty="0">
                <a:solidFill>
                  <a:srgbClr val="0F62FE"/>
                </a:solidFill>
                <a:latin typeface="Verdana"/>
                <a:cs typeface="Verdana"/>
              </a:rPr>
              <a:t> </a:t>
            </a:r>
            <a:r>
              <a:rPr sz="1750" spc="-70" dirty="0">
                <a:solidFill>
                  <a:srgbClr val="0F62FE"/>
                </a:solidFill>
                <a:latin typeface="Verdana"/>
                <a:cs typeface="Verdana"/>
              </a:rPr>
              <a:t>and</a:t>
            </a:r>
            <a:r>
              <a:rPr sz="1750" spc="-110" dirty="0">
                <a:solidFill>
                  <a:srgbClr val="0F62FE"/>
                </a:solidFill>
                <a:latin typeface="Verdana"/>
                <a:cs typeface="Verdana"/>
              </a:rPr>
              <a:t> </a:t>
            </a:r>
            <a:r>
              <a:rPr sz="1750" spc="-10" dirty="0">
                <a:solidFill>
                  <a:srgbClr val="0F62FE"/>
                </a:solidFill>
                <a:latin typeface="Verdana"/>
                <a:cs typeface="Verdana"/>
              </a:rPr>
              <a:t>alerts</a:t>
            </a:r>
            <a:endParaRPr sz="1750" dirty="0">
              <a:latin typeface="Verdana"/>
              <a:cs typeface="Verdana"/>
            </a:endParaRPr>
          </a:p>
          <a:p>
            <a:pPr marL="1612900">
              <a:lnSpc>
                <a:spcPct val="100000"/>
              </a:lnSpc>
              <a:spcBef>
                <a:spcPts val="85"/>
              </a:spcBef>
            </a:pPr>
            <a:r>
              <a:rPr sz="1800" spc="-140" dirty="0">
                <a:latin typeface="Verdana"/>
                <a:cs typeface="Verdana"/>
              </a:rPr>
              <a:t>Get</a:t>
            </a:r>
            <a:r>
              <a:rPr sz="1800" spc="-17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alerts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when</a:t>
            </a:r>
            <a:r>
              <a:rPr sz="1800" spc="-170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LLM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thresholds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30" dirty="0">
                <a:latin typeface="Verdana"/>
                <a:cs typeface="Verdana"/>
              </a:rPr>
              <a:t>are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breached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 dirty="0">
              <a:latin typeface="Verdana"/>
              <a:cs typeface="Verdana"/>
            </a:endParaRPr>
          </a:p>
          <a:p>
            <a:pPr marL="1612900">
              <a:lnSpc>
                <a:spcPct val="100000"/>
              </a:lnSpc>
            </a:pPr>
            <a:r>
              <a:rPr sz="1750" spc="-50" dirty="0">
                <a:solidFill>
                  <a:srgbClr val="0F62FE"/>
                </a:solidFill>
                <a:latin typeface="Verdana"/>
                <a:cs typeface="Verdana"/>
              </a:rPr>
              <a:t>AI</a:t>
            </a:r>
            <a:r>
              <a:rPr sz="1750" spc="-145" dirty="0">
                <a:solidFill>
                  <a:srgbClr val="0F62FE"/>
                </a:solidFill>
                <a:latin typeface="Verdana"/>
                <a:cs typeface="Verdana"/>
              </a:rPr>
              <a:t> </a:t>
            </a:r>
            <a:r>
              <a:rPr sz="1750" spc="-10" dirty="0">
                <a:solidFill>
                  <a:srgbClr val="0F62FE"/>
                </a:solidFill>
                <a:latin typeface="Verdana"/>
                <a:cs typeface="Verdana"/>
              </a:rPr>
              <a:t>Transparency</a:t>
            </a:r>
            <a:endParaRPr sz="1750" dirty="0">
              <a:latin typeface="Verdana"/>
              <a:cs typeface="Verdana"/>
            </a:endParaRPr>
          </a:p>
          <a:p>
            <a:pPr marL="1612900">
              <a:lnSpc>
                <a:spcPct val="100000"/>
              </a:lnSpc>
              <a:spcBef>
                <a:spcPts val="85"/>
              </a:spcBef>
            </a:pPr>
            <a:r>
              <a:rPr sz="1800" spc="-135" dirty="0">
                <a:latin typeface="Verdana"/>
                <a:cs typeface="Verdana"/>
              </a:rPr>
              <a:t>Capture</a:t>
            </a:r>
            <a:r>
              <a:rPr sz="1800" spc="-175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model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metadata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automatically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while</a:t>
            </a:r>
            <a:r>
              <a:rPr sz="1800" spc="-17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tracking</a:t>
            </a:r>
            <a:r>
              <a:rPr sz="1800" spc="-17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AI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Lifecycle,</a:t>
            </a:r>
            <a:r>
              <a:rPr sz="1800" spc="-17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model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health,</a:t>
            </a:r>
            <a:r>
              <a:rPr sz="1800" spc="-175" dirty="0">
                <a:latin typeface="Verdana"/>
                <a:cs typeface="Verdana"/>
              </a:rPr>
              <a:t> </a:t>
            </a:r>
            <a:r>
              <a:rPr sz="1800" spc="-130" dirty="0">
                <a:latin typeface="Verdana"/>
                <a:cs typeface="Verdana"/>
              </a:rPr>
              <a:t>and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drift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Verdana"/>
              <a:cs typeface="Verdana"/>
            </a:endParaRPr>
          </a:p>
          <a:p>
            <a:pPr marL="1612900">
              <a:lnSpc>
                <a:spcPct val="100000"/>
              </a:lnSpc>
            </a:pPr>
            <a:r>
              <a:rPr sz="1750" spc="-55" dirty="0">
                <a:solidFill>
                  <a:srgbClr val="0F62FE"/>
                </a:solidFill>
                <a:latin typeface="Verdana"/>
                <a:cs typeface="Verdana"/>
              </a:rPr>
              <a:t>Monitor</a:t>
            </a:r>
            <a:r>
              <a:rPr sz="1750" spc="-125" dirty="0">
                <a:solidFill>
                  <a:srgbClr val="0F62FE"/>
                </a:solidFill>
                <a:latin typeface="Verdana"/>
                <a:cs typeface="Verdana"/>
              </a:rPr>
              <a:t> </a:t>
            </a:r>
            <a:r>
              <a:rPr sz="1750" spc="-60" dirty="0">
                <a:solidFill>
                  <a:srgbClr val="0F62FE"/>
                </a:solidFill>
                <a:latin typeface="Verdana"/>
                <a:cs typeface="Verdana"/>
              </a:rPr>
              <a:t>both</a:t>
            </a:r>
            <a:r>
              <a:rPr sz="1750" spc="-114" dirty="0">
                <a:solidFill>
                  <a:srgbClr val="0F62FE"/>
                </a:solidFill>
                <a:latin typeface="Verdana"/>
                <a:cs typeface="Verdana"/>
              </a:rPr>
              <a:t> </a:t>
            </a:r>
            <a:r>
              <a:rPr sz="1750" spc="-50" dirty="0">
                <a:solidFill>
                  <a:srgbClr val="0F62FE"/>
                </a:solidFill>
                <a:latin typeface="Verdana"/>
                <a:cs typeface="Verdana"/>
              </a:rPr>
              <a:t>LLMs</a:t>
            </a:r>
            <a:r>
              <a:rPr sz="1750" spc="-114" dirty="0">
                <a:solidFill>
                  <a:srgbClr val="0F62FE"/>
                </a:solidFill>
                <a:latin typeface="Verdana"/>
                <a:cs typeface="Verdana"/>
              </a:rPr>
              <a:t> </a:t>
            </a:r>
            <a:r>
              <a:rPr sz="1750" spc="-70" dirty="0">
                <a:solidFill>
                  <a:srgbClr val="0F62FE"/>
                </a:solidFill>
                <a:latin typeface="Verdana"/>
                <a:cs typeface="Verdana"/>
              </a:rPr>
              <a:t>and</a:t>
            </a:r>
            <a:r>
              <a:rPr sz="1750" spc="-110" dirty="0">
                <a:solidFill>
                  <a:srgbClr val="0F62FE"/>
                </a:solidFill>
                <a:latin typeface="Verdana"/>
                <a:cs typeface="Verdana"/>
              </a:rPr>
              <a:t> </a:t>
            </a:r>
            <a:r>
              <a:rPr sz="1750" spc="-40" dirty="0">
                <a:solidFill>
                  <a:srgbClr val="0F62FE"/>
                </a:solidFill>
                <a:latin typeface="Verdana"/>
                <a:cs typeface="Verdana"/>
              </a:rPr>
              <a:t>Predictive</a:t>
            </a:r>
            <a:r>
              <a:rPr sz="1750" spc="-114" dirty="0">
                <a:solidFill>
                  <a:srgbClr val="0F62FE"/>
                </a:solidFill>
                <a:latin typeface="Verdana"/>
                <a:cs typeface="Verdana"/>
              </a:rPr>
              <a:t> </a:t>
            </a:r>
            <a:r>
              <a:rPr sz="1750" spc="-25" dirty="0">
                <a:solidFill>
                  <a:srgbClr val="0F62FE"/>
                </a:solidFill>
                <a:latin typeface="Verdana"/>
                <a:cs typeface="Verdana"/>
              </a:rPr>
              <a:t>ML</a:t>
            </a:r>
            <a:endParaRPr sz="1750" dirty="0">
              <a:latin typeface="Verdana"/>
              <a:cs typeface="Verdana"/>
            </a:endParaRPr>
          </a:p>
          <a:p>
            <a:pPr marL="1612900">
              <a:lnSpc>
                <a:spcPct val="100000"/>
              </a:lnSpc>
              <a:spcBef>
                <a:spcPts val="85"/>
              </a:spcBef>
            </a:pPr>
            <a:r>
              <a:rPr sz="1800" spc="-105" dirty="0">
                <a:latin typeface="Verdana"/>
                <a:cs typeface="Verdana"/>
              </a:rPr>
              <a:t>Use</a:t>
            </a:r>
            <a:r>
              <a:rPr sz="1800" spc="-17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a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single</a:t>
            </a:r>
            <a:r>
              <a:rPr sz="1800" spc="-17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plan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120" dirty="0">
                <a:latin typeface="Verdana"/>
                <a:cs typeface="Verdana"/>
              </a:rPr>
              <a:t>with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simple</a:t>
            </a:r>
            <a:r>
              <a:rPr sz="1800" spc="-170" dirty="0">
                <a:latin typeface="Verdana"/>
                <a:cs typeface="Verdana"/>
              </a:rPr>
              <a:t> </a:t>
            </a:r>
            <a:r>
              <a:rPr sz="1800" spc="-120" dirty="0">
                <a:latin typeface="Verdana"/>
                <a:cs typeface="Verdana"/>
              </a:rPr>
              <a:t>consumption-</a:t>
            </a:r>
            <a:r>
              <a:rPr sz="1800" spc="-110" dirty="0">
                <a:latin typeface="Verdana"/>
                <a:cs typeface="Verdana"/>
              </a:rPr>
              <a:t>based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pricing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4805" y="3107194"/>
            <a:ext cx="488315" cy="526415"/>
          </a:xfrm>
          <a:custGeom>
            <a:avLst/>
            <a:gdLst/>
            <a:ahLst/>
            <a:cxnLst/>
            <a:rect l="l" t="t" r="r" b="b"/>
            <a:pathLst>
              <a:path w="488315" h="526414">
                <a:moveTo>
                  <a:pt x="347713" y="0"/>
                </a:moveTo>
                <a:lnTo>
                  <a:pt x="157237" y="0"/>
                </a:lnTo>
                <a:lnTo>
                  <a:pt x="157237" y="13715"/>
                </a:lnTo>
                <a:lnTo>
                  <a:pt x="347713" y="13715"/>
                </a:lnTo>
                <a:lnTo>
                  <a:pt x="347713" y="0"/>
                </a:lnTo>
                <a:close/>
              </a:path>
              <a:path w="488315" h="526414">
                <a:moveTo>
                  <a:pt x="125999" y="44958"/>
                </a:moveTo>
                <a:lnTo>
                  <a:pt x="112285" y="44958"/>
                </a:lnTo>
                <a:lnTo>
                  <a:pt x="112285" y="235432"/>
                </a:lnTo>
                <a:lnTo>
                  <a:pt x="125999" y="235432"/>
                </a:lnTo>
                <a:lnTo>
                  <a:pt x="125999" y="44958"/>
                </a:lnTo>
                <a:close/>
              </a:path>
              <a:path w="488315" h="526414">
                <a:moveTo>
                  <a:pt x="392682" y="44958"/>
                </a:moveTo>
                <a:lnTo>
                  <a:pt x="378954" y="44958"/>
                </a:lnTo>
                <a:lnTo>
                  <a:pt x="378954" y="235432"/>
                </a:lnTo>
                <a:lnTo>
                  <a:pt x="392670" y="235432"/>
                </a:lnTo>
                <a:lnTo>
                  <a:pt x="392682" y="44958"/>
                </a:lnTo>
                <a:close/>
              </a:path>
              <a:path w="488315" h="526414">
                <a:moveTo>
                  <a:pt x="347713" y="266661"/>
                </a:moveTo>
                <a:lnTo>
                  <a:pt x="157237" y="266661"/>
                </a:lnTo>
                <a:lnTo>
                  <a:pt x="157237" y="280377"/>
                </a:lnTo>
                <a:lnTo>
                  <a:pt x="347713" y="280377"/>
                </a:lnTo>
                <a:lnTo>
                  <a:pt x="347713" y="266661"/>
                </a:lnTo>
                <a:close/>
              </a:path>
              <a:path w="488315" h="526414">
                <a:moveTo>
                  <a:pt x="309770" y="361734"/>
                </a:moveTo>
                <a:lnTo>
                  <a:pt x="162152" y="361734"/>
                </a:lnTo>
                <a:lnTo>
                  <a:pt x="122357" y="369363"/>
                </a:lnTo>
                <a:lnTo>
                  <a:pt x="89309" y="390323"/>
                </a:lnTo>
                <a:lnTo>
                  <a:pt x="66040" y="421725"/>
                </a:lnTo>
                <a:lnTo>
                  <a:pt x="55581" y="460679"/>
                </a:lnTo>
                <a:lnTo>
                  <a:pt x="0" y="516280"/>
                </a:lnTo>
                <a:lnTo>
                  <a:pt x="9695" y="525995"/>
                </a:lnTo>
                <a:lnTo>
                  <a:pt x="69009" y="466686"/>
                </a:lnTo>
                <a:lnTo>
                  <a:pt x="69123" y="464032"/>
                </a:lnTo>
                <a:lnTo>
                  <a:pt x="77675" y="429239"/>
                </a:lnTo>
                <a:lnTo>
                  <a:pt x="97883" y="401121"/>
                </a:lnTo>
                <a:lnTo>
                  <a:pt x="126972" y="382317"/>
                </a:lnTo>
                <a:lnTo>
                  <a:pt x="162171" y="375462"/>
                </a:lnTo>
                <a:lnTo>
                  <a:pt x="332182" y="375412"/>
                </a:lnTo>
                <a:lnTo>
                  <a:pt x="328079" y="369330"/>
                </a:lnTo>
                <a:lnTo>
                  <a:pt x="319844" y="363773"/>
                </a:lnTo>
                <a:lnTo>
                  <a:pt x="309770" y="361734"/>
                </a:lnTo>
                <a:close/>
              </a:path>
              <a:path w="488315" h="526414">
                <a:moveTo>
                  <a:pt x="481436" y="318476"/>
                </a:moveTo>
                <a:lnTo>
                  <a:pt x="454257" y="318476"/>
                </a:lnTo>
                <a:lnTo>
                  <a:pt x="461885" y="319900"/>
                </a:lnTo>
                <a:lnTo>
                  <a:pt x="468450" y="324167"/>
                </a:lnTo>
                <a:lnTo>
                  <a:pt x="472260" y="327964"/>
                </a:lnTo>
                <a:lnTo>
                  <a:pt x="474343" y="332993"/>
                </a:lnTo>
                <a:lnTo>
                  <a:pt x="474343" y="343712"/>
                </a:lnTo>
                <a:lnTo>
                  <a:pt x="472222" y="348767"/>
                </a:lnTo>
                <a:lnTo>
                  <a:pt x="347351" y="473659"/>
                </a:lnTo>
                <a:lnTo>
                  <a:pt x="340894" y="476821"/>
                </a:lnTo>
                <a:lnTo>
                  <a:pt x="192285" y="495414"/>
                </a:lnTo>
                <a:lnTo>
                  <a:pt x="171485" y="516305"/>
                </a:lnTo>
                <a:lnTo>
                  <a:pt x="181199" y="525983"/>
                </a:lnTo>
                <a:lnTo>
                  <a:pt x="198666" y="508444"/>
                </a:lnTo>
                <a:lnTo>
                  <a:pt x="335770" y="491312"/>
                </a:lnTo>
                <a:lnTo>
                  <a:pt x="478153" y="362292"/>
                </a:lnTo>
                <a:lnTo>
                  <a:pt x="488059" y="338378"/>
                </a:lnTo>
                <a:lnTo>
                  <a:pt x="487408" y="331726"/>
                </a:lnTo>
                <a:lnTo>
                  <a:pt x="485497" y="325429"/>
                </a:lnTo>
                <a:lnTo>
                  <a:pt x="482391" y="319635"/>
                </a:lnTo>
                <a:lnTo>
                  <a:pt x="481436" y="318476"/>
                </a:lnTo>
                <a:close/>
              </a:path>
              <a:path w="488315" h="526414">
                <a:moveTo>
                  <a:pt x="332182" y="375412"/>
                </a:moveTo>
                <a:lnTo>
                  <a:pt x="316475" y="375412"/>
                </a:lnTo>
                <a:lnTo>
                  <a:pt x="321941" y="380873"/>
                </a:lnTo>
                <a:lnTo>
                  <a:pt x="321936" y="387642"/>
                </a:lnTo>
                <a:lnTo>
                  <a:pt x="319485" y="399759"/>
                </a:lnTo>
                <a:lnTo>
                  <a:pt x="312791" y="409682"/>
                </a:lnTo>
                <a:lnTo>
                  <a:pt x="302873" y="416377"/>
                </a:lnTo>
                <a:lnTo>
                  <a:pt x="290742" y="418833"/>
                </a:lnTo>
                <a:lnTo>
                  <a:pt x="195484" y="418833"/>
                </a:lnTo>
                <a:lnTo>
                  <a:pt x="195484" y="432574"/>
                </a:lnTo>
                <a:lnTo>
                  <a:pt x="290742" y="432574"/>
                </a:lnTo>
                <a:lnTo>
                  <a:pt x="298649" y="431875"/>
                </a:lnTo>
                <a:lnTo>
                  <a:pt x="306113" y="429860"/>
                </a:lnTo>
                <a:lnTo>
                  <a:pt x="313006" y="426648"/>
                </a:lnTo>
                <a:lnTo>
                  <a:pt x="319180" y="422376"/>
                </a:lnTo>
                <a:lnTo>
                  <a:pt x="357173" y="391528"/>
                </a:lnTo>
                <a:lnTo>
                  <a:pt x="335503" y="391528"/>
                </a:lnTo>
                <a:lnTo>
                  <a:pt x="335617" y="390245"/>
                </a:lnTo>
                <a:lnTo>
                  <a:pt x="335669" y="387616"/>
                </a:lnTo>
                <a:lnTo>
                  <a:pt x="333636" y="377566"/>
                </a:lnTo>
                <a:lnTo>
                  <a:pt x="332182" y="375412"/>
                </a:lnTo>
                <a:close/>
              </a:path>
              <a:path w="488315" h="526414">
                <a:moveTo>
                  <a:pt x="454134" y="305030"/>
                </a:moveTo>
                <a:lnTo>
                  <a:pt x="441427" y="307308"/>
                </a:lnTo>
                <a:lnTo>
                  <a:pt x="430897" y="314020"/>
                </a:lnTo>
                <a:lnTo>
                  <a:pt x="335503" y="391528"/>
                </a:lnTo>
                <a:lnTo>
                  <a:pt x="357173" y="391528"/>
                </a:lnTo>
                <a:lnTo>
                  <a:pt x="440053" y="324167"/>
                </a:lnTo>
                <a:lnTo>
                  <a:pt x="446651" y="319897"/>
                </a:lnTo>
                <a:lnTo>
                  <a:pt x="454257" y="318476"/>
                </a:lnTo>
                <a:lnTo>
                  <a:pt x="481436" y="318476"/>
                </a:lnTo>
                <a:lnTo>
                  <a:pt x="478153" y="314490"/>
                </a:lnTo>
                <a:lnTo>
                  <a:pt x="467037" y="307364"/>
                </a:lnTo>
                <a:lnTo>
                  <a:pt x="454134" y="305030"/>
                </a:lnTo>
                <a:close/>
              </a:path>
            </a:pathLst>
          </a:custGeom>
          <a:solidFill>
            <a:srgbClr val="0F62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4710" y="1935492"/>
            <a:ext cx="565150" cy="575945"/>
          </a:xfrm>
          <a:custGeom>
            <a:avLst/>
            <a:gdLst/>
            <a:ahLst/>
            <a:cxnLst/>
            <a:rect l="l" t="t" r="r" b="b"/>
            <a:pathLst>
              <a:path w="565150" h="575944">
                <a:moveTo>
                  <a:pt x="500508" y="488162"/>
                </a:moveTo>
                <a:lnTo>
                  <a:pt x="482853" y="488162"/>
                </a:lnTo>
                <a:lnTo>
                  <a:pt x="553923" y="575754"/>
                </a:lnTo>
                <a:lnTo>
                  <a:pt x="564553" y="567105"/>
                </a:lnTo>
                <a:lnTo>
                  <a:pt x="500508" y="488162"/>
                </a:lnTo>
                <a:close/>
              </a:path>
              <a:path w="565150" h="575944">
                <a:moveTo>
                  <a:pt x="166094" y="476186"/>
                </a:moveTo>
                <a:lnTo>
                  <a:pt x="152380" y="476186"/>
                </a:lnTo>
                <a:lnTo>
                  <a:pt x="152380" y="552373"/>
                </a:lnTo>
                <a:lnTo>
                  <a:pt x="166094" y="552373"/>
                </a:lnTo>
                <a:lnTo>
                  <a:pt x="166094" y="476186"/>
                </a:lnTo>
                <a:close/>
              </a:path>
              <a:path w="565150" h="575944">
                <a:moveTo>
                  <a:pt x="349713" y="145503"/>
                </a:moveTo>
                <a:lnTo>
                  <a:pt x="304524" y="150734"/>
                </a:lnTo>
                <a:lnTo>
                  <a:pt x="263012" y="165609"/>
                </a:lnTo>
                <a:lnTo>
                  <a:pt x="226369" y="188933"/>
                </a:lnTo>
                <a:lnTo>
                  <a:pt x="195790" y="219515"/>
                </a:lnTo>
                <a:lnTo>
                  <a:pt x="172470" y="256159"/>
                </a:lnTo>
                <a:lnTo>
                  <a:pt x="157602" y="297672"/>
                </a:lnTo>
                <a:lnTo>
                  <a:pt x="152380" y="342861"/>
                </a:lnTo>
                <a:lnTo>
                  <a:pt x="157601" y="388054"/>
                </a:lnTo>
                <a:lnTo>
                  <a:pt x="172466" y="429569"/>
                </a:lnTo>
                <a:lnTo>
                  <a:pt x="195784" y="466211"/>
                </a:lnTo>
                <a:lnTo>
                  <a:pt x="226361" y="496789"/>
                </a:lnTo>
                <a:lnTo>
                  <a:pt x="263003" y="520107"/>
                </a:lnTo>
                <a:lnTo>
                  <a:pt x="304518" y="534973"/>
                </a:lnTo>
                <a:lnTo>
                  <a:pt x="349713" y="540194"/>
                </a:lnTo>
                <a:lnTo>
                  <a:pt x="386387" y="536774"/>
                </a:lnTo>
                <a:lnTo>
                  <a:pt x="421262" y="526737"/>
                </a:lnTo>
                <a:lnTo>
                  <a:pt x="421776" y="526478"/>
                </a:lnTo>
                <a:lnTo>
                  <a:pt x="349713" y="526478"/>
                </a:lnTo>
                <a:lnTo>
                  <a:pt x="300960" y="519907"/>
                </a:lnTo>
                <a:lnTo>
                  <a:pt x="257113" y="501370"/>
                </a:lnTo>
                <a:lnTo>
                  <a:pt x="219939" y="472632"/>
                </a:lnTo>
                <a:lnTo>
                  <a:pt x="191202" y="435458"/>
                </a:lnTo>
                <a:lnTo>
                  <a:pt x="172665" y="391613"/>
                </a:lnTo>
                <a:lnTo>
                  <a:pt x="166097" y="342836"/>
                </a:lnTo>
                <a:lnTo>
                  <a:pt x="172665" y="294106"/>
                </a:lnTo>
                <a:lnTo>
                  <a:pt x="191202" y="250260"/>
                </a:lnTo>
                <a:lnTo>
                  <a:pt x="219939" y="213086"/>
                </a:lnTo>
                <a:lnTo>
                  <a:pt x="257113" y="184350"/>
                </a:lnTo>
                <a:lnTo>
                  <a:pt x="300960" y="165815"/>
                </a:lnTo>
                <a:lnTo>
                  <a:pt x="349713" y="159245"/>
                </a:lnTo>
                <a:lnTo>
                  <a:pt x="418700" y="159245"/>
                </a:lnTo>
                <a:lnTo>
                  <a:pt x="394908" y="150725"/>
                </a:lnTo>
                <a:lnTo>
                  <a:pt x="349713" y="145503"/>
                </a:lnTo>
                <a:close/>
              </a:path>
              <a:path w="565150" h="575944">
                <a:moveTo>
                  <a:pt x="418700" y="159245"/>
                </a:moveTo>
                <a:lnTo>
                  <a:pt x="349713" y="159245"/>
                </a:lnTo>
                <a:lnTo>
                  <a:pt x="398467" y="165815"/>
                </a:lnTo>
                <a:lnTo>
                  <a:pt x="442314" y="184350"/>
                </a:lnTo>
                <a:lnTo>
                  <a:pt x="479489" y="213086"/>
                </a:lnTo>
                <a:lnTo>
                  <a:pt x="508227" y="250260"/>
                </a:lnTo>
                <a:lnTo>
                  <a:pt x="526765" y="294106"/>
                </a:lnTo>
                <a:lnTo>
                  <a:pt x="533336" y="342861"/>
                </a:lnTo>
                <a:lnTo>
                  <a:pt x="529808" y="378939"/>
                </a:lnTo>
                <a:lnTo>
                  <a:pt x="502577" y="444635"/>
                </a:lnTo>
                <a:lnTo>
                  <a:pt x="451497" y="495719"/>
                </a:lnTo>
                <a:lnTo>
                  <a:pt x="385791" y="522951"/>
                </a:lnTo>
                <a:lnTo>
                  <a:pt x="349713" y="526478"/>
                </a:lnTo>
                <a:lnTo>
                  <a:pt x="421776" y="526478"/>
                </a:lnTo>
                <a:lnTo>
                  <a:pt x="453648" y="510421"/>
                </a:lnTo>
                <a:lnTo>
                  <a:pt x="482853" y="488162"/>
                </a:lnTo>
                <a:lnTo>
                  <a:pt x="500508" y="488162"/>
                </a:lnTo>
                <a:lnTo>
                  <a:pt x="492709" y="478548"/>
                </a:lnTo>
                <a:lnTo>
                  <a:pt x="515961" y="448960"/>
                </a:lnTo>
                <a:lnTo>
                  <a:pt x="533001" y="415978"/>
                </a:lnTo>
                <a:lnTo>
                  <a:pt x="543481" y="380354"/>
                </a:lnTo>
                <a:lnTo>
                  <a:pt x="547052" y="342836"/>
                </a:lnTo>
                <a:lnTo>
                  <a:pt x="541831" y="297647"/>
                </a:lnTo>
                <a:lnTo>
                  <a:pt x="526965" y="256134"/>
                </a:lnTo>
                <a:lnTo>
                  <a:pt x="503646" y="219491"/>
                </a:lnTo>
                <a:lnTo>
                  <a:pt x="473068" y="188913"/>
                </a:lnTo>
                <a:lnTo>
                  <a:pt x="436425" y="165593"/>
                </a:lnTo>
                <a:lnTo>
                  <a:pt x="418700" y="159245"/>
                </a:lnTo>
                <a:close/>
              </a:path>
              <a:path w="565150" h="575944">
                <a:moveTo>
                  <a:pt x="295922" y="270065"/>
                </a:moveTo>
                <a:lnTo>
                  <a:pt x="278056" y="270065"/>
                </a:lnTo>
                <a:lnTo>
                  <a:pt x="270361" y="271792"/>
                </a:lnTo>
                <a:lnTo>
                  <a:pt x="242573" y="300736"/>
                </a:lnTo>
                <a:lnTo>
                  <a:pt x="235971" y="350824"/>
                </a:lnTo>
                <a:lnTo>
                  <a:pt x="236048" y="354480"/>
                </a:lnTo>
                <a:lnTo>
                  <a:pt x="243828" y="395033"/>
                </a:lnTo>
                <a:lnTo>
                  <a:pt x="278056" y="421347"/>
                </a:lnTo>
                <a:lnTo>
                  <a:pt x="295922" y="421347"/>
                </a:lnTo>
                <a:lnTo>
                  <a:pt x="303617" y="419633"/>
                </a:lnTo>
                <a:lnTo>
                  <a:pt x="316483" y="412775"/>
                </a:lnTo>
                <a:lnTo>
                  <a:pt x="321779" y="407873"/>
                </a:lnTo>
                <a:lnTo>
                  <a:pt x="322960" y="406057"/>
                </a:lnTo>
                <a:lnTo>
                  <a:pt x="281123" y="406057"/>
                </a:lnTo>
                <a:lnTo>
                  <a:pt x="276071" y="404901"/>
                </a:lnTo>
                <a:lnTo>
                  <a:pt x="254727" y="371716"/>
                </a:lnTo>
                <a:lnTo>
                  <a:pt x="254093" y="365048"/>
                </a:lnTo>
                <a:lnTo>
                  <a:pt x="254093" y="326491"/>
                </a:lnTo>
                <a:lnTo>
                  <a:pt x="276094" y="286512"/>
                </a:lnTo>
                <a:lnTo>
                  <a:pt x="281123" y="285356"/>
                </a:lnTo>
                <a:lnTo>
                  <a:pt x="322967" y="285356"/>
                </a:lnTo>
                <a:lnTo>
                  <a:pt x="321788" y="283540"/>
                </a:lnTo>
                <a:lnTo>
                  <a:pt x="316432" y="278612"/>
                </a:lnTo>
                <a:lnTo>
                  <a:pt x="303617" y="271767"/>
                </a:lnTo>
                <a:lnTo>
                  <a:pt x="295922" y="270065"/>
                </a:lnTo>
                <a:close/>
              </a:path>
              <a:path w="565150" h="575944">
                <a:moveTo>
                  <a:pt x="426935" y="285584"/>
                </a:moveTo>
                <a:lnTo>
                  <a:pt x="409351" y="285584"/>
                </a:lnTo>
                <a:lnTo>
                  <a:pt x="409351" y="403529"/>
                </a:lnTo>
                <a:lnTo>
                  <a:pt x="367446" y="403529"/>
                </a:lnTo>
                <a:lnTo>
                  <a:pt x="367446" y="418858"/>
                </a:lnTo>
                <a:lnTo>
                  <a:pt x="465467" y="418858"/>
                </a:lnTo>
                <a:lnTo>
                  <a:pt x="465467" y="403542"/>
                </a:lnTo>
                <a:lnTo>
                  <a:pt x="426935" y="403542"/>
                </a:lnTo>
                <a:lnTo>
                  <a:pt x="426935" y="285584"/>
                </a:lnTo>
                <a:close/>
              </a:path>
              <a:path w="565150" h="575944">
                <a:moveTo>
                  <a:pt x="322967" y="285356"/>
                </a:moveTo>
                <a:lnTo>
                  <a:pt x="292855" y="285356"/>
                </a:lnTo>
                <a:lnTo>
                  <a:pt x="297907" y="286512"/>
                </a:lnTo>
                <a:lnTo>
                  <a:pt x="306284" y="291109"/>
                </a:lnTo>
                <a:lnTo>
                  <a:pt x="319904" y="326491"/>
                </a:lnTo>
                <a:lnTo>
                  <a:pt x="319904" y="365048"/>
                </a:lnTo>
                <a:lnTo>
                  <a:pt x="297884" y="404901"/>
                </a:lnTo>
                <a:lnTo>
                  <a:pt x="292855" y="406057"/>
                </a:lnTo>
                <a:lnTo>
                  <a:pt x="322960" y="406057"/>
                </a:lnTo>
                <a:lnTo>
                  <a:pt x="337363" y="362740"/>
                </a:lnTo>
                <a:lnTo>
                  <a:pt x="337987" y="350824"/>
                </a:lnTo>
                <a:lnTo>
                  <a:pt x="337914" y="337042"/>
                </a:lnTo>
                <a:lnTo>
                  <a:pt x="328893" y="295060"/>
                </a:lnTo>
                <a:lnTo>
                  <a:pt x="325960" y="289966"/>
                </a:lnTo>
                <a:lnTo>
                  <a:pt x="322967" y="285356"/>
                </a:lnTo>
                <a:close/>
              </a:path>
              <a:path w="565150" h="575944">
                <a:moveTo>
                  <a:pt x="291885" y="333387"/>
                </a:moveTo>
                <a:lnTo>
                  <a:pt x="282113" y="333387"/>
                </a:lnTo>
                <a:lnTo>
                  <a:pt x="278723" y="334340"/>
                </a:lnTo>
                <a:lnTo>
                  <a:pt x="274951" y="338264"/>
                </a:lnTo>
                <a:lnTo>
                  <a:pt x="274017" y="340652"/>
                </a:lnTo>
                <a:lnTo>
                  <a:pt x="274017" y="350824"/>
                </a:lnTo>
                <a:lnTo>
                  <a:pt x="274951" y="353199"/>
                </a:lnTo>
                <a:lnTo>
                  <a:pt x="278723" y="357098"/>
                </a:lnTo>
                <a:lnTo>
                  <a:pt x="282113" y="358076"/>
                </a:lnTo>
                <a:lnTo>
                  <a:pt x="291866" y="358076"/>
                </a:lnTo>
                <a:lnTo>
                  <a:pt x="295255" y="357098"/>
                </a:lnTo>
                <a:lnTo>
                  <a:pt x="299046" y="353199"/>
                </a:lnTo>
                <a:lnTo>
                  <a:pt x="299980" y="350824"/>
                </a:lnTo>
                <a:lnTo>
                  <a:pt x="299980" y="340652"/>
                </a:lnTo>
                <a:lnTo>
                  <a:pt x="299046" y="338251"/>
                </a:lnTo>
                <a:lnTo>
                  <a:pt x="295275" y="334365"/>
                </a:lnTo>
                <a:lnTo>
                  <a:pt x="291885" y="333387"/>
                </a:lnTo>
                <a:close/>
              </a:path>
              <a:path w="565150" h="575944">
                <a:moveTo>
                  <a:pt x="426935" y="272592"/>
                </a:moveTo>
                <a:lnTo>
                  <a:pt x="399484" y="272592"/>
                </a:lnTo>
                <a:lnTo>
                  <a:pt x="360723" y="308851"/>
                </a:lnTo>
                <a:lnTo>
                  <a:pt x="370989" y="319951"/>
                </a:lnTo>
                <a:lnTo>
                  <a:pt x="407884" y="285584"/>
                </a:lnTo>
                <a:lnTo>
                  <a:pt x="426935" y="285584"/>
                </a:lnTo>
                <a:lnTo>
                  <a:pt x="426935" y="272592"/>
                </a:lnTo>
                <a:close/>
              </a:path>
              <a:path w="565150" h="575944">
                <a:moveTo>
                  <a:pt x="166094" y="57137"/>
                </a:moveTo>
                <a:lnTo>
                  <a:pt x="152380" y="57137"/>
                </a:lnTo>
                <a:lnTo>
                  <a:pt x="152380" y="209524"/>
                </a:lnTo>
                <a:lnTo>
                  <a:pt x="166094" y="209524"/>
                </a:lnTo>
                <a:lnTo>
                  <a:pt x="166094" y="57137"/>
                </a:lnTo>
                <a:close/>
              </a:path>
              <a:path w="565150" h="575944">
                <a:moveTo>
                  <a:pt x="242285" y="114287"/>
                </a:moveTo>
                <a:lnTo>
                  <a:pt x="228570" y="114287"/>
                </a:lnTo>
                <a:lnTo>
                  <a:pt x="228570" y="133324"/>
                </a:lnTo>
                <a:lnTo>
                  <a:pt x="242285" y="133324"/>
                </a:lnTo>
                <a:lnTo>
                  <a:pt x="242285" y="114287"/>
                </a:lnTo>
                <a:close/>
              </a:path>
              <a:path w="565150" h="575944">
                <a:moveTo>
                  <a:pt x="318475" y="76200"/>
                </a:moveTo>
                <a:lnTo>
                  <a:pt x="304760" y="76200"/>
                </a:lnTo>
                <a:lnTo>
                  <a:pt x="304760" y="114287"/>
                </a:lnTo>
                <a:lnTo>
                  <a:pt x="318475" y="114287"/>
                </a:lnTo>
                <a:lnTo>
                  <a:pt x="318475" y="76200"/>
                </a:lnTo>
                <a:close/>
              </a:path>
              <a:path w="565150" h="575944">
                <a:moveTo>
                  <a:pt x="394665" y="0"/>
                </a:moveTo>
                <a:lnTo>
                  <a:pt x="380951" y="0"/>
                </a:lnTo>
                <a:lnTo>
                  <a:pt x="380951" y="114287"/>
                </a:lnTo>
                <a:lnTo>
                  <a:pt x="394684" y="114287"/>
                </a:lnTo>
                <a:lnTo>
                  <a:pt x="394665" y="0"/>
                </a:lnTo>
                <a:close/>
              </a:path>
              <a:path w="565150" h="575944">
                <a:moveTo>
                  <a:pt x="242285" y="0"/>
                </a:moveTo>
                <a:lnTo>
                  <a:pt x="228570" y="0"/>
                </a:lnTo>
                <a:lnTo>
                  <a:pt x="228570" y="95237"/>
                </a:lnTo>
                <a:lnTo>
                  <a:pt x="242285" y="95237"/>
                </a:lnTo>
                <a:lnTo>
                  <a:pt x="242285" y="0"/>
                </a:lnTo>
                <a:close/>
              </a:path>
              <a:path w="565150" h="575944">
                <a:moveTo>
                  <a:pt x="318475" y="0"/>
                </a:moveTo>
                <a:lnTo>
                  <a:pt x="304760" y="0"/>
                </a:lnTo>
                <a:lnTo>
                  <a:pt x="304760" y="57150"/>
                </a:lnTo>
                <a:lnTo>
                  <a:pt x="318475" y="57150"/>
                </a:lnTo>
                <a:lnTo>
                  <a:pt x="318475" y="0"/>
                </a:lnTo>
                <a:close/>
              </a:path>
              <a:path w="565150" h="575944">
                <a:moveTo>
                  <a:pt x="166094" y="0"/>
                </a:moveTo>
                <a:lnTo>
                  <a:pt x="152380" y="0"/>
                </a:lnTo>
                <a:lnTo>
                  <a:pt x="152380" y="38100"/>
                </a:lnTo>
                <a:lnTo>
                  <a:pt x="166094" y="38100"/>
                </a:lnTo>
                <a:lnTo>
                  <a:pt x="166094" y="0"/>
                </a:lnTo>
                <a:close/>
              </a:path>
              <a:path w="565150" h="575944">
                <a:moveTo>
                  <a:pt x="89904" y="438099"/>
                </a:moveTo>
                <a:lnTo>
                  <a:pt x="76191" y="438099"/>
                </a:lnTo>
                <a:lnTo>
                  <a:pt x="76191" y="457149"/>
                </a:lnTo>
                <a:lnTo>
                  <a:pt x="89904" y="457149"/>
                </a:lnTo>
                <a:lnTo>
                  <a:pt x="89904" y="438099"/>
                </a:lnTo>
                <a:close/>
              </a:path>
              <a:path w="565150" h="575944">
                <a:moveTo>
                  <a:pt x="13714" y="304761"/>
                </a:moveTo>
                <a:lnTo>
                  <a:pt x="0" y="304761"/>
                </a:lnTo>
                <a:lnTo>
                  <a:pt x="0" y="342861"/>
                </a:lnTo>
                <a:lnTo>
                  <a:pt x="13714" y="342861"/>
                </a:lnTo>
                <a:lnTo>
                  <a:pt x="13714" y="304761"/>
                </a:lnTo>
                <a:close/>
              </a:path>
              <a:path w="565150" h="575944">
                <a:moveTo>
                  <a:pt x="89904" y="0"/>
                </a:moveTo>
                <a:lnTo>
                  <a:pt x="76191" y="0"/>
                </a:lnTo>
                <a:lnTo>
                  <a:pt x="76191" y="57137"/>
                </a:lnTo>
                <a:lnTo>
                  <a:pt x="89904" y="57137"/>
                </a:lnTo>
                <a:lnTo>
                  <a:pt x="89904" y="0"/>
                </a:lnTo>
                <a:close/>
              </a:path>
              <a:path w="565150" h="575944">
                <a:moveTo>
                  <a:pt x="89904" y="476199"/>
                </a:moveTo>
                <a:lnTo>
                  <a:pt x="76191" y="476199"/>
                </a:lnTo>
                <a:lnTo>
                  <a:pt x="76191" y="571423"/>
                </a:lnTo>
                <a:lnTo>
                  <a:pt x="89904" y="571423"/>
                </a:lnTo>
                <a:lnTo>
                  <a:pt x="89904" y="476199"/>
                </a:lnTo>
                <a:close/>
              </a:path>
              <a:path w="565150" h="575944">
                <a:moveTo>
                  <a:pt x="89904" y="304761"/>
                </a:moveTo>
                <a:lnTo>
                  <a:pt x="76191" y="304761"/>
                </a:lnTo>
                <a:lnTo>
                  <a:pt x="76191" y="419049"/>
                </a:lnTo>
                <a:lnTo>
                  <a:pt x="89904" y="419049"/>
                </a:lnTo>
                <a:lnTo>
                  <a:pt x="89904" y="304761"/>
                </a:lnTo>
                <a:close/>
              </a:path>
              <a:path w="565150" h="575944">
                <a:moveTo>
                  <a:pt x="13714" y="228574"/>
                </a:moveTo>
                <a:lnTo>
                  <a:pt x="0" y="228574"/>
                </a:lnTo>
                <a:lnTo>
                  <a:pt x="0" y="285711"/>
                </a:lnTo>
                <a:lnTo>
                  <a:pt x="13714" y="285711"/>
                </a:lnTo>
                <a:lnTo>
                  <a:pt x="13714" y="228574"/>
                </a:lnTo>
                <a:close/>
              </a:path>
              <a:path w="565150" h="575944">
                <a:moveTo>
                  <a:pt x="13714" y="361911"/>
                </a:moveTo>
                <a:lnTo>
                  <a:pt x="0" y="361911"/>
                </a:lnTo>
                <a:lnTo>
                  <a:pt x="0" y="514286"/>
                </a:lnTo>
                <a:lnTo>
                  <a:pt x="13714" y="514286"/>
                </a:lnTo>
                <a:lnTo>
                  <a:pt x="13714" y="361911"/>
                </a:lnTo>
                <a:close/>
              </a:path>
              <a:path w="565150" h="575944">
                <a:moveTo>
                  <a:pt x="89904" y="76200"/>
                </a:moveTo>
                <a:lnTo>
                  <a:pt x="76191" y="76200"/>
                </a:lnTo>
                <a:lnTo>
                  <a:pt x="76191" y="285711"/>
                </a:lnTo>
                <a:lnTo>
                  <a:pt x="89904" y="285711"/>
                </a:lnTo>
                <a:lnTo>
                  <a:pt x="89904" y="76200"/>
                </a:lnTo>
                <a:close/>
              </a:path>
              <a:path w="565150" h="575944">
                <a:moveTo>
                  <a:pt x="13714" y="0"/>
                </a:moveTo>
                <a:lnTo>
                  <a:pt x="0" y="0"/>
                </a:lnTo>
                <a:lnTo>
                  <a:pt x="0" y="209524"/>
                </a:lnTo>
                <a:lnTo>
                  <a:pt x="13714" y="209524"/>
                </a:lnTo>
                <a:lnTo>
                  <a:pt x="13714" y="0"/>
                </a:lnTo>
                <a:close/>
              </a:path>
            </a:pathLst>
          </a:custGeom>
          <a:solidFill>
            <a:srgbClr val="0F62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4710" y="4210583"/>
            <a:ext cx="585470" cy="582295"/>
          </a:xfrm>
          <a:custGeom>
            <a:avLst/>
            <a:gdLst/>
            <a:ahLst/>
            <a:cxnLst/>
            <a:rect l="l" t="t" r="r" b="b"/>
            <a:pathLst>
              <a:path w="585469" h="582295">
                <a:moveTo>
                  <a:pt x="330666" y="418033"/>
                </a:moveTo>
                <a:lnTo>
                  <a:pt x="178285" y="418033"/>
                </a:lnTo>
                <a:lnTo>
                  <a:pt x="139209" y="425805"/>
                </a:lnTo>
                <a:lnTo>
                  <a:pt x="107078" y="447027"/>
                </a:lnTo>
                <a:lnTo>
                  <a:pt x="85036" y="478555"/>
                </a:lnTo>
                <a:lnTo>
                  <a:pt x="76229" y="517245"/>
                </a:lnTo>
                <a:lnTo>
                  <a:pt x="21066" y="572401"/>
                </a:lnTo>
                <a:lnTo>
                  <a:pt x="30761" y="582117"/>
                </a:lnTo>
                <a:lnTo>
                  <a:pt x="89180" y="523697"/>
                </a:lnTo>
                <a:lnTo>
                  <a:pt x="89904" y="521957"/>
                </a:lnTo>
                <a:lnTo>
                  <a:pt x="89904" y="520128"/>
                </a:lnTo>
                <a:lnTo>
                  <a:pt x="96859" y="485753"/>
                </a:lnTo>
                <a:lnTo>
                  <a:pt x="115816" y="457654"/>
                </a:lnTo>
                <a:lnTo>
                  <a:pt x="143912" y="438693"/>
                </a:lnTo>
                <a:lnTo>
                  <a:pt x="178285" y="431736"/>
                </a:lnTo>
                <a:lnTo>
                  <a:pt x="353101" y="431736"/>
                </a:lnTo>
                <a:lnTo>
                  <a:pt x="348975" y="425623"/>
                </a:lnTo>
                <a:lnTo>
                  <a:pt x="340740" y="420070"/>
                </a:lnTo>
                <a:lnTo>
                  <a:pt x="330666" y="418033"/>
                </a:lnTo>
                <a:close/>
              </a:path>
              <a:path w="585469" h="582295">
                <a:moveTo>
                  <a:pt x="501663" y="374743"/>
                </a:moveTo>
                <a:lnTo>
                  <a:pt x="476170" y="374743"/>
                </a:lnTo>
                <a:lnTo>
                  <a:pt x="483312" y="376329"/>
                </a:lnTo>
                <a:lnTo>
                  <a:pt x="489356" y="380479"/>
                </a:lnTo>
                <a:lnTo>
                  <a:pt x="493756" y="387131"/>
                </a:lnTo>
                <a:lnTo>
                  <a:pt x="495221" y="394711"/>
                </a:lnTo>
                <a:lnTo>
                  <a:pt x="493756" y="402264"/>
                </a:lnTo>
                <a:lnTo>
                  <a:pt x="373827" y="525119"/>
                </a:lnTo>
                <a:lnTo>
                  <a:pt x="214017" y="551586"/>
                </a:lnTo>
                <a:lnTo>
                  <a:pt x="212628" y="552272"/>
                </a:lnTo>
                <a:lnTo>
                  <a:pt x="192495" y="572401"/>
                </a:lnTo>
                <a:lnTo>
                  <a:pt x="202190" y="582117"/>
                </a:lnTo>
                <a:lnTo>
                  <a:pt x="219580" y="564730"/>
                </a:lnTo>
                <a:lnTo>
                  <a:pt x="357351" y="547649"/>
                </a:lnTo>
                <a:lnTo>
                  <a:pt x="499059" y="418617"/>
                </a:lnTo>
                <a:lnTo>
                  <a:pt x="508924" y="394700"/>
                </a:lnTo>
                <a:lnTo>
                  <a:pt x="506463" y="381986"/>
                </a:lnTo>
                <a:lnTo>
                  <a:pt x="501663" y="374743"/>
                </a:lnTo>
                <a:close/>
              </a:path>
              <a:path w="585469" h="582295">
                <a:moveTo>
                  <a:pt x="353101" y="431736"/>
                </a:moveTo>
                <a:lnTo>
                  <a:pt x="337389" y="431736"/>
                </a:lnTo>
                <a:lnTo>
                  <a:pt x="342855" y="437210"/>
                </a:lnTo>
                <a:lnTo>
                  <a:pt x="342855" y="443928"/>
                </a:lnTo>
                <a:lnTo>
                  <a:pt x="340396" y="456085"/>
                </a:lnTo>
                <a:lnTo>
                  <a:pt x="333694" y="466016"/>
                </a:lnTo>
                <a:lnTo>
                  <a:pt x="323763" y="472714"/>
                </a:lnTo>
                <a:lnTo>
                  <a:pt x="311618" y="475170"/>
                </a:lnTo>
                <a:lnTo>
                  <a:pt x="216380" y="475170"/>
                </a:lnTo>
                <a:lnTo>
                  <a:pt x="216380" y="488886"/>
                </a:lnTo>
                <a:lnTo>
                  <a:pt x="311618" y="488886"/>
                </a:lnTo>
                <a:lnTo>
                  <a:pt x="319650" y="488140"/>
                </a:lnTo>
                <a:lnTo>
                  <a:pt x="327191" y="486005"/>
                </a:lnTo>
                <a:lnTo>
                  <a:pt x="334136" y="482633"/>
                </a:lnTo>
                <a:lnTo>
                  <a:pt x="340380" y="478180"/>
                </a:lnTo>
                <a:lnTo>
                  <a:pt x="341436" y="478180"/>
                </a:lnTo>
                <a:lnTo>
                  <a:pt x="377734" y="448525"/>
                </a:lnTo>
                <a:lnTo>
                  <a:pt x="356113" y="448525"/>
                </a:lnTo>
                <a:lnTo>
                  <a:pt x="356265" y="447001"/>
                </a:lnTo>
                <a:lnTo>
                  <a:pt x="356570" y="445515"/>
                </a:lnTo>
                <a:lnTo>
                  <a:pt x="356570" y="443928"/>
                </a:lnTo>
                <a:lnTo>
                  <a:pt x="354531" y="433854"/>
                </a:lnTo>
                <a:lnTo>
                  <a:pt x="353101" y="431736"/>
                </a:lnTo>
                <a:close/>
              </a:path>
              <a:path w="585469" h="582295">
                <a:moveTo>
                  <a:pt x="341436" y="478180"/>
                </a:moveTo>
                <a:lnTo>
                  <a:pt x="340380" y="478180"/>
                </a:lnTo>
                <a:lnTo>
                  <a:pt x="340799" y="478701"/>
                </a:lnTo>
                <a:lnTo>
                  <a:pt x="341436" y="478180"/>
                </a:lnTo>
                <a:close/>
              </a:path>
              <a:path w="585469" h="582295">
                <a:moveTo>
                  <a:pt x="475157" y="360883"/>
                </a:moveTo>
                <a:lnTo>
                  <a:pt x="465099" y="360883"/>
                </a:lnTo>
                <a:lnTo>
                  <a:pt x="456857" y="366064"/>
                </a:lnTo>
                <a:lnTo>
                  <a:pt x="451764" y="370370"/>
                </a:lnTo>
                <a:lnTo>
                  <a:pt x="356113" y="448525"/>
                </a:lnTo>
                <a:lnTo>
                  <a:pt x="377734" y="448525"/>
                </a:lnTo>
                <a:lnTo>
                  <a:pt x="460527" y="380885"/>
                </a:lnTo>
                <a:lnTo>
                  <a:pt x="468414" y="376126"/>
                </a:lnTo>
                <a:lnTo>
                  <a:pt x="476170" y="374743"/>
                </a:lnTo>
                <a:lnTo>
                  <a:pt x="501663" y="374743"/>
                </a:lnTo>
                <a:lnTo>
                  <a:pt x="499059" y="370814"/>
                </a:lnTo>
                <a:lnTo>
                  <a:pt x="493886" y="366562"/>
                </a:lnTo>
                <a:lnTo>
                  <a:pt x="488084" y="363448"/>
                </a:lnTo>
                <a:lnTo>
                  <a:pt x="481794" y="361534"/>
                </a:lnTo>
                <a:lnTo>
                  <a:pt x="475157" y="360883"/>
                </a:lnTo>
                <a:close/>
              </a:path>
              <a:path w="585469" h="582295">
                <a:moveTo>
                  <a:pt x="582079" y="0"/>
                </a:moveTo>
                <a:lnTo>
                  <a:pt x="3067" y="0"/>
                </a:lnTo>
                <a:lnTo>
                  <a:pt x="0" y="2539"/>
                </a:lnTo>
                <a:lnTo>
                  <a:pt x="0" y="314959"/>
                </a:lnTo>
                <a:lnTo>
                  <a:pt x="3067" y="317499"/>
                </a:lnTo>
                <a:lnTo>
                  <a:pt x="582079" y="317499"/>
                </a:lnTo>
                <a:lnTo>
                  <a:pt x="585139" y="314959"/>
                </a:lnTo>
                <a:lnTo>
                  <a:pt x="585139" y="304799"/>
                </a:lnTo>
                <a:lnTo>
                  <a:pt x="13714" y="304799"/>
                </a:lnTo>
                <a:lnTo>
                  <a:pt x="13714" y="242569"/>
                </a:lnTo>
                <a:lnTo>
                  <a:pt x="50987" y="242569"/>
                </a:lnTo>
                <a:lnTo>
                  <a:pt x="42031" y="236219"/>
                </a:lnTo>
                <a:lnTo>
                  <a:pt x="13714" y="228599"/>
                </a:lnTo>
                <a:lnTo>
                  <a:pt x="13714" y="88899"/>
                </a:lnTo>
                <a:lnTo>
                  <a:pt x="42006" y="81279"/>
                </a:lnTo>
                <a:lnTo>
                  <a:pt x="50957" y="74929"/>
                </a:lnTo>
                <a:lnTo>
                  <a:pt x="13714" y="74929"/>
                </a:lnTo>
                <a:lnTo>
                  <a:pt x="13714" y="13969"/>
                </a:lnTo>
                <a:lnTo>
                  <a:pt x="585139" y="13969"/>
                </a:lnTo>
                <a:lnTo>
                  <a:pt x="585139" y="2539"/>
                </a:lnTo>
                <a:lnTo>
                  <a:pt x="582079" y="0"/>
                </a:lnTo>
                <a:close/>
              </a:path>
              <a:path w="585469" h="582295">
                <a:moveTo>
                  <a:pt x="50987" y="242569"/>
                </a:moveTo>
                <a:lnTo>
                  <a:pt x="13714" y="242569"/>
                </a:lnTo>
                <a:lnTo>
                  <a:pt x="36708" y="248919"/>
                </a:lnTo>
                <a:lnTo>
                  <a:pt x="55652" y="262889"/>
                </a:lnTo>
                <a:lnTo>
                  <a:pt x="69075" y="281939"/>
                </a:lnTo>
                <a:lnTo>
                  <a:pt x="75505" y="304799"/>
                </a:lnTo>
                <a:lnTo>
                  <a:pt x="89218" y="304799"/>
                </a:lnTo>
                <a:lnTo>
                  <a:pt x="81677" y="275589"/>
                </a:lnTo>
                <a:lnTo>
                  <a:pt x="65317" y="252729"/>
                </a:lnTo>
                <a:lnTo>
                  <a:pt x="50987" y="242569"/>
                </a:lnTo>
                <a:close/>
              </a:path>
              <a:path w="585469" h="582295">
                <a:moveTo>
                  <a:pt x="509651" y="13969"/>
                </a:moveTo>
                <a:lnTo>
                  <a:pt x="495922" y="13969"/>
                </a:lnTo>
                <a:lnTo>
                  <a:pt x="503493" y="41909"/>
                </a:lnTo>
                <a:lnTo>
                  <a:pt x="519861" y="64769"/>
                </a:lnTo>
                <a:lnTo>
                  <a:pt x="543135" y="81279"/>
                </a:lnTo>
                <a:lnTo>
                  <a:pt x="571423" y="88899"/>
                </a:lnTo>
                <a:lnTo>
                  <a:pt x="571423" y="228599"/>
                </a:lnTo>
                <a:lnTo>
                  <a:pt x="543119" y="236219"/>
                </a:lnTo>
                <a:lnTo>
                  <a:pt x="519837" y="252729"/>
                </a:lnTo>
                <a:lnTo>
                  <a:pt x="503474" y="275589"/>
                </a:lnTo>
                <a:lnTo>
                  <a:pt x="495922" y="304799"/>
                </a:lnTo>
                <a:lnTo>
                  <a:pt x="509651" y="304799"/>
                </a:lnTo>
                <a:lnTo>
                  <a:pt x="516084" y="281939"/>
                </a:lnTo>
                <a:lnTo>
                  <a:pt x="529507" y="262889"/>
                </a:lnTo>
                <a:lnTo>
                  <a:pt x="548445" y="248919"/>
                </a:lnTo>
                <a:lnTo>
                  <a:pt x="571423" y="242569"/>
                </a:lnTo>
                <a:lnTo>
                  <a:pt x="585139" y="242569"/>
                </a:lnTo>
                <a:lnTo>
                  <a:pt x="585139" y="74929"/>
                </a:lnTo>
                <a:lnTo>
                  <a:pt x="571423" y="74929"/>
                </a:lnTo>
                <a:lnTo>
                  <a:pt x="548455" y="68579"/>
                </a:lnTo>
                <a:lnTo>
                  <a:pt x="529526" y="55879"/>
                </a:lnTo>
                <a:lnTo>
                  <a:pt x="516102" y="36829"/>
                </a:lnTo>
                <a:lnTo>
                  <a:pt x="509651" y="13969"/>
                </a:lnTo>
                <a:close/>
              </a:path>
              <a:path w="585469" h="582295">
                <a:moveTo>
                  <a:pt x="585139" y="242569"/>
                </a:moveTo>
                <a:lnTo>
                  <a:pt x="571423" y="242569"/>
                </a:lnTo>
                <a:lnTo>
                  <a:pt x="571423" y="304799"/>
                </a:lnTo>
                <a:lnTo>
                  <a:pt x="585139" y="304799"/>
                </a:lnTo>
                <a:lnTo>
                  <a:pt x="585139" y="242569"/>
                </a:lnTo>
                <a:close/>
              </a:path>
              <a:path w="585469" h="582295">
                <a:moveTo>
                  <a:pt x="292571" y="38099"/>
                </a:moveTo>
                <a:lnTo>
                  <a:pt x="245461" y="46989"/>
                </a:lnTo>
                <a:lnTo>
                  <a:pt x="206949" y="73659"/>
                </a:lnTo>
                <a:lnTo>
                  <a:pt x="180963" y="111759"/>
                </a:lnTo>
                <a:lnTo>
                  <a:pt x="171428" y="158749"/>
                </a:lnTo>
                <a:lnTo>
                  <a:pt x="180963" y="205739"/>
                </a:lnTo>
                <a:lnTo>
                  <a:pt x="206949" y="243839"/>
                </a:lnTo>
                <a:lnTo>
                  <a:pt x="245461" y="270509"/>
                </a:lnTo>
                <a:lnTo>
                  <a:pt x="292571" y="279399"/>
                </a:lnTo>
                <a:lnTo>
                  <a:pt x="339680" y="270509"/>
                </a:lnTo>
                <a:lnTo>
                  <a:pt x="347016" y="265429"/>
                </a:lnTo>
                <a:lnTo>
                  <a:pt x="285713" y="265429"/>
                </a:lnTo>
                <a:lnTo>
                  <a:pt x="276007" y="260349"/>
                </a:lnTo>
                <a:lnTo>
                  <a:pt x="257027" y="260349"/>
                </a:lnTo>
                <a:lnTo>
                  <a:pt x="242322" y="253999"/>
                </a:lnTo>
                <a:lnTo>
                  <a:pt x="228875" y="245109"/>
                </a:lnTo>
                <a:lnTo>
                  <a:pt x="216870" y="234949"/>
                </a:lnTo>
                <a:lnTo>
                  <a:pt x="206494" y="222249"/>
                </a:lnTo>
                <a:lnTo>
                  <a:pt x="392917" y="222249"/>
                </a:lnTo>
                <a:lnTo>
                  <a:pt x="401579" y="209549"/>
                </a:lnTo>
                <a:lnTo>
                  <a:pt x="197694" y="209549"/>
                </a:lnTo>
                <a:lnTo>
                  <a:pt x="192985" y="199389"/>
                </a:lnTo>
                <a:lnTo>
                  <a:pt x="189346" y="187959"/>
                </a:lnTo>
                <a:lnTo>
                  <a:pt x="186830" y="177799"/>
                </a:lnTo>
                <a:lnTo>
                  <a:pt x="185484" y="165099"/>
                </a:lnTo>
                <a:lnTo>
                  <a:pt x="412424" y="165099"/>
                </a:lnTo>
                <a:lnTo>
                  <a:pt x="413712" y="158749"/>
                </a:lnTo>
                <a:lnTo>
                  <a:pt x="412424" y="152399"/>
                </a:lnTo>
                <a:lnTo>
                  <a:pt x="185484" y="152399"/>
                </a:lnTo>
                <a:lnTo>
                  <a:pt x="186830" y="140969"/>
                </a:lnTo>
                <a:lnTo>
                  <a:pt x="189346" y="129539"/>
                </a:lnTo>
                <a:lnTo>
                  <a:pt x="192985" y="118109"/>
                </a:lnTo>
                <a:lnTo>
                  <a:pt x="197694" y="107949"/>
                </a:lnTo>
                <a:lnTo>
                  <a:pt x="401579" y="107949"/>
                </a:lnTo>
                <a:lnTo>
                  <a:pt x="392917" y="95249"/>
                </a:lnTo>
                <a:lnTo>
                  <a:pt x="206494" y="95249"/>
                </a:lnTo>
                <a:lnTo>
                  <a:pt x="216870" y="82549"/>
                </a:lnTo>
                <a:lnTo>
                  <a:pt x="228875" y="72389"/>
                </a:lnTo>
                <a:lnTo>
                  <a:pt x="242322" y="63499"/>
                </a:lnTo>
                <a:lnTo>
                  <a:pt x="257027" y="57149"/>
                </a:lnTo>
                <a:lnTo>
                  <a:pt x="277949" y="57149"/>
                </a:lnTo>
                <a:lnTo>
                  <a:pt x="285713" y="52069"/>
                </a:lnTo>
                <a:lnTo>
                  <a:pt x="347016" y="52069"/>
                </a:lnTo>
                <a:lnTo>
                  <a:pt x="339680" y="46989"/>
                </a:lnTo>
                <a:lnTo>
                  <a:pt x="292571" y="38099"/>
                </a:lnTo>
                <a:close/>
              </a:path>
              <a:path w="585469" h="582295">
                <a:moveTo>
                  <a:pt x="299427" y="222249"/>
                </a:moveTo>
                <a:lnTo>
                  <a:pt x="285713" y="222249"/>
                </a:lnTo>
                <a:lnTo>
                  <a:pt x="285713" y="265429"/>
                </a:lnTo>
                <a:lnTo>
                  <a:pt x="299427" y="265429"/>
                </a:lnTo>
                <a:lnTo>
                  <a:pt x="299427" y="222249"/>
                </a:lnTo>
                <a:close/>
              </a:path>
              <a:path w="585469" h="582295">
                <a:moveTo>
                  <a:pt x="347103" y="222249"/>
                </a:moveTo>
                <a:lnTo>
                  <a:pt x="332569" y="222249"/>
                </a:lnTo>
                <a:lnTo>
                  <a:pt x="325920" y="238759"/>
                </a:lnTo>
                <a:lnTo>
                  <a:pt x="318034" y="251459"/>
                </a:lnTo>
                <a:lnTo>
                  <a:pt x="309130" y="260349"/>
                </a:lnTo>
                <a:lnTo>
                  <a:pt x="299427" y="265429"/>
                </a:lnTo>
                <a:lnTo>
                  <a:pt x="347016" y="265429"/>
                </a:lnTo>
                <a:lnTo>
                  <a:pt x="354351" y="260349"/>
                </a:lnTo>
                <a:lnTo>
                  <a:pt x="328113" y="260349"/>
                </a:lnTo>
                <a:lnTo>
                  <a:pt x="333657" y="252729"/>
                </a:lnTo>
                <a:lnTo>
                  <a:pt x="338693" y="243839"/>
                </a:lnTo>
                <a:lnTo>
                  <a:pt x="343187" y="233679"/>
                </a:lnTo>
                <a:lnTo>
                  <a:pt x="347103" y="222249"/>
                </a:lnTo>
                <a:close/>
              </a:path>
              <a:path w="585469" h="582295">
                <a:moveTo>
                  <a:pt x="252552" y="222249"/>
                </a:moveTo>
                <a:lnTo>
                  <a:pt x="238037" y="222249"/>
                </a:lnTo>
                <a:lnTo>
                  <a:pt x="241953" y="233679"/>
                </a:lnTo>
                <a:lnTo>
                  <a:pt x="246447" y="243839"/>
                </a:lnTo>
                <a:lnTo>
                  <a:pt x="251483" y="252729"/>
                </a:lnTo>
                <a:lnTo>
                  <a:pt x="257027" y="260349"/>
                </a:lnTo>
                <a:lnTo>
                  <a:pt x="276007" y="260349"/>
                </a:lnTo>
                <a:lnTo>
                  <a:pt x="267097" y="251459"/>
                </a:lnTo>
                <a:lnTo>
                  <a:pt x="259204" y="238759"/>
                </a:lnTo>
                <a:lnTo>
                  <a:pt x="252552" y="222249"/>
                </a:lnTo>
                <a:close/>
              </a:path>
              <a:path w="585469" h="582295">
                <a:moveTo>
                  <a:pt x="392917" y="222249"/>
                </a:moveTo>
                <a:lnTo>
                  <a:pt x="378646" y="222249"/>
                </a:lnTo>
                <a:lnTo>
                  <a:pt x="368270" y="234949"/>
                </a:lnTo>
                <a:lnTo>
                  <a:pt x="356265" y="245109"/>
                </a:lnTo>
                <a:lnTo>
                  <a:pt x="342818" y="253999"/>
                </a:lnTo>
                <a:lnTo>
                  <a:pt x="328113" y="260349"/>
                </a:lnTo>
                <a:lnTo>
                  <a:pt x="354351" y="260349"/>
                </a:lnTo>
                <a:lnTo>
                  <a:pt x="378191" y="243839"/>
                </a:lnTo>
                <a:lnTo>
                  <a:pt x="392917" y="222249"/>
                </a:lnTo>
                <a:close/>
              </a:path>
              <a:path w="585469" h="582295">
                <a:moveTo>
                  <a:pt x="242456" y="165099"/>
                </a:moveTo>
                <a:lnTo>
                  <a:pt x="228742" y="165099"/>
                </a:lnTo>
                <a:lnTo>
                  <a:pt x="229339" y="177799"/>
                </a:lnTo>
                <a:lnTo>
                  <a:pt x="230459" y="187959"/>
                </a:lnTo>
                <a:lnTo>
                  <a:pt x="232082" y="199389"/>
                </a:lnTo>
                <a:lnTo>
                  <a:pt x="234190" y="209549"/>
                </a:lnTo>
                <a:lnTo>
                  <a:pt x="248361" y="209549"/>
                </a:lnTo>
                <a:lnTo>
                  <a:pt x="246083" y="199389"/>
                </a:lnTo>
                <a:lnTo>
                  <a:pt x="244323" y="187959"/>
                </a:lnTo>
                <a:lnTo>
                  <a:pt x="243106" y="177799"/>
                </a:lnTo>
                <a:lnTo>
                  <a:pt x="242456" y="165099"/>
                </a:lnTo>
                <a:close/>
              </a:path>
              <a:path w="585469" h="582295">
                <a:moveTo>
                  <a:pt x="299427" y="165099"/>
                </a:moveTo>
                <a:lnTo>
                  <a:pt x="285713" y="165099"/>
                </a:lnTo>
                <a:lnTo>
                  <a:pt x="285713" y="209549"/>
                </a:lnTo>
                <a:lnTo>
                  <a:pt x="299427" y="209549"/>
                </a:lnTo>
                <a:lnTo>
                  <a:pt x="299427" y="165099"/>
                </a:lnTo>
                <a:close/>
              </a:path>
              <a:path w="585469" h="582295">
                <a:moveTo>
                  <a:pt x="356398" y="165099"/>
                </a:moveTo>
                <a:lnTo>
                  <a:pt x="342684" y="165099"/>
                </a:lnTo>
                <a:lnTo>
                  <a:pt x="342026" y="177799"/>
                </a:lnTo>
                <a:lnTo>
                  <a:pt x="340810" y="187959"/>
                </a:lnTo>
                <a:lnTo>
                  <a:pt x="339055" y="199389"/>
                </a:lnTo>
                <a:lnTo>
                  <a:pt x="336779" y="209549"/>
                </a:lnTo>
                <a:lnTo>
                  <a:pt x="350932" y="209549"/>
                </a:lnTo>
                <a:lnTo>
                  <a:pt x="353050" y="199389"/>
                </a:lnTo>
                <a:lnTo>
                  <a:pt x="354679" y="187959"/>
                </a:lnTo>
                <a:lnTo>
                  <a:pt x="355801" y="177799"/>
                </a:lnTo>
                <a:lnTo>
                  <a:pt x="356398" y="165099"/>
                </a:lnTo>
                <a:close/>
              </a:path>
              <a:path w="585469" h="582295">
                <a:moveTo>
                  <a:pt x="412424" y="165099"/>
                </a:moveTo>
                <a:lnTo>
                  <a:pt x="399637" y="165099"/>
                </a:lnTo>
                <a:lnTo>
                  <a:pt x="398291" y="177799"/>
                </a:lnTo>
                <a:lnTo>
                  <a:pt x="395775" y="187959"/>
                </a:lnTo>
                <a:lnTo>
                  <a:pt x="392136" y="199389"/>
                </a:lnTo>
                <a:lnTo>
                  <a:pt x="387427" y="209549"/>
                </a:lnTo>
                <a:lnTo>
                  <a:pt x="401579" y="209549"/>
                </a:lnTo>
                <a:lnTo>
                  <a:pt x="404177" y="205739"/>
                </a:lnTo>
                <a:lnTo>
                  <a:pt x="412424" y="165099"/>
                </a:lnTo>
                <a:close/>
              </a:path>
              <a:path w="585469" h="582295">
                <a:moveTo>
                  <a:pt x="92571" y="123189"/>
                </a:moveTo>
                <a:lnTo>
                  <a:pt x="78799" y="125729"/>
                </a:lnTo>
                <a:lnTo>
                  <a:pt x="67536" y="133349"/>
                </a:lnTo>
                <a:lnTo>
                  <a:pt x="59933" y="144779"/>
                </a:lnTo>
                <a:lnTo>
                  <a:pt x="57143" y="158749"/>
                </a:lnTo>
                <a:lnTo>
                  <a:pt x="59931" y="172719"/>
                </a:lnTo>
                <a:lnTo>
                  <a:pt x="67529" y="184149"/>
                </a:lnTo>
                <a:lnTo>
                  <a:pt x="78791" y="191769"/>
                </a:lnTo>
                <a:lnTo>
                  <a:pt x="92571" y="194309"/>
                </a:lnTo>
                <a:lnTo>
                  <a:pt x="106351" y="191769"/>
                </a:lnTo>
                <a:lnTo>
                  <a:pt x="117614" y="184149"/>
                </a:lnTo>
                <a:lnTo>
                  <a:pt x="120146" y="180339"/>
                </a:lnTo>
                <a:lnTo>
                  <a:pt x="92571" y="180339"/>
                </a:lnTo>
                <a:lnTo>
                  <a:pt x="84132" y="179069"/>
                </a:lnTo>
                <a:lnTo>
                  <a:pt x="77228" y="173989"/>
                </a:lnTo>
                <a:lnTo>
                  <a:pt x="72567" y="167639"/>
                </a:lnTo>
                <a:lnTo>
                  <a:pt x="70857" y="158749"/>
                </a:lnTo>
                <a:lnTo>
                  <a:pt x="72567" y="149859"/>
                </a:lnTo>
                <a:lnTo>
                  <a:pt x="77228" y="143509"/>
                </a:lnTo>
                <a:lnTo>
                  <a:pt x="84132" y="138429"/>
                </a:lnTo>
                <a:lnTo>
                  <a:pt x="92571" y="137159"/>
                </a:lnTo>
                <a:lnTo>
                  <a:pt x="120141" y="137159"/>
                </a:lnTo>
                <a:lnTo>
                  <a:pt x="117606" y="133349"/>
                </a:lnTo>
                <a:lnTo>
                  <a:pt x="106343" y="125729"/>
                </a:lnTo>
                <a:lnTo>
                  <a:pt x="92571" y="123189"/>
                </a:lnTo>
                <a:close/>
              </a:path>
              <a:path w="585469" h="582295">
                <a:moveTo>
                  <a:pt x="492569" y="123189"/>
                </a:moveTo>
                <a:lnTo>
                  <a:pt x="478798" y="125729"/>
                </a:lnTo>
                <a:lnTo>
                  <a:pt x="467533" y="133349"/>
                </a:lnTo>
                <a:lnTo>
                  <a:pt x="459927" y="144779"/>
                </a:lnTo>
                <a:lnTo>
                  <a:pt x="457136" y="158749"/>
                </a:lnTo>
                <a:lnTo>
                  <a:pt x="459927" y="172719"/>
                </a:lnTo>
                <a:lnTo>
                  <a:pt x="467533" y="184149"/>
                </a:lnTo>
                <a:lnTo>
                  <a:pt x="478798" y="191769"/>
                </a:lnTo>
                <a:lnTo>
                  <a:pt x="492569" y="194309"/>
                </a:lnTo>
                <a:lnTo>
                  <a:pt x="506340" y="191769"/>
                </a:lnTo>
                <a:lnTo>
                  <a:pt x="517605" y="184149"/>
                </a:lnTo>
                <a:lnTo>
                  <a:pt x="520141" y="180339"/>
                </a:lnTo>
                <a:lnTo>
                  <a:pt x="492569" y="180339"/>
                </a:lnTo>
                <a:lnTo>
                  <a:pt x="484123" y="179069"/>
                </a:lnTo>
                <a:lnTo>
                  <a:pt x="477219" y="173989"/>
                </a:lnTo>
                <a:lnTo>
                  <a:pt x="472561" y="167639"/>
                </a:lnTo>
                <a:lnTo>
                  <a:pt x="470852" y="158749"/>
                </a:lnTo>
                <a:lnTo>
                  <a:pt x="472561" y="149859"/>
                </a:lnTo>
                <a:lnTo>
                  <a:pt x="477219" y="143509"/>
                </a:lnTo>
                <a:lnTo>
                  <a:pt x="484123" y="138429"/>
                </a:lnTo>
                <a:lnTo>
                  <a:pt x="492569" y="137159"/>
                </a:lnTo>
                <a:lnTo>
                  <a:pt x="520141" y="137159"/>
                </a:lnTo>
                <a:lnTo>
                  <a:pt x="517605" y="133349"/>
                </a:lnTo>
                <a:lnTo>
                  <a:pt x="506340" y="125729"/>
                </a:lnTo>
                <a:lnTo>
                  <a:pt x="492569" y="123189"/>
                </a:lnTo>
                <a:close/>
              </a:path>
              <a:path w="585469" h="582295">
                <a:moveTo>
                  <a:pt x="120141" y="137159"/>
                </a:moveTo>
                <a:lnTo>
                  <a:pt x="92571" y="137159"/>
                </a:lnTo>
                <a:lnTo>
                  <a:pt x="101010" y="138429"/>
                </a:lnTo>
                <a:lnTo>
                  <a:pt x="107914" y="143509"/>
                </a:lnTo>
                <a:lnTo>
                  <a:pt x="112575" y="149859"/>
                </a:lnTo>
                <a:lnTo>
                  <a:pt x="114286" y="158749"/>
                </a:lnTo>
                <a:lnTo>
                  <a:pt x="112575" y="167639"/>
                </a:lnTo>
                <a:lnTo>
                  <a:pt x="107914" y="173989"/>
                </a:lnTo>
                <a:lnTo>
                  <a:pt x="101010" y="179069"/>
                </a:lnTo>
                <a:lnTo>
                  <a:pt x="92571" y="180339"/>
                </a:lnTo>
                <a:lnTo>
                  <a:pt x="120146" y="180339"/>
                </a:lnTo>
                <a:lnTo>
                  <a:pt x="125212" y="172719"/>
                </a:lnTo>
                <a:lnTo>
                  <a:pt x="127999" y="158749"/>
                </a:lnTo>
                <a:lnTo>
                  <a:pt x="125209" y="144779"/>
                </a:lnTo>
                <a:lnTo>
                  <a:pt x="120141" y="137159"/>
                </a:lnTo>
                <a:close/>
              </a:path>
              <a:path w="585469" h="582295">
                <a:moveTo>
                  <a:pt x="520141" y="137159"/>
                </a:moveTo>
                <a:lnTo>
                  <a:pt x="492569" y="137159"/>
                </a:lnTo>
                <a:lnTo>
                  <a:pt x="501015" y="138429"/>
                </a:lnTo>
                <a:lnTo>
                  <a:pt x="507919" y="143509"/>
                </a:lnTo>
                <a:lnTo>
                  <a:pt x="512577" y="149859"/>
                </a:lnTo>
                <a:lnTo>
                  <a:pt x="514286" y="158749"/>
                </a:lnTo>
                <a:lnTo>
                  <a:pt x="512577" y="167639"/>
                </a:lnTo>
                <a:lnTo>
                  <a:pt x="507919" y="173989"/>
                </a:lnTo>
                <a:lnTo>
                  <a:pt x="501015" y="179069"/>
                </a:lnTo>
                <a:lnTo>
                  <a:pt x="492569" y="180339"/>
                </a:lnTo>
                <a:lnTo>
                  <a:pt x="520141" y="180339"/>
                </a:lnTo>
                <a:lnTo>
                  <a:pt x="525211" y="172719"/>
                </a:lnTo>
                <a:lnTo>
                  <a:pt x="528002" y="158749"/>
                </a:lnTo>
                <a:lnTo>
                  <a:pt x="525211" y="144779"/>
                </a:lnTo>
                <a:lnTo>
                  <a:pt x="520141" y="137159"/>
                </a:lnTo>
                <a:close/>
              </a:path>
              <a:path w="585469" h="582295">
                <a:moveTo>
                  <a:pt x="248361" y="107949"/>
                </a:moveTo>
                <a:lnTo>
                  <a:pt x="234190" y="107949"/>
                </a:lnTo>
                <a:lnTo>
                  <a:pt x="232082" y="119379"/>
                </a:lnTo>
                <a:lnTo>
                  <a:pt x="230459" y="129539"/>
                </a:lnTo>
                <a:lnTo>
                  <a:pt x="229339" y="140969"/>
                </a:lnTo>
                <a:lnTo>
                  <a:pt x="228742" y="152399"/>
                </a:lnTo>
                <a:lnTo>
                  <a:pt x="242456" y="152399"/>
                </a:lnTo>
                <a:lnTo>
                  <a:pt x="243114" y="140969"/>
                </a:lnTo>
                <a:lnTo>
                  <a:pt x="244330" y="129539"/>
                </a:lnTo>
                <a:lnTo>
                  <a:pt x="246085" y="118109"/>
                </a:lnTo>
                <a:lnTo>
                  <a:pt x="248361" y="107949"/>
                </a:lnTo>
                <a:close/>
              </a:path>
              <a:path w="585469" h="582295">
                <a:moveTo>
                  <a:pt x="299427" y="107949"/>
                </a:moveTo>
                <a:lnTo>
                  <a:pt x="285713" y="107949"/>
                </a:lnTo>
                <a:lnTo>
                  <a:pt x="285713" y="152399"/>
                </a:lnTo>
                <a:lnTo>
                  <a:pt x="299427" y="152399"/>
                </a:lnTo>
                <a:lnTo>
                  <a:pt x="299427" y="107949"/>
                </a:lnTo>
                <a:close/>
              </a:path>
              <a:path w="585469" h="582295">
                <a:moveTo>
                  <a:pt x="350951" y="107949"/>
                </a:moveTo>
                <a:lnTo>
                  <a:pt x="336779" y="107949"/>
                </a:lnTo>
                <a:lnTo>
                  <a:pt x="339055" y="118109"/>
                </a:lnTo>
                <a:lnTo>
                  <a:pt x="340810" y="129539"/>
                </a:lnTo>
                <a:lnTo>
                  <a:pt x="342026" y="140969"/>
                </a:lnTo>
                <a:lnTo>
                  <a:pt x="342684" y="152399"/>
                </a:lnTo>
                <a:lnTo>
                  <a:pt x="356398" y="152399"/>
                </a:lnTo>
                <a:lnTo>
                  <a:pt x="355802" y="140969"/>
                </a:lnTo>
                <a:lnTo>
                  <a:pt x="354682" y="129539"/>
                </a:lnTo>
                <a:lnTo>
                  <a:pt x="353058" y="119379"/>
                </a:lnTo>
                <a:lnTo>
                  <a:pt x="350951" y="107949"/>
                </a:lnTo>
                <a:close/>
              </a:path>
              <a:path w="585469" h="582295">
                <a:moveTo>
                  <a:pt x="401579" y="107949"/>
                </a:moveTo>
                <a:lnTo>
                  <a:pt x="387446" y="107949"/>
                </a:lnTo>
                <a:lnTo>
                  <a:pt x="392155" y="118109"/>
                </a:lnTo>
                <a:lnTo>
                  <a:pt x="395794" y="129539"/>
                </a:lnTo>
                <a:lnTo>
                  <a:pt x="398310" y="140969"/>
                </a:lnTo>
                <a:lnTo>
                  <a:pt x="399656" y="152399"/>
                </a:lnTo>
                <a:lnTo>
                  <a:pt x="412424" y="152399"/>
                </a:lnTo>
                <a:lnTo>
                  <a:pt x="404177" y="111759"/>
                </a:lnTo>
                <a:lnTo>
                  <a:pt x="401579" y="107949"/>
                </a:lnTo>
                <a:close/>
              </a:path>
              <a:path w="585469" h="582295">
                <a:moveTo>
                  <a:pt x="277949" y="57149"/>
                </a:moveTo>
                <a:lnTo>
                  <a:pt x="257027" y="57149"/>
                </a:lnTo>
                <a:lnTo>
                  <a:pt x="251483" y="64769"/>
                </a:lnTo>
                <a:lnTo>
                  <a:pt x="246447" y="73659"/>
                </a:lnTo>
                <a:lnTo>
                  <a:pt x="241953" y="83819"/>
                </a:lnTo>
                <a:lnTo>
                  <a:pt x="238037" y="95249"/>
                </a:lnTo>
                <a:lnTo>
                  <a:pt x="252571" y="95249"/>
                </a:lnTo>
                <a:lnTo>
                  <a:pt x="259212" y="80009"/>
                </a:lnTo>
                <a:lnTo>
                  <a:pt x="267099" y="67309"/>
                </a:lnTo>
                <a:lnTo>
                  <a:pt x="276008" y="58419"/>
                </a:lnTo>
                <a:lnTo>
                  <a:pt x="277949" y="57149"/>
                </a:lnTo>
                <a:close/>
              </a:path>
              <a:path w="585469" h="582295">
                <a:moveTo>
                  <a:pt x="299427" y="52069"/>
                </a:moveTo>
                <a:lnTo>
                  <a:pt x="285713" y="52069"/>
                </a:lnTo>
                <a:lnTo>
                  <a:pt x="285713" y="95249"/>
                </a:lnTo>
                <a:lnTo>
                  <a:pt x="299427" y="95249"/>
                </a:lnTo>
                <a:lnTo>
                  <a:pt x="299427" y="52069"/>
                </a:lnTo>
                <a:close/>
              </a:path>
              <a:path w="585469" h="582295">
                <a:moveTo>
                  <a:pt x="347016" y="52069"/>
                </a:moveTo>
                <a:lnTo>
                  <a:pt x="299427" y="52069"/>
                </a:lnTo>
                <a:lnTo>
                  <a:pt x="309132" y="57149"/>
                </a:lnTo>
                <a:lnTo>
                  <a:pt x="318041" y="67309"/>
                </a:lnTo>
                <a:lnTo>
                  <a:pt x="325928" y="80009"/>
                </a:lnTo>
                <a:lnTo>
                  <a:pt x="332569" y="95249"/>
                </a:lnTo>
                <a:lnTo>
                  <a:pt x="347103" y="95249"/>
                </a:lnTo>
                <a:lnTo>
                  <a:pt x="343179" y="83819"/>
                </a:lnTo>
                <a:lnTo>
                  <a:pt x="338686" y="73659"/>
                </a:lnTo>
                <a:lnTo>
                  <a:pt x="333654" y="64769"/>
                </a:lnTo>
                <a:lnTo>
                  <a:pt x="328113" y="57149"/>
                </a:lnTo>
                <a:lnTo>
                  <a:pt x="354351" y="57149"/>
                </a:lnTo>
                <a:lnTo>
                  <a:pt x="347016" y="52069"/>
                </a:lnTo>
                <a:close/>
              </a:path>
              <a:path w="585469" h="582295">
                <a:moveTo>
                  <a:pt x="354351" y="57149"/>
                </a:moveTo>
                <a:lnTo>
                  <a:pt x="328113" y="57149"/>
                </a:lnTo>
                <a:lnTo>
                  <a:pt x="342818" y="63499"/>
                </a:lnTo>
                <a:lnTo>
                  <a:pt x="356265" y="72389"/>
                </a:lnTo>
                <a:lnTo>
                  <a:pt x="368270" y="82549"/>
                </a:lnTo>
                <a:lnTo>
                  <a:pt x="378646" y="95249"/>
                </a:lnTo>
                <a:lnTo>
                  <a:pt x="392917" y="95249"/>
                </a:lnTo>
                <a:lnTo>
                  <a:pt x="378191" y="73659"/>
                </a:lnTo>
                <a:lnTo>
                  <a:pt x="354351" y="57149"/>
                </a:lnTo>
                <a:close/>
              </a:path>
              <a:path w="585469" h="582295">
                <a:moveTo>
                  <a:pt x="89199" y="13969"/>
                </a:moveTo>
                <a:lnTo>
                  <a:pt x="75505" y="13969"/>
                </a:lnTo>
                <a:lnTo>
                  <a:pt x="69056" y="36829"/>
                </a:lnTo>
                <a:lnTo>
                  <a:pt x="55631" y="55879"/>
                </a:lnTo>
                <a:lnTo>
                  <a:pt x="36695" y="68579"/>
                </a:lnTo>
                <a:lnTo>
                  <a:pt x="13714" y="74929"/>
                </a:lnTo>
                <a:lnTo>
                  <a:pt x="50957" y="74929"/>
                </a:lnTo>
                <a:lnTo>
                  <a:pt x="65278" y="64769"/>
                </a:lnTo>
                <a:lnTo>
                  <a:pt x="81640" y="41909"/>
                </a:lnTo>
                <a:lnTo>
                  <a:pt x="89199" y="13969"/>
                </a:lnTo>
                <a:close/>
              </a:path>
              <a:path w="585469" h="582295">
                <a:moveTo>
                  <a:pt x="585139" y="13969"/>
                </a:moveTo>
                <a:lnTo>
                  <a:pt x="571423" y="13969"/>
                </a:lnTo>
                <a:lnTo>
                  <a:pt x="571423" y="74929"/>
                </a:lnTo>
                <a:lnTo>
                  <a:pt x="585139" y="74929"/>
                </a:lnTo>
                <a:lnTo>
                  <a:pt x="585139" y="13969"/>
                </a:lnTo>
                <a:close/>
              </a:path>
            </a:pathLst>
          </a:custGeom>
          <a:solidFill>
            <a:srgbClr val="0F62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6054" y="5490625"/>
            <a:ext cx="2575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0F62FE"/>
                </a:solidFill>
                <a:latin typeface="Trebuchet MS"/>
                <a:cs typeface="Trebuchet MS"/>
              </a:rPr>
              <a:t>GAed:</a:t>
            </a:r>
            <a:r>
              <a:rPr sz="2400" spc="-120" dirty="0">
                <a:solidFill>
                  <a:srgbClr val="0F62FE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F62FE"/>
                </a:solidFill>
                <a:latin typeface="Trebuchet MS"/>
                <a:cs typeface="Trebuchet MS"/>
              </a:rPr>
              <a:t>Dec</a:t>
            </a:r>
            <a:r>
              <a:rPr sz="2400" spc="-125" dirty="0">
                <a:solidFill>
                  <a:srgbClr val="0F62FE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F62FE"/>
                </a:solidFill>
                <a:latin typeface="Trebuchet MS"/>
                <a:cs typeface="Trebuchet MS"/>
              </a:rPr>
              <a:t>1,</a:t>
            </a:r>
            <a:r>
              <a:rPr sz="2400" spc="-114" dirty="0">
                <a:solidFill>
                  <a:srgbClr val="0F62FE"/>
                </a:solidFill>
                <a:latin typeface="Trebuchet MS"/>
                <a:cs typeface="Trebuchet MS"/>
              </a:rPr>
              <a:t> </a:t>
            </a:r>
            <a:r>
              <a:rPr sz="2400" spc="150" dirty="0">
                <a:solidFill>
                  <a:srgbClr val="0F62FE"/>
                </a:solidFill>
                <a:latin typeface="Trebuchet MS"/>
                <a:cs typeface="Trebuchet MS"/>
              </a:rPr>
              <a:t>2023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365" y="2324096"/>
            <a:ext cx="488315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b="1" spc="254" dirty="0">
                <a:solidFill>
                  <a:srgbClr val="FF0000"/>
                </a:solidFill>
                <a:latin typeface="Liberation Sans Narrow"/>
                <a:cs typeface="Liberation Sans Narrow"/>
              </a:rPr>
              <a:t>FIVE</a:t>
            </a:r>
            <a:r>
              <a:rPr sz="6000" b="1" spc="-1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6000" spc="-200" dirty="0">
                <a:latin typeface="Trebuchet MS"/>
                <a:cs typeface="Trebuchet MS"/>
              </a:rPr>
              <a:t>important </a:t>
            </a:r>
            <a:r>
              <a:rPr sz="6000" spc="-10" dirty="0">
                <a:latin typeface="Trebuchet MS"/>
                <a:cs typeface="Trebuchet MS"/>
              </a:rPr>
              <a:t>points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sz="3600" spc="-340" dirty="0">
                <a:latin typeface="Trebuchet MS"/>
                <a:cs typeface="Trebuchet MS"/>
              </a:rPr>
              <a:t>1. </a:t>
            </a:r>
            <a:r>
              <a:rPr sz="3600" spc="-10" dirty="0">
                <a:latin typeface="Trebuchet MS"/>
                <a:cs typeface="Trebuchet MS"/>
              </a:rPr>
              <a:t>Does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50" dirty="0">
                <a:latin typeface="Trebuchet MS"/>
                <a:cs typeface="Trebuchet MS"/>
              </a:rPr>
              <a:t>the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05" dirty="0">
                <a:latin typeface="Trebuchet MS"/>
                <a:cs typeface="Trebuchet MS"/>
              </a:rPr>
              <a:t>story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05" dirty="0">
                <a:latin typeface="Trebuchet MS"/>
                <a:cs typeface="Trebuchet MS"/>
              </a:rPr>
              <a:t>of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b="1" spc="-80" dirty="0">
                <a:solidFill>
                  <a:srgbClr val="FF0000"/>
                </a:solidFill>
                <a:latin typeface="Trebuchet MS"/>
                <a:cs typeface="Trebuchet MS"/>
              </a:rPr>
              <a:t>María</a:t>
            </a:r>
            <a:r>
              <a:rPr sz="3600" b="1" spc="-3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spc="-60" dirty="0">
                <a:latin typeface="Trebuchet MS"/>
                <a:cs typeface="Trebuchet MS"/>
              </a:rPr>
              <a:t>ring </a:t>
            </a:r>
            <a:r>
              <a:rPr sz="3600" spc="-140" dirty="0">
                <a:latin typeface="Trebuchet MS"/>
                <a:cs typeface="Trebuchet MS"/>
              </a:rPr>
              <a:t>a</a:t>
            </a:r>
            <a:r>
              <a:rPr sz="3600" spc="-355" dirty="0">
                <a:latin typeface="Trebuchet MS"/>
                <a:cs typeface="Trebuchet MS"/>
              </a:rPr>
              <a:t> </a:t>
            </a:r>
            <a:r>
              <a:rPr sz="3600" spc="-10" dirty="0">
                <a:latin typeface="Trebuchet MS"/>
                <a:cs typeface="Trebuchet MS"/>
              </a:rPr>
              <a:t>bell?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60"/>
              </a:spcBef>
            </a:pPr>
            <a:r>
              <a:rPr spc="-80" dirty="0"/>
              <a:t>This</a:t>
            </a:r>
            <a:r>
              <a:rPr spc="-250" dirty="0"/>
              <a:t> </a:t>
            </a:r>
            <a:r>
              <a:rPr spc="-90" dirty="0"/>
              <a:t>is</a:t>
            </a:r>
            <a:r>
              <a:rPr spc="-250" dirty="0"/>
              <a:t> </a:t>
            </a:r>
            <a:r>
              <a:rPr spc="-140" dirty="0"/>
              <a:t>exactly</a:t>
            </a:r>
            <a:r>
              <a:rPr spc="-260" dirty="0"/>
              <a:t> </a:t>
            </a:r>
            <a:r>
              <a:rPr spc="-114" dirty="0"/>
              <a:t>what</a:t>
            </a:r>
            <a:r>
              <a:rPr spc="-250" dirty="0"/>
              <a:t> </a:t>
            </a:r>
            <a:r>
              <a:rPr spc="-90" dirty="0"/>
              <a:t>our</a:t>
            </a:r>
            <a:r>
              <a:rPr spc="-254" dirty="0"/>
              <a:t> </a:t>
            </a:r>
            <a:r>
              <a:rPr spc="-130" dirty="0"/>
              <a:t>clients</a:t>
            </a:r>
            <a:r>
              <a:rPr spc="-250" dirty="0"/>
              <a:t> </a:t>
            </a:r>
            <a:r>
              <a:rPr spc="-145" dirty="0"/>
              <a:t>are</a:t>
            </a:r>
            <a:r>
              <a:rPr spc="-260" dirty="0"/>
              <a:t> </a:t>
            </a:r>
            <a:r>
              <a:rPr spc="-10" dirty="0"/>
              <a:t>going </a:t>
            </a:r>
            <a:r>
              <a:rPr spc="-65" dirty="0"/>
              <a:t>through</a:t>
            </a:r>
            <a:r>
              <a:rPr spc="-254" dirty="0"/>
              <a:t> </a:t>
            </a:r>
            <a:r>
              <a:rPr spc="-75" dirty="0"/>
              <a:t>as</a:t>
            </a:r>
            <a:r>
              <a:rPr spc="-245" dirty="0"/>
              <a:t> </a:t>
            </a:r>
            <a:r>
              <a:rPr spc="-105" dirty="0"/>
              <a:t>they</a:t>
            </a:r>
            <a:r>
              <a:rPr spc="-260" dirty="0"/>
              <a:t> </a:t>
            </a:r>
            <a:r>
              <a:rPr spc="-114" dirty="0"/>
              <a:t>plan</a:t>
            </a:r>
            <a:r>
              <a:rPr spc="-254" dirty="0"/>
              <a:t> </a:t>
            </a:r>
            <a:r>
              <a:rPr spc="-85" dirty="0"/>
              <a:t>to</a:t>
            </a:r>
            <a:r>
              <a:rPr spc="-260" dirty="0"/>
              <a:t> </a:t>
            </a:r>
            <a:r>
              <a:rPr dirty="0"/>
              <a:t>go</a:t>
            </a:r>
            <a:r>
              <a:rPr spc="-260" dirty="0"/>
              <a:t> </a:t>
            </a:r>
            <a:r>
              <a:rPr spc="-85" dirty="0"/>
              <a:t>to</a:t>
            </a:r>
            <a:r>
              <a:rPr spc="-260" dirty="0"/>
              <a:t> </a:t>
            </a:r>
            <a:r>
              <a:rPr spc="-75" dirty="0"/>
              <a:t>production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154" y="198963"/>
            <a:ext cx="86874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2.</a:t>
            </a:r>
            <a:r>
              <a:rPr sz="4400" spc="-125" dirty="0"/>
              <a:t> </a:t>
            </a:r>
            <a:r>
              <a:rPr sz="4400" dirty="0"/>
              <a:t>AI</a:t>
            </a:r>
            <a:r>
              <a:rPr sz="4400" spc="-125" dirty="0"/>
              <a:t> </a:t>
            </a:r>
            <a:r>
              <a:rPr sz="4400" spc="-25" dirty="0"/>
              <a:t>Governance</a:t>
            </a:r>
            <a:r>
              <a:rPr sz="4400" spc="-125" dirty="0"/>
              <a:t> </a:t>
            </a:r>
            <a:r>
              <a:rPr sz="4400" dirty="0"/>
              <a:t>is</a:t>
            </a:r>
            <a:r>
              <a:rPr sz="4400" spc="-125" dirty="0"/>
              <a:t> </a:t>
            </a:r>
            <a:r>
              <a:rPr sz="4400" dirty="0"/>
              <a:t>not</a:t>
            </a:r>
            <a:r>
              <a:rPr sz="4400" spc="-120" dirty="0"/>
              <a:t> </a:t>
            </a:r>
            <a:r>
              <a:rPr sz="4400" dirty="0"/>
              <a:t>only</a:t>
            </a:r>
            <a:r>
              <a:rPr sz="4400" spc="-125" dirty="0"/>
              <a:t> </a:t>
            </a:r>
            <a:r>
              <a:rPr sz="4400" dirty="0"/>
              <a:t>for</a:t>
            </a:r>
            <a:r>
              <a:rPr sz="4400" spc="-130" dirty="0"/>
              <a:t> </a:t>
            </a:r>
            <a:r>
              <a:rPr sz="4400" dirty="0"/>
              <a:t>Gen</a:t>
            </a:r>
            <a:r>
              <a:rPr sz="4400" spc="-125" dirty="0"/>
              <a:t> </a:t>
            </a:r>
            <a:r>
              <a:rPr sz="4400" spc="-25" dirty="0"/>
              <a:t>AI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54731" y="3814225"/>
            <a:ext cx="2987040" cy="4978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60"/>
              </a:spcBef>
            </a:pPr>
            <a:r>
              <a:rPr sz="1600" dirty="0">
                <a:latin typeface="Trebuchet MS"/>
                <a:cs typeface="Trebuchet MS"/>
              </a:rPr>
              <a:t>Some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110" dirty="0">
                <a:latin typeface="Trebuchet MS"/>
                <a:cs typeface="Trebuchet MS"/>
              </a:rPr>
              <a:t>AI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risks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are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the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b="1" spc="-200" dirty="0">
                <a:latin typeface="Verdana"/>
                <a:cs typeface="Verdana"/>
              </a:rPr>
              <a:t>same</a:t>
            </a:r>
            <a:r>
              <a:rPr sz="1600" b="1" spc="-135" dirty="0">
                <a:latin typeface="Verdana"/>
                <a:cs typeface="Verdana"/>
              </a:rPr>
              <a:t> </a:t>
            </a:r>
            <a:r>
              <a:rPr sz="1600" b="1" spc="-170" dirty="0">
                <a:latin typeface="Verdana"/>
                <a:cs typeface="Verdana"/>
              </a:rPr>
              <a:t>as</a:t>
            </a:r>
            <a:r>
              <a:rPr sz="1600" b="1" spc="-130" dirty="0">
                <a:latin typeface="Verdana"/>
                <a:cs typeface="Verdana"/>
              </a:rPr>
              <a:t> in </a:t>
            </a:r>
            <a:r>
              <a:rPr sz="1600" b="1" spc="-160" dirty="0">
                <a:latin typeface="Verdana"/>
                <a:cs typeface="Verdana"/>
              </a:rPr>
              <a:t>traditional</a:t>
            </a:r>
            <a:r>
              <a:rPr sz="1600" b="1" spc="-130" dirty="0">
                <a:latin typeface="Verdana"/>
                <a:cs typeface="Verdana"/>
              </a:rPr>
              <a:t> </a:t>
            </a:r>
            <a:r>
              <a:rPr sz="1600" b="1" spc="-175" dirty="0">
                <a:latin typeface="Verdana"/>
                <a:cs typeface="Verdana"/>
              </a:rPr>
              <a:t>data</a:t>
            </a:r>
            <a:r>
              <a:rPr sz="1600" b="1" spc="-1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science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731" y="4349314"/>
            <a:ext cx="2183130" cy="14649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dirty="0">
                <a:latin typeface="Trebuchet MS"/>
                <a:cs typeface="Trebuchet MS"/>
              </a:rPr>
              <a:t>poor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predictive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accuracy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latin typeface="Trebuchet MS"/>
                <a:cs typeface="Trebuchet MS"/>
              </a:rPr>
              <a:t>lack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of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fairness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equity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latin typeface="Trebuchet MS"/>
                <a:cs typeface="Trebuchet MS"/>
              </a:rPr>
              <a:t>lack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of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explainability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uncertainty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25" dirty="0">
                <a:latin typeface="Trebuchet MS"/>
                <a:cs typeface="Trebuchet MS"/>
              </a:rPr>
              <a:t>distribution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shifts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6432" y="3805767"/>
            <a:ext cx="3126740" cy="200850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60"/>
              </a:spcBef>
            </a:pPr>
            <a:r>
              <a:rPr sz="1600" dirty="0">
                <a:latin typeface="Trebuchet MS"/>
                <a:cs typeface="Trebuchet MS"/>
              </a:rPr>
              <a:t>But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many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risks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are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b="1" spc="-170" dirty="0">
                <a:latin typeface="Verdana"/>
                <a:cs typeface="Verdana"/>
              </a:rPr>
              <a:t>entirely</a:t>
            </a:r>
            <a:r>
              <a:rPr sz="1600" b="1" spc="-130" dirty="0">
                <a:latin typeface="Verdana"/>
                <a:cs typeface="Verdana"/>
              </a:rPr>
              <a:t> </a:t>
            </a:r>
            <a:r>
              <a:rPr sz="1600" b="1" spc="-229" dirty="0">
                <a:latin typeface="Verdana"/>
                <a:cs typeface="Verdana"/>
              </a:rPr>
              <a:t>new</a:t>
            </a:r>
            <a:r>
              <a:rPr sz="1600" b="1" spc="-125" dirty="0">
                <a:latin typeface="Verdana"/>
                <a:cs typeface="Verdana"/>
              </a:rPr>
              <a:t> </a:t>
            </a:r>
            <a:r>
              <a:rPr sz="1600" b="1" spc="-95" dirty="0">
                <a:latin typeface="Verdana"/>
                <a:cs typeface="Verdana"/>
              </a:rPr>
              <a:t>in </a:t>
            </a:r>
            <a:r>
              <a:rPr sz="1600" b="1" spc="-185" dirty="0">
                <a:latin typeface="Verdana"/>
                <a:cs typeface="Verdana"/>
              </a:rPr>
              <a:t>foundation</a:t>
            </a:r>
            <a:r>
              <a:rPr sz="1600" b="1" spc="-9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models</a:t>
            </a:r>
            <a:endParaRPr sz="1600">
              <a:latin typeface="Verdana"/>
              <a:cs typeface="Verdana"/>
            </a:endParaRPr>
          </a:p>
          <a:p>
            <a:pPr marL="126364" indent="-113664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latin typeface="Trebuchet MS"/>
                <a:cs typeface="Trebuchet MS"/>
              </a:rPr>
              <a:t>hallucinations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latin typeface="Trebuchet MS"/>
                <a:cs typeface="Trebuchet MS"/>
              </a:rPr>
              <a:t>lack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of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factuality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or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faithfulness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latin typeface="Trebuchet MS"/>
                <a:cs typeface="Trebuchet MS"/>
              </a:rPr>
              <a:t>lack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of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source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attribution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55" dirty="0">
                <a:latin typeface="Trebuchet MS"/>
                <a:cs typeface="Trebuchet MS"/>
              </a:rPr>
              <a:t>toxicity,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profanities,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hate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speech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latin typeface="Trebuchet MS"/>
                <a:cs typeface="Trebuchet MS"/>
              </a:rPr>
              <a:t>bullying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gaslighting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7431" y="955001"/>
            <a:ext cx="4093845" cy="2737485"/>
            <a:chOff x="367431" y="955001"/>
            <a:chExt cx="4093845" cy="27374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3065" y="2249398"/>
              <a:ext cx="1152912" cy="11529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5993" y="1002322"/>
              <a:ext cx="1273009" cy="12730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431" y="955001"/>
              <a:ext cx="1355013" cy="1354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2453" y="2360383"/>
              <a:ext cx="1331899" cy="13318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6818" y="1391996"/>
              <a:ext cx="1063967" cy="106613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79064" y="4349314"/>
            <a:ext cx="1712595" cy="14649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dirty="0">
                <a:latin typeface="Trebuchet MS"/>
                <a:cs typeface="Trebuchet MS"/>
              </a:rPr>
              <a:t>poisoning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attacks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dirty="0">
                <a:latin typeface="Trebuchet MS"/>
                <a:cs typeface="Trebuchet MS"/>
              </a:rPr>
              <a:t>evasion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attacks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30" dirty="0">
                <a:latin typeface="Trebuchet MS"/>
                <a:cs typeface="Trebuchet MS"/>
              </a:rPr>
              <a:t>extraction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attacks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25" dirty="0">
                <a:latin typeface="Trebuchet MS"/>
                <a:cs typeface="Trebuchet MS"/>
              </a:rPr>
              <a:t>inference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attacks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26364" algn="l"/>
              </a:tabLst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transparency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8598" y="825563"/>
            <a:ext cx="5316855" cy="2906395"/>
            <a:chOff x="6008598" y="825563"/>
            <a:chExt cx="5316855" cy="290639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57729" y="1049870"/>
              <a:ext cx="1219200" cy="1219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9112" y="825563"/>
              <a:ext cx="2052002" cy="20527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37686" y="2113076"/>
              <a:ext cx="941831" cy="941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04809" y="2369527"/>
              <a:ext cx="1352854" cy="136197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8598" y="2519770"/>
              <a:ext cx="954333" cy="9306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33913" y="1074628"/>
              <a:ext cx="891222" cy="88432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285579" y="4349314"/>
            <a:ext cx="2049145" cy="11855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40" dirty="0">
                <a:latin typeface="Trebuchet MS"/>
                <a:cs typeface="Trebuchet MS"/>
              </a:rPr>
              <a:t>inability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to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reason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25" dirty="0">
                <a:latin typeface="Trebuchet MS"/>
                <a:cs typeface="Trebuchet MS"/>
              </a:rPr>
              <a:t>privacy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leakage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latin typeface="Trebuchet MS"/>
                <a:cs typeface="Trebuchet MS"/>
              </a:rPr>
              <a:t>prompt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injection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attacks</a:t>
            </a:r>
            <a:endParaRPr sz="140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latin typeface="Trebuchet MS"/>
                <a:cs typeface="Trebuchet MS"/>
              </a:rPr>
              <a:t>misinformation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9066" y="6112925"/>
            <a:ext cx="4538980" cy="51498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065" marR="5080" indent="635" algn="ctr">
              <a:lnSpc>
                <a:spcPct val="96000"/>
              </a:lnSpc>
              <a:spcBef>
                <a:spcPts val="150"/>
              </a:spcBef>
            </a:pPr>
            <a:r>
              <a:rPr sz="1100" i="1" spc="-110" dirty="0">
                <a:solidFill>
                  <a:srgbClr val="7030A0"/>
                </a:solidFill>
                <a:latin typeface="Verdana"/>
                <a:cs typeface="Verdana"/>
              </a:rPr>
              <a:t>Occur</a:t>
            </a:r>
            <a:r>
              <a:rPr sz="1100" i="1" spc="-114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25" dirty="0">
                <a:solidFill>
                  <a:srgbClr val="7030A0"/>
                </a:solidFill>
                <a:latin typeface="Verdana"/>
                <a:cs typeface="Verdana"/>
              </a:rPr>
              <a:t>when </a:t>
            </a:r>
            <a:r>
              <a:rPr sz="1100" i="1" spc="-110" dirty="0">
                <a:solidFill>
                  <a:srgbClr val="7030A0"/>
                </a:solidFill>
                <a:latin typeface="Verdana"/>
                <a:cs typeface="Verdana"/>
              </a:rPr>
              <a:t>LLMs</a:t>
            </a:r>
            <a:r>
              <a:rPr sz="1100" i="1" spc="-12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00" dirty="0">
                <a:solidFill>
                  <a:srgbClr val="7030A0"/>
                </a:solidFill>
                <a:latin typeface="Verdana"/>
                <a:cs typeface="Verdana"/>
              </a:rPr>
              <a:t>are</a:t>
            </a:r>
            <a:r>
              <a:rPr sz="1100" i="1" spc="-114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05" dirty="0">
                <a:solidFill>
                  <a:srgbClr val="7030A0"/>
                </a:solidFill>
                <a:latin typeface="Verdana"/>
                <a:cs typeface="Verdana"/>
              </a:rPr>
              <a:t>used</a:t>
            </a:r>
            <a:r>
              <a:rPr sz="1100" i="1" spc="-1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75" dirty="0">
                <a:solidFill>
                  <a:srgbClr val="7030A0"/>
                </a:solidFill>
                <a:latin typeface="Verdana"/>
                <a:cs typeface="Verdana"/>
              </a:rPr>
              <a:t>in</a:t>
            </a:r>
            <a:r>
              <a:rPr sz="1100" i="1" spc="-1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70" dirty="0">
                <a:solidFill>
                  <a:srgbClr val="7030A0"/>
                </a:solidFill>
                <a:latin typeface="Verdana"/>
                <a:cs typeface="Verdana"/>
              </a:rPr>
              <a:t>“classical</a:t>
            </a:r>
            <a:r>
              <a:rPr sz="1100" i="1" spc="-11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85" dirty="0">
                <a:solidFill>
                  <a:srgbClr val="7030A0"/>
                </a:solidFill>
                <a:latin typeface="Verdana"/>
                <a:cs typeface="Verdana"/>
              </a:rPr>
              <a:t>ML”</a:t>
            </a:r>
            <a:r>
              <a:rPr sz="1100" i="1" spc="-1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10" dirty="0">
                <a:solidFill>
                  <a:srgbClr val="7030A0"/>
                </a:solidFill>
                <a:latin typeface="Verdana"/>
                <a:cs typeface="Verdana"/>
              </a:rPr>
              <a:t>tasks, </a:t>
            </a:r>
            <a:r>
              <a:rPr sz="1100" i="1" spc="-140" dirty="0">
                <a:solidFill>
                  <a:srgbClr val="7030A0"/>
                </a:solidFill>
                <a:latin typeface="Verdana"/>
                <a:cs typeface="Verdana"/>
              </a:rPr>
              <a:t>e.g.,</a:t>
            </a:r>
            <a:r>
              <a:rPr sz="1100" i="1" spc="-10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95" dirty="0">
                <a:solidFill>
                  <a:srgbClr val="7030A0"/>
                </a:solidFill>
                <a:latin typeface="Verdana"/>
                <a:cs typeface="Verdana"/>
              </a:rPr>
              <a:t>prediction</a:t>
            </a:r>
            <a:r>
              <a:rPr sz="1100" i="1" spc="-1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25" dirty="0">
                <a:solidFill>
                  <a:srgbClr val="7030A0"/>
                </a:solidFill>
                <a:latin typeface="Verdana"/>
                <a:cs typeface="Verdana"/>
              </a:rPr>
              <a:t>and </a:t>
            </a:r>
            <a:r>
              <a:rPr sz="1100" i="1" spc="-85" dirty="0">
                <a:solidFill>
                  <a:srgbClr val="7030A0"/>
                </a:solidFill>
                <a:latin typeface="Verdana"/>
                <a:cs typeface="Verdana"/>
              </a:rPr>
              <a:t>classification,</a:t>
            </a:r>
            <a:r>
              <a:rPr sz="1100" i="1" spc="-9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90" dirty="0">
                <a:solidFill>
                  <a:srgbClr val="7030A0"/>
                </a:solidFill>
                <a:latin typeface="Verdana"/>
                <a:cs typeface="Verdana"/>
              </a:rPr>
              <a:t>and</a:t>
            </a:r>
            <a:r>
              <a:rPr sz="1100" i="1" spc="-1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20" dirty="0">
                <a:solidFill>
                  <a:srgbClr val="7030A0"/>
                </a:solidFill>
                <a:latin typeface="Verdana"/>
                <a:cs typeface="Verdana"/>
              </a:rPr>
              <a:t>have</a:t>
            </a:r>
            <a:r>
              <a:rPr sz="1100" i="1" spc="-11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95" dirty="0">
                <a:solidFill>
                  <a:srgbClr val="7030A0"/>
                </a:solidFill>
                <a:latin typeface="Verdana"/>
                <a:cs typeface="Verdana"/>
              </a:rPr>
              <a:t>well-defined</a:t>
            </a:r>
            <a:r>
              <a:rPr sz="1100" i="1" spc="-1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10" dirty="0">
                <a:solidFill>
                  <a:srgbClr val="7030A0"/>
                </a:solidFill>
                <a:latin typeface="Verdana"/>
                <a:cs typeface="Verdana"/>
              </a:rPr>
              <a:t>metrics</a:t>
            </a:r>
            <a:r>
              <a:rPr sz="1100" i="1" spc="-10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90" dirty="0">
                <a:solidFill>
                  <a:srgbClr val="7030A0"/>
                </a:solidFill>
                <a:latin typeface="Verdana"/>
                <a:cs typeface="Verdana"/>
              </a:rPr>
              <a:t>and</a:t>
            </a:r>
            <a:r>
              <a:rPr sz="1100" i="1" spc="-1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14" dirty="0">
                <a:solidFill>
                  <a:srgbClr val="7030A0"/>
                </a:solidFill>
                <a:latin typeface="Verdana"/>
                <a:cs typeface="Verdana"/>
              </a:rPr>
              <a:t>defenses,</a:t>
            </a:r>
            <a:r>
              <a:rPr sz="1100" i="1" spc="-9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10" dirty="0">
                <a:solidFill>
                  <a:srgbClr val="7030A0"/>
                </a:solidFill>
                <a:latin typeface="Verdana"/>
                <a:cs typeface="Verdana"/>
              </a:rPr>
              <a:t>i.e.</a:t>
            </a:r>
            <a:r>
              <a:rPr sz="1100" i="1" spc="-9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90" dirty="0">
                <a:solidFill>
                  <a:srgbClr val="7030A0"/>
                </a:solidFill>
                <a:latin typeface="Verdana"/>
                <a:cs typeface="Verdana"/>
              </a:rPr>
              <a:t>IBM</a:t>
            </a:r>
            <a:r>
              <a:rPr sz="1100" i="1" spc="-1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114" dirty="0">
                <a:solidFill>
                  <a:srgbClr val="7030A0"/>
                </a:solidFill>
                <a:latin typeface="Verdana"/>
                <a:cs typeface="Verdana"/>
              </a:rPr>
              <a:t>Trust</a:t>
            </a:r>
            <a:r>
              <a:rPr sz="1100" i="1" spc="-11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100" i="1" spc="-25" dirty="0">
                <a:solidFill>
                  <a:srgbClr val="7030A0"/>
                </a:solidFill>
                <a:latin typeface="Verdana"/>
                <a:cs typeface="Verdana"/>
              </a:rPr>
              <a:t>360 </a:t>
            </a:r>
            <a:r>
              <a:rPr sz="1100" i="1" spc="-10" dirty="0">
                <a:solidFill>
                  <a:srgbClr val="7030A0"/>
                </a:solidFill>
                <a:latin typeface="Verdana"/>
                <a:cs typeface="Verdana"/>
              </a:rPr>
              <a:t>toolkits.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1729" y="6197596"/>
            <a:ext cx="4665980" cy="354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692910" marR="5080" indent="-1680845">
              <a:lnSpc>
                <a:spcPts val="1270"/>
              </a:lnSpc>
              <a:spcBef>
                <a:spcPts val="185"/>
              </a:spcBef>
            </a:pPr>
            <a:r>
              <a:rPr sz="1100" i="1" spc="-110" dirty="0">
                <a:solidFill>
                  <a:srgbClr val="C00000"/>
                </a:solidFill>
                <a:latin typeface="Verdana"/>
                <a:cs typeface="Verdana"/>
              </a:rPr>
              <a:t>Occur</a:t>
            </a:r>
            <a:r>
              <a:rPr sz="1100" i="1" spc="-1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25" dirty="0">
                <a:solidFill>
                  <a:srgbClr val="C00000"/>
                </a:solidFill>
                <a:latin typeface="Verdana"/>
                <a:cs typeface="Verdana"/>
              </a:rPr>
              <a:t>when</a:t>
            </a:r>
            <a:r>
              <a:rPr sz="1100" i="1" spc="-1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10" dirty="0">
                <a:solidFill>
                  <a:srgbClr val="C00000"/>
                </a:solidFill>
                <a:latin typeface="Verdana"/>
                <a:cs typeface="Verdana"/>
              </a:rPr>
              <a:t>LLMs</a:t>
            </a:r>
            <a:r>
              <a:rPr sz="1100" i="1" spc="-1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00" dirty="0">
                <a:solidFill>
                  <a:srgbClr val="C00000"/>
                </a:solidFill>
                <a:latin typeface="Verdana"/>
                <a:cs typeface="Verdana"/>
              </a:rPr>
              <a:t>are</a:t>
            </a:r>
            <a:r>
              <a:rPr sz="1100" i="1" spc="-1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05" dirty="0">
                <a:solidFill>
                  <a:srgbClr val="C00000"/>
                </a:solidFill>
                <a:latin typeface="Verdana"/>
                <a:cs typeface="Verdana"/>
              </a:rPr>
              <a:t>used</a:t>
            </a:r>
            <a:r>
              <a:rPr sz="1100" i="1" spc="-1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75" dirty="0">
                <a:solidFill>
                  <a:srgbClr val="C00000"/>
                </a:solidFill>
                <a:latin typeface="Verdana"/>
                <a:cs typeface="Verdana"/>
              </a:rPr>
              <a:t>in</a:t>
            </a:r>
            <a:r>
              <a:rPr sz="1100" i="1" spc="-1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20" dirty="0">
                <a:solidFill>
                  <a:srgbClr val="C00000"/>
                </a:solidFill>
                <a:latin typeface="Verdana"/>
                <a:cs typeface="Verdana"/>
              </a:rPr>
              <a:t>generative</a:t>
            </a:r>
            <a:r>
              <a:rPr sz="1100" i="1" spc="-1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10" dirty="0">
                <a:solidFill>
                  <a:srgbClr val="C00000"/>
                </a:solidFill>
                <a:latin typeface="Verdana"/>
                <a:cs typeface="Verdana"/>
              </a:rPr>
              <a:t>tasks,</a:t>
            </a:r>
            <a:r>
              <a:rPr sz="1100" i="1" spc="-11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90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1100" i="1" spc="-1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85" dirty="0">
                <a:solidFill>
                  <a:srgbClr val="C00000"/>
                </a:solidFill>
                <a:latin typeface="Verdana"/>
                <a:cs typeface="Verdana"/>
              </a:rPr>
              <a:t>do</a:t>
            </a:r>
            <a:r>
              <a:rPr sz="1100" i="1" spc="-1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10" dirty="0">
                <a:solidFill>
                  <a:srgbClr val="C00000"/>
                </a:solidFill>
                <a:latin typeface="Verdana"/>
                <a:cs typeface="Verdana"/>
              </a:rPr>
              <a:t>not</a:t>
            </a:r>
            <a:r>
              <a:rPr sz="1100" i="1" spc="-130" dirty="0">
                <a:solidFill>
                  <a:srgbClr val="C00000"/>
                </a:solidFill>
                <a:latin typeface="Verdana"/>
                <a:cs typeface="Verdana"/>
              </a:rPr>
              <a:t> yet</a:t>
            </a:r>
            <a:r>
              <a:rPr sz="1100" i="1" spc="-1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20" dirty="0">
                <a:solidFill>
                  <a:srgbClr val="C00000"/>
                </a:solidFill>
                <a:latin typeface="Verdana"/>
                <a:cs typeface="Verdana"/>
              </a:rPr>
              <a:t>have</a:t>
            </a:r>
            <a:r>
              <a:rPr sz="1100" i="1" spc="-1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95" dirty="0">
                <a:solidFill>
                  <a:srgbClr val="C00000"/>
                </a:solidFill>
                <a:latin typeface="Verdana"/>
                <a:cs typeface="Verdana"/>
              </a:rPr>
              <a:t>well-</a:t>
            </a:r>
            <a:r>
              <a:rPr sz="1100" i="1" spc="-45" dirty="0">
                <a:solidFill>
                  <a:srgbClr val="C00000"/>
                </a:solidFill>
                <a:latin typeface="Verdana"/>
                <a:cs typeface="Verdana"/>
              </a:rPr>
              <a:t>defined </a:t>
            </a:r>
            <a:r>
              <a:rPr sz="1100" i="1" spc="-110" dirty="0">
                <a:solidFill>
                  <a:srgbClr val="C00000"/>
                </a:solidFill>
                <a:latin typeface="Verdana"/>
                <a:cs typeface="Verdana"/>
              </a:rPr>
              <a:t>metrics</a:t>
            </a:r>
            <a:r>
              <a:rPr sz="1100" i="1" spc="-1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90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1100" i="1" spc="-1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100" i="1" spc="-10" dirty="0">
                <a:solidFill>
                  <a:srgbClr val="C00000"/>
                </a:solidFill>
                <a:latin typeface="Verdana"/>
                <a:cs typeface="Verdana"/>
              </a:rPr>
              <a:t>defenses.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266" y="554563"/>
            <a:ext cx="82575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90" dirty="0">
                <a:latin typeface="Trebuchet MS"/>
                <a:cs typeface="Trebuchet MS"/>
              </a:rPr>
              <a:t>3.</a:t>
            </a:r>
            <a:r>
              <a:rPr sz="3200" spc="-295" dirty="0">
                <a:latin typeface="Trebuchet MS"/>
                <a:cs typeface="Trebuchet MS"/>
              </a:rPr>
              <a:t> </a:t>
            </a:r>
            <a:r>
              <a:rPr sz="3200" spc="-65" dirty="0">
                <a:latin typeface="Trebuchet MS"/>
                <a:cs typeface="Trebuchet MS"/>
              </a:rPr>
              <a:t>IBM’s</a:t>
            </a:r>
            <a:r>
              <a:rPr sz="3200" spc="-29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been</a:t>
            </a:r>
            <a:r>
              <a:rPr sz="3200" spc="-295" dirty="0">
                <a:latin typeface="Trebuchet MS"/>
                <a:cs typeface="Trebuchet MS"/>
              </a:rPr>
              <a:t> </a:t>
            </a:r>
            <a:r>
              <a:rPr sz="3200" b="1" spc="-100" dirty="0">
                <a:solidFill>
                  <a:srgbClr val="FF0000"/>
                </a:solidFill>
                <a:latin typeface="Trebuchet MS"/>
                <a:cs typeface="Trebuchet MS"/>
              </a:rPr>
              <a:t>leading</a:t>
            </a:r>
            <a:r>
              <a:rPr sz="3200" b="1" spc="-4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AI</a:t>
            </a:r>
            <a:r>
              <a:rPr sz="3200" spc="-420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Governance</a:t>
            </a:r>
            <a:r>
              <a:rPr sz="3200" spc="-30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for</a:t>
            </a:r>
            <a:r>
              <a:rPr sz="3200" spc="-29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a</a:t>
            </a:r>
            <a:r>
              <a:rPr sz="3200" spc="-305" dirty="0">
                <a:latin typeface="Trebuchet MS"/>
                <a:cs typeface="Trebuchet MS"/>
              </a:rPr>
              <a:t> </a:t>
            </a:r>
            <a:r>
              <a:rPr sz="3200" spc="-55" dirty="0">
                <a:latin typeface="Trebuchet MS"/>
                <a:cs typeface="Trebuchet MS"/>
              </a:rPr>
              <a:t>decade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35293" y="4373025"/>
            <a:ext cx="3066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Liberation Sans Narrow"/>
                <a:cs typeface="Liberation Sans Narrow"/>
              </a:rPr>
              <a:t>https://ai-explainability-</a:t>
            </a:r>
            <a:r>
              <a:rPr sz="1800" spc="75" dirty="0">
                <a:latin typeface="Liberation Sans Narrow"/>
                <a:cs typeface="Liberation Sans Narrow"/>
              </a:rPr>
              <a:t>360.org/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0868" y="2569625"/>
            <a:ext cx="2586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latin typeface="Liberation Sans Narrow"/>
                <a:cs typeface="Liberation Sans Narrow"/>
              </a:rPr>
              <a:t>https://aif360.res.ibm.com/</a:t>
            </a:r>
            <a:endParaRPr sz="1800">
              <a:latin typeface="Liberation Sans Narrow"/>
              <a:cs typeface="Liberation Sans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2128" y="1236459"/>
            <a:ext cx="4730750" cy="12987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128" y="3444473"/>
            <a:ext cx="4318000" cy="8939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73872" y="3788825"/>
            <a:ext cx="1995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1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iberation Sans Narrow"/>
                <a:cs typeface="Liberation Sans Narrow"/>
              </a:rPr>
              <a:t>Book:</a:t>
            </a:r>
            <a:r>
              <a:rPr sz="1800" u="sng" spc="-15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iberation Sans Narrow"/>
                <a:cs typeface="Liberation Sans Narrow"/>
              </a:rPr>
              <a:t> </a:t>
            </a:r>
            <a:r>
              <a:rPr sz="1800" u="sng" spc="114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iberation Sans Narrow"/>
                <a:cs typeface="Liberation Sans Narrow"/>
              </a:rPr>
              <a:t>Trustworthy</a:t>
            </a:r>
            <a:r>
              <a:rPr sz="1800" u="sng" spc="-1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iberation Sans Narrow"/>
                <a:cs typeface="Liberation Sans Narrow"/>
              </a:rPr>
              <a:t> </a:t>
            </a:r>
            <a:r>
              <a:rPr sz="1800" u="sng" spc="6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iberation Sans Narrow"/>
                <a:cs typeface="Liberation Sans Narrow"/>
              </a:rPr>
              <a:t>AI</a:t>
            </a:r>
            <a:endParaRPr sz="1800">
              <a:latin typeface="Liberation Sans Narrow"/>
              <a:cs typeface="Liberation Sans Narrow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5132" y="1442351"/>
            <a:ext cx="1941728" cy="23100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5266" y="4754025"/>
            <a:ext cx="927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latin typeface="Liberation Sans Narrow"/>
                <a:cs typeface="Liberation Sans Narrow"/>
              </a:rPr>
              <a:t>Products:</a:t>
            </a:r>
            <a:endParaRPr sz="1800">
              <a:latin typeface="Liberation Sans Narrow"/>
              <a:cs typeface="Liberation Sans Narro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33255" y="5382833"/>
            <a:ext cx="2656664" cy="5694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5590" y="5243209"/>
            <a:ext cx="2088511" cy="115123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35293" y="5532967"/>
            <a:ext cx="1375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latin typeface="Liberation Sans Narrow"/>
                <a:cs typeface="Liberation Sans Narrow"/>
              </a:rPr>
              <a:t>AI</a:t>
            </a:r>
            <a:r>
              <a:rPr sz="1800" spc="-50" dirty="0">
                <a:latin typeface="Liberation Sans Narrow"/>
                <a:cs typeface="Liberation Sans Narrow"/>
              </a:rPr>
              <a:t> </a:t>
            </a:r>
            <a:r>
              <a:rPr sz="1800" b="1" spc="-55" dirty="0">
                <a:solidFill>
                  <a:srgbClr val="FF0000"/>
                </a:solidFill>
                <a:latin typeface="Trebuchet MS"/>
                <a:cs typeface="Trebuchet MS"/>
              </a:rPr>
              <a:t>FactSheets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sz="3600" spc="-215" dirty="0">
                <a:latin typeface="Trebuchet MS"/>
                <a:cs typeface="Trebuchet MS"/>
              </a:rPr>
              <a:t>4.</a:t>
            </a:r>
            <a:r>
              <a:rPr sz="3600" spc="-509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AI</a:t>
            </a:r>
            <a:r>
              <a:rPr sz="3600" spc="-475" dirty="0">
                <a:latin typeface="Trebuchet MS"/>
                <a:cs typeface="Trebuchet MS"/>
              </a:rPr>
              <a:t> </a:t>
            </a:r>
            <a:r>
              <a:rPr sz="3600" spc="-135" dirty="0">
                <a:latin typeface="Trebuchet MS"/>
                <a:cs typeface="Trebuchet MS"/>
              </a:rPr>
              <a:t>Governance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105" dirty="0">
                <a:latin typeface="Trebuchet MS"/>
                <a:cs typeface="Trebuchet MS"/>
              </a:rPr>
              <a:t>is</a:t>
            </a:r>
            <a:r>
              <a:rPr sz="3600" spc="-320" dirty="0">
                <a:latin typeface="Trebuchet MS"/>
                <a:cs typeface="Trebuchet MS"/>
              </a:rPr>
              <a:t> </a:t>
            </a:r>
            <a:r>
              <a:rPr sz="3600" b="1" spc="-175" dirty="0">
                <a:solidFill>
                  <a:srgbClr val="FF0000"/>
                </a:solidFill>
                <a:latin typeface="Trebuchet MS"/>
                <a:cs typeface="Trebuchet MS"/>
              </a:rPr>
              <a:t>more</a:t>
            </a:r>
            <a:r>
              <a:rPr sz="3600" b="1" spc="-3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b="1" spc="-114" dirty="0">
                <a:solidFill>
                  <a:srgbClr val="FF0000"/>
                </a:solidFill>
                <a:latin typeface="Trebuchet MS"/>
                <a:cs typeface="Trebuchet MS"/>
              </a:rPr>
              <a:t>than</a:t>
            </a:r>
            <a:r>
              <a:rPr sz="3600" b="1" spc="-3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b="1" spc="-70" dirty="0">
                <a:solidFill>
                  <a:srgbClr val="FF0000"/>
                </a:solidFill>
                <a:latin typeface="Trebuchet MS"/>
                <a:cs typeface="Trebuchet MS"/>
              </a:rPr>
              <a:t>technology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0204" y="1785604"/>
            <a:ext cx="4801870" cy="132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5080" indent="-89535">
              <a:lnSpc>
                <a:spcPct val="152800"/>
              </a:lnSpc>
              <a:spcBef>
                <a:spcPts val="100"/>
              </a:spcBef>
            </a:pPr>
            <a:r>
              <a:rPr sz="2800" spc="-90" dirty="0">
                <a:latin typeface="Trebuchet MS"/>
                <a:cs typeface="Trebuchet MS"/>
              </a:rPr>
              <a:t>Organizational</a:t>
            </a:r>
            <a:r>
              <a:rPr sz="2800" spc="-3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AI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Governance </a:t>
            </a:r>
            <a:r>
              <a:rPr sz="2800" spc="85" dirty="0">
                <a:latin typeface="Trebuchet MS"/>
                <a:cs typeface="Trebuchet MS"/>
              </a:rPr>
              <a:t>IBM</a:t>
            </a:r>
            <a:r>
              <a:rPr sz="2800" spc="-3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Consulting’s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expertise: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here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4877" y="3464496"/>
            <a:ext cx="5825924" cy="30882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85229" rIns="0" bIns="0" rtlCol="0">
            <a:spAutoFit/>
          </a:bodyPr>
          <a:lstStyle/>
          <a:p>
            <a:pPr marL="874394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5.</a:t>
            </a:r>
            <a:r>
              <a:rPr sz="3200" spc="-25" dirty="0"/>
              <a:t> </a:t>
            </a:r>
            <a:r>
              <a:rPr sz="3200" dirty="0"/>
              <a:t>This</a:t>
            </a:r>
            <a:r>
              <a:rPr sz="3200" spc="-25" dirty="0"/>
              <a:t> </a:t>
            </a:r>
            <a:r>
              <a:rPr sz="3200" dirty="0"/>
              <a:t>is</a:t>
            </a:r>
            <a:r>
              <a:rPr sz="3200" spc="-30" dirty="0"/>
              <a:t> </a:t>
            </a:r>
            <a:r>
              <a:rPr sz="3200" dirty="0"/>
              <a:t>how</a:t>
            </a:r>
            <a:r>
              <a:rPr sz="3200" spc="-25" dirty="0"/>
              <a:t> </a:t>
            </a:r>
            <a:r>
              <a:rPr sz="3200" dirty="0"/>
              <a:t>we</a:t>
            </a:r>
            <a:r>
              <a:rPr sz="3200" spc="-35" dirty="0"/>
              <a:t> </a:t>
            </a:r>
            <a:r>
              <a:rPr sz="4800" spc="-25" dirty="0">
                <a:solidFill>
                  <a:srgbClr val="FF0000"/>
                </a:solidFill>
              </a:rPr>
              <a:t>win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412223" y="4093625"/>
            <a:ext cx="1282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1877" y="1562096"/>
            <a:ext cx="27076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latin typeface="Liberation Sans Narrow"/>
                <a:cs typeface="Liberation Sans Narrow"/>
              </a:rPr>
              <a:t>In</a:t>
            </a:r>
            <a:r>
              <a:rPr sz="2000" spc="-60" dirty="0">
                <a:latin typeface="Liberation Sans Narrow"/>
                <a:cs typeface="Liberation Sans Narrow"/>
              </a:rPr>
              <a:t> </a:t>
            </a:r>
            <a:r>
              <a:rPr sz="2000" spc="155" dirty="0">
                <a:latin typeface="Liberation Sans Narrow"/>
                <a:cs typeface="Liberation Sans Narrow"/>
              </a:rPr>
              <a:t>the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130" dirty="0">
                <a:latin typeface="Liberation Sans Narrow"/>
                <a:cs typeface="Liberation Sans Narrow"/>
              </a:rPr>
              <a:t>next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114" dirty="0">
                <a:latin typeface="Liberation Sans Narrow"/>
                <a:cs typeface="Liberation Sans Narrow"/>
              </a:rPr>
              <a:t>day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114" dirty="0">
                <a:latin typeface="Liberation Sans Narrow"/>
                <a:cs typeface="Liberation Sans Narrow"/>
              </a:rPr>
              <a:t>and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60" dirty="0">
                <a:latin typeface="Liberation Sans Narrow"/>
                <a:cs typeface="Liberation Sans Narrow"/>
              </a:rPr>
              <a:t>a</a:t>
            </a:r>
            <a:r>
              <a:rPr sz="2000" spc="-60" dirty="0">
                <a:latin typeface="Liberation Sans Narrow"/>
                <a:cs typeface="Liberation Sans Narrow"/>
              </a:rPr>
              <a:t> </a:t>
            </a:r>
            <a:r>
              <a:rPr sz="2000" spc="90" dirty="0">
                <a:latin typeface="Liberation Sans Narrow"/>
                <a:cs typeface="Liberation Sans Narrow"/>
              </a:rPr>
              <a:t>half:</a:t>
            </a:r>
            <a:endParaRPr sz="2000">
              <a:latin typeface="Liberation Sans Narrow"/>
              <a:cs typeface="Liberation Sans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1877" y="2163225"/>
            <a:ext cx="8236584" cy="343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sz="2800" b="1" spc="12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Demo</a:t>
            </a:r>
            <a:r>
              <a:rPr sz="2800" spc="120" dirty="0">
                <a:latin typeface="Trebuchet MS"/>
                <a:cs typeface="Trebuchet MS"/>
              </a:rPr>
              <a:t>,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features,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roadmap</a:t>
            </a:r>
            <a:endParaRPr sz="2800">
              <a:latin typeface="Trebuchet MS"/>
              <a:cs typeface="Trebuchet MS"/>
            </a:endParaRPr>
          </a:p>
          <a:p>
            <a:pPr marL="353695" indent="-340995">
              <a:lnSpc>
                <a:spcPts val="3315"/>
              </a:lnSpc>
              <a:spcBef>
                <a:spcPts val="40"/>
              </a:spcBef>
              <a:buAutoNum type="arabicPeriod"/>
              <a:tabLst>
                <a:tab pos="353695" algn="l"/>
              </a:tabLst>
            </a:pPr>
            <a:r>
              <a:rPr sz="2800" spc="-90" dirty="0">
                <a:latin typeface="Trebuchet MS"/>
                <a:cs typeface="Trebuchet MS"/>
              </a:rPr>
              <a:t>Where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can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find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b="1" spc="6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assets</a:t>
            </a:r>
            <a:r>
              <a:rPr sz="2800" spc="60" dirty="0">
                <a:latin typeface="Trebuchet MS"/>
                <a:cs typeface="Trebuchet MS"/>
              </a:rPr>
              <a:t>?</a:t>
            </a:r>
            <a:endParaRPr sz="2800">
              <a:latin typeface="Trebuchet MS"/>
              <a:cs typeface="Trebuchet MS"/>
            </a:endParaRPr>
          </a:p>
          <a:p>
            <a:pPr marL="354330" indent="-341630">
              <a:lnSpc>
                <a:spcPts val="3315"/>
              </a:lnSpc>
              <a:buAutoNum type="arabicPeriod"/>
              <a:tabLst>
                <a:tab pos="354330" algn="l"/>
              </a:tabLst>
            </a:pPr>
            <a:r>
              <a:rPr sz="2800" b="1" spc="12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Metrics</a:t>
            </a:r>
            <a:r>
              <a:rPr sz="2800" b="1" spc="-5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evaluation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LLMs</a:t>
            </a:r>
            <a:endParaRPr sz="2800">
              <a:latin typeface="Trebuchet MS"/>
              <a:cs typeface="Trebuchet MS"/>
            </a:endParaRPr>
          </a:p>
          <a:p>
            <a:pPr marL="353695" indent="-340995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53695" algn="l"/>
              </a:tabLst>
            </a:pPr>
            <a:r>
              <a:rPr sz="2800" spc="-70" dirty="0">
                <a:latin typeface="Trebuchet MS"/>
                <a:cs typeface="Trebuchet MS"/>
              </a:rPr>
              <a:t>Hands-</a:t>
            </a:r>
            <a:r>
              <a:rPr sz="2800" spc="-45" dirty="0">
                <a:latin typeface="Trebuchet MS"/>
                <a:cs typeface="Trebuchet MS"/>
              </a:rPr>
              <a:t>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lab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assisted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prompt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b="1" spc="12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evaluation</a:t>
            </a:r>
            <a:endParaRPr sz="2800">
              <a:latin typeface="Liberation Sans Narrow"/>
              <a:cs typeface="Liberation Sans Narrow"/>
            </a:endParaRPr>
          </a:p>
          <a:p>
            <a:pPr marL="354330" indent="-341630">
              <a:lnSpc>
                <a:spcPts val="3345"/>
              </a:lnSpc>
              <a:spcBef>
                <a:spcPts val="40"/>
              </a:spcBef>
              <a:buAutoNum type="arabicPeriod"/>
              <a:tabLst>
                <a:tab pos="354330" algn="l"/>
              </a:tabLst>
            </a:pPr>
            <a:r>
              <a:rPr sz="2800" spc="-70" dirty="0">
                <a:latin typeface="Trebuchet MS"/>
                <a:cs typeface="Trebuchet MS"/>
              </a:rPr>
              <a:t>Hands-</a:t>
            </a:r>
            <a:r>
              <a:rPr sz="2800" spc="-45" dirty="0">
                <a:latin typeface="Trebuchet MS"/>
                <a:cs typeface="Trebuchet MS"/>
              </a:rPr>
              <a:t>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lab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b="1" spc="15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monitoring</a:t>
            </a:r>
            <a:r>
              <a:rPr sz="2800" b="1" spc="-4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lifecycle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governance</a:t>
            </a:r>
            <a:endParaRPr sz="2800">
              <a:latin typeface="Trebuchet MS"/>
              <a:cs typeface="Trebuchet MS"/>
            </a:endParaRPr>
          </a:p>
          <a:p>
            <a:pPr marL="353695" indent="-340995">
              <a:lnSpc>
                <a:spcPts val="3345"/>
              </a:lnSpc>
              <a:buAutoNum type="arabicPeriod"/>
              <a:tabLst>
                <a:tab pos="353695" algn="l"/>
              </a:tabLst>
            </a:pPr>
            <a:r>
              <a:rPr sz="2800" spc="-40" dirty="0">
                <a:latin typeface="Trebuchet MS"/>
                <a:cs typeface="Trebuchet MS"/>
              </a:rPr>
              <a:t>OpenPages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regulatory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b="1" spc="9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compliance</a:t>
            </a:r>
            <a:endParaRPr sz="2800">
              <a:latin typeface="Liberation Sans Narrow"/>
              <a:cs typeface="Liberation Sans Narrow"/>
            </a:endParaRPr>
          </a:p>
          <a:p>
            <a:pPr marL="12700" marR="5455920" indent="340995">
              <a:lnSpc>
                <a:spcPts val="3270"/>
              </a:lnSpc>
              <a:spcBef>
                <a:spcPts val="225"/>
              </a:spcBef>
              <a:buAutoNum type="arabicPeriod"/>
              <a:tabLst>
                <a:tab pos="353695" algn="l"/>
              </a:tabLst>
            </a:pPr>
            <a:r>
              <a:rPr sz="2800" spc="-25" dirty="0">
                <a:latin typeface="Trebuchet MS"/>
                <a:cs typeface="Trebuchet MS"/>
              </a:rPr>
              <a:t>Engaging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clients </a:t>
            </a:r>
            <a:r>
              <a:rPr sz="2800" spc="-10" dirty="0">
                <a:latin typeface="Trebuchet MS"/>
                <a:cs typeface="Trebuchet MS"/>
              </a:rPr>
              <a:t>Much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more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277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6119" y="962342"/>
            <a:ext cx="5193093" cy="465955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2385" y="2315625"/>
            <a:ext cx="76473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310" dirty="0">
                <a:latin typeface="Liberation Sans Narrow"/>
                <a:cs typeface="Liberation Sans Narrow"/>
              </a:rPr>
              <a:t>AI</a:t>
            </a:r>
            <a:r>
              <a:rPr sz="7200" spc="185" dirty="0">
                <a:latin typeface="Liberation Sans Narrow"/>
                <a:cs typeface="Liberation Sans Narrow"/>
              </a:rPr>
              <a:t> </a:t>
            </a:r>
            <a:r>
              <a:rPr sz="7200" spc="36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M</a:t>
            </a:r>
            <a:r>
              <a:rPr sz="7200" spc="96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e</a:t>
            </a:r>
            <a:r>
              <a:rPr sz="7200" spc="91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t</a:t>
            </a:r>
            <a:r>
              <a:rPr sz="7200" spc="80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r</a:t>
            </a:r>
            <a:r>
              <a:rPr sz="7200" spc="56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i</a:t>
            </a:r>
            <a:r>
              <a:rPr sz="7200" spc="73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c</a:t>
            </a:r>
            <a:r>
              <a:rPr sz="7200" spc="36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s</a:t>
            </a:r>
            <a:r>
              <a:rPr sz="7200" spc="17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7200" spc="204" dirty="0">
                <a:latin typeface="Liberation Sans Narrow"/>
                <a:cs typeface="Liberation Sans Narrow"/>
              </a:rPr>
              <a:t>and</a:t>
            </a:r>
            <a:r>
              <a:rPr sz="7200" spc="185" dirty="0">
                <a:latin typeface="Liberation Sans Narrow"/>
                <a:cs typeface="Liberation Sans Narrow"/>
              </a:rPr>
              <a:t> </a:t>
            </a:r>
            <a:r>
              <a:rPr sz="7200" spc="114" dirty="0">
                <a:latin typeface="Liberation Sans Narrow"/>
                <a:cs typeface="Liberation Sans Narrow"/>
              </a:rPr>
              <a:t>more</a:t>
            </a:r>
            <a:endParaRPr sz="7200">
              <a:latin typeface="Liberation Sans Narrow"/>
              <a:cs typeface="Liberation Sans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51326" y="3419344"/>
            <a:ext cx="4689475" cy="101346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75"/>
              </a:spcBef>
            </a:pPr>
            <a:r>
              <a:rPr sz="2800" b="1" spc="7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Óscar</a:t>
            </a:r>
            <a:r>
              <a:rPr sz="2800" b="1" spc="-13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400" b="1" spc="70" dirty="0">
                <a:latin typeface="Liberation Sans Narrow"/>
                <a:cs typeface="Liberation Sans Narrow"/>
              </a:rPr>
              <a:t>Lara-</a:t>
            </a:r>
            <a:r>
              <a:rPr sz="2400" b="1" spc="75" dirty="0">
                <a:latin typeface="Liberation Sans Narrow"/>
                <a:cs typeface="Liberation Sans Narrow"/>
              </a:rPr>
              <a:t>Yejas,</a:t>
            </a:r>
            <a:r>
              <a:rPr sz="2400" b="1" spc="-30" dirty="0">
                <a:latin typeface="Liberation Sans Narrow"/>
                <a:cs typeface="Liberation Sans Narrow"/>
              </a:rPr>
              <a:t> </a:t>
            </a:r>
            <a:r>
              <a:rPr sz="2400" b="1" spc="114" dirty="0">
                <a:latin typeface="Liberation Sans Narrow"/>
                <a:cs typeface="Liberation Sans Narrow"/>
              </a:rPr>
              <a:t>Ph.D.</a:t>
            </a:r>
            <a:endParaRPr sz="2400">
              <a:latin typeface="Liberation Sans Narrow"/>
              <a:cs typeface="Liberation Sans Narrow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2000" spc="9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Principal</a:t>
            </a:r>
            <a:r>
              <a:rPr sz="2000" spc="-14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10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AI</a:t>
            </a:r>
            <a:r>
              <a:rPr sz="2000" spc="-4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8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Engineer,</a:t>
            </a:r>
            <a:r>
              <a:rPr sz="2000" spc="-4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125" dirty="0">
                <a:solidFill>
                  <a:srgbClr val="7F7F7F"/>
                </a:solidFill>
                <a:latin typeface="Liberation Sans Narrow"/>
                <a:cs typeface="Liberation Sans Narrow"/>
              </a:rPr>
              <a:t>IBM</a:t>
            </a:r>
            <a:r>
              <a:rPr sz="2000" spc="-13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10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Client</a:t>
            </a:r>
            <a:r>
              <a:rPr sz="2000" spc="-4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 </a:t>
            </a:r>
            <a:r>
              <a:rPr sz="2000" spc="90" dirty="0">
                <a:solidFill>
                  <a:srgbClr val="7F7F7F"/>
                </a:solidFill>
                <a:latin typeface="Liberation Sans Narrow"/>
                <a:cs typeface="Liberation Sans Narrow"/>
              </a:rPr>
              <a:t>Engineering</a:t>
            </a:r>
            <a:endParaRPr sz="20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067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4000" spc="-100" dirty="0">
                <a:latin typeface="Trebuchet MS"/>
                <a:cs typeface="Trebuchet MS"/>
              </a:rPr>
              <a:t>What</a:t>
            </a:r>
            <a:r>
              <a:rPr sz="4000" spc="-375" dirty="0">
                <a:latin typeface="Trebuchet MS"/>
                <a:cs typeface="Trebuchet MS"/>
              </a:rPr>
              <a:t> </a:t>
            </a:r>
            <a:r>
              <a:rPr sz="4000" spc="-114" dirty="0">
                <a:solidFill>
                  <a:srgbClr val="FF0000"/>
                </a:solidFill>
                <a:latin typeface="Trebuchet MS"/>
                <a:cs typeface="Trebuchet MS"/>
              </a:rPr>
              <a:t>risks</a:t>
            </a:r>
            <a:r>
              <a:rPr sz="4000" spc="-3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4000" spc="-204" dirty="0">
                <a:latin typeface="Trebuchet MS"/>
                <a:cs typeface="Trebuchet MS"/>
              </a:rPr>
              <a:t>are</a:t>
            </a:r>
            <a:r>
              <a:rPr sz="4000" spc="-375" dirty="0">
                <a:latin typeface="Trebuchet MS"/>
                <a:cs typeface="Trebuchet MS"/>
              </a:rPr>
              <a:t> </a:t>
            </a:r>
            <a:r>
              <a:rPr sz="4000" spc="-190" dirty="0">
                <a:latin typeface="Trebuchet MS"/>
                <a:cs typeface="Trebuchet MS"/>
              </a:rPr>
              <a:t>we</a:t>
            </a:r>
            <a:r>
              <a:rPr sz="4000" spc="-375" dirty="0">
                <a:latin typeface="Trebuchet MS"/>
                <a:cs typeface="Trebuchet MS"/>
              </a:rPr>
              <a:t> </a:t>
            </a:r>
            <a:r>
              <a:rPr sz="4000" spc="-140" dirty="0">
                <a:latin typeface="Trebuchet MS"/>
                <a:cs typeface="Trebuchet MS"/>
              </a:rPr>
              <a:t>talking</a:t>
            </a:r>
            <a:r>
              <a:rPr sz="4000" spc="-370" dirty="0">
                <a:latin typeface="Trebuchet MS"/>
                <a:cs typeface="Trebuchet MS"/>
              </a:rPr>
              <a:t> </a:t>
            </a:r>
            <a:r>
              <a:rPr sz="4000" spc="-10" dirty="0">
                <a:latin typeface="Trebuchet MS"/>
                <a:cs typeface="Trebuchet MS"/>
              </a:rPr>
              <a:t>about?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613134"/>
            <a:ext cx="2234565" cy="36861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30"/>
              </a:spcBef>
              <a:buFont typeface="Arial"/>
              <a:buChar char="•"/>
              <a:tabLst>
                <a:tab pos="240665" algn="l"/>
              </a:tabLst>
            </a:pPr>
            <a:r>
              <a:rPr sz="4400" spc="-10" dirty="0">
                <a:latin typeface="Trebuchet MS"/>
                <a:cs typeface="Trebuchet MS"/>
              </a:rPr>
              <a:t>Drift</a:t>
            </a:r>
            <a:endParaRPr sz="4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35" dirty="0">
                <a:latin typeface="Trebuchet MS"/>
                <a:cs typeface="Trebuchet MS"/>
              </a:rPr>
              <a:t>Model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health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0665" algn="l"/>
              </a:tabLst>
            </a:pPr>
            <a:r>
              <a:rPr sz="3600" spc="-10" dirty="0">
                <a:latin typeface="Trebuchet MS"/>
                <a:cs typeface="Trebuchet MS"/>
              </a:rPr>
              <a:t>Quality</a:t>
            </a:r>
            <a:endParaRPr sz="36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Trebuchet MS"/>
                <a:cs typeface="Trebuchet MS"/>
              </a:rPr>
              <a:t>Fairness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40665" algn="l"/>
              </a:tabLst>
            </a:pPr>
            <a:r>
              <a:rPr sz="4000" spc="-70" dirty="0">
                <a:latin typeface="Trebuchet MS"/>
                <a:cs typeface="Trebuchet MS"/>
              </a:rPr>
              <a:t>Toxicity</a:t>
            </a:r>
            <a:endParaRPr sz="40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5" dirty="0">
                <a:latin typeface="Trebuchet MS"/>
                <a:cs typeface="Trebuchet MS"/>
              </a:rPr>
              <a:t>Explainability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3829"/>
            <a:ext cx="30867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0" dirty="0">
                <a:latin typeface="Trebuchet MS"/>
                <a:cs typeface="Trebuchet MS"/>
              </a:rPr>
              <a:t>What</a:t>
            </a:r>
            <a:r>
              <a:rPr sz="4400" spc="-434" dirty="0">
                <a:latin typeface="Trebuchet MS"/>
                <a:cs typeface="Trebuchet MS"/>
              </a:rPr>
              <a:t> </a:t>
            </a:r>
            <a:r>
              <a:rPr sz="4400" spc="-125" dirty="0">
                <a:latin typeface="Trebuchet MS"/>
                <a:cs typeface="Trebuchet MS"/>
              </a:rPr>
              <a:t>is</a:t>
            </a:r>
            <a:r>
              <a:rPr sz="4400" spc="-434" dirty="0">
                <a:latin typeface="Trebuchet MS"/>
                <a:cs typeface="Trebuchet MS"/>
              </a:rPr>
              <a:t> </a:t>
            </a:r>
            <a:r>
              <a:rPr sz="4400" spc="-110" dirty="0">
                <a:latin typeface="Trebuchet MS"/>
                <a:cs typeface="Trebuchet MS"/>
              </a:rPr>
              <a:t>drift?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9979" rIns="0" bIns="0" rtlCol="0">
            <a:spAutoFit/>
          </a:bodyPr>
          <a:lstStyle/>
          <a:p>
            <a:pPr marL="464820">
              <a:lnSpc>
                <a:spcPts val="3820"/>
              </a:lnSpc>
              <a:spcBef>
                <a:spcPts val="100"/>
              </a:spcBef>
            </a:pPr>
            <a:r>
              <a:rPr sz="3200" spc="23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“Model</a:t>
            </a:r>
            <a:r>
              <a:rPr sz="3200" spc="14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42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drift</a:t>
            </a:r>
            <a:r>
              <a:rPr sz="3200" spc="14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20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refers</a:t>
            </a:r>
            <a:r>
              <a:rPr sz="3200" spc="15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22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to</a:t>
            </a:r>
            <a:r>
              <a:rPr sz="3200" spc="14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21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the</a:t>
            </a:r>
            <a:r>
              <a:rPr sz="3200" spc="15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100" spc="21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degradation</a:t>
            </a:r>
            <a:r>
              <a:rPr sz="3100" spc="17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3200" spc="22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of</a:t>
            </a:r>
            <a:r>
              <a:rPr sz="3200" spc="15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5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model</a:t>
            </a:r>
            <a:endParaRPr sz="3200">
              <a:latin typeface="Liberation Sans Narrow"/>
              <a:cs typeface="Liberation Sans Narrow"/>
            </a:endParaRPr>
          </a:p>
          <a:p>
            <a:pPr marL="464820" marR="5080">
              <a:lnSpc>
                <a:spcPts val="3800"/>
              </a:lnSpc>
              <a:spcBef>
                <a:spcPts val="120"/>
              </a:spcBef>
            </a:pPr>
            <a:r>
              <a:rPr sz="3200" spc="22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performance</a:t>
            </a:r>
            <a:r>
              <a:rPr sz="3200" spc="10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due</a:t>
            </a:r>
            <a:r>
              <a:rPr sz="3200" spc="10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22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to</a:t>
            </a:r>
            <a:r>
              <a:rPr sz="3200" spc="11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100" spc="15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changes</a:t>
            </a:r>
            <a:r>
              <a:rPr sz="3100" spc="13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3100" spc="21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in</a:t>
            </a:r>
            <a:r>
              <a:rPr sz="3100" spc="14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3100" spc="26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data</a:t>
            </a:r>
            <a:r>
              <a:rPr sz="3100" spc="13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3200" spc="12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and</a:t>
            </a:r>
            <a:r>
              <a:rPr sz="3200" spc="11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17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relationships </a:t>
            </a:r>
            <a:r>
              <a:rPr sz="3200" spc="22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between</a:t>
            </a:r>
            <a:r>
              <a:rPr sz="3200" spc="14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23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input</a:t>
            </a:r>
            <a:r>
              <a:rPr sz="3200" spc="13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12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and</a:t>
            </a:r>
            <a:r>
              <a:rPr sz="3200" spc="13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254" dirty="0">
                <a:solidFill>
                  <a:srgbClr val="161616"/>
                </a:solidFill>
                <a:latin typeface="Liberation Sans Narrow"/>
                <a:cs typeface="Liberation Sans Narrow"/>
              </a:rPr>
              <a:t>output</a:t>
            </a:r>
            <a:r>
              <a:rPr sz="3200" spc="13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3200" spc="19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variables”</a:t>
            </a:r>
            <a:endParaRPr sz="32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2270" y="3166537"/>
              <a:ext cx="8382000" cy="8551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0591" y="3194735"/>
              <a:ext cx="8302180" cy="7754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50187" y="5228167"/>
            <a:ext cx="31210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6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T</a:t>
            </a:r>
            <a:r>
              <a:rPr sz="4400" spc="29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r</a:t>
            </a:r>
            <a:r>
              <a:rPr sz="4400" spc="34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a</a:t>
            </a:r>
            <a:r>
              <a:rPr sz="4400" spc="37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i</a:t>
            </a:r>
            <a:r>
              <a:rPr sz="4400" spc="35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n</a:t>
            </a:r>
            <a:r>
              <a:rPr sz="4400" spc="37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i</a:t>
            </a:r>
            <a:r>
              <a:rPr sz="4400" spc="30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n</a:t>
            </a:r>
            <a:r>
              <a:rPr sz="4400" spc="8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g</a:t>
            </a:r>
            <a:r>
              <a:rPr sz="4400" spc="204" dirty="0">
                <a:solidFill>
                  <a:srgbClr val="FFFFFF"/>
                </a:solidFill>
                <a:latin typeface="Liberation Sans Narrow"/>
                <a:cs typeface="Liberation Sans Narrow"/>
              </a:rPr>
              <a:t> </a:t>
            </a:r>
            <a:r>
              <a:rPr sz="4400" spc="28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data</a:t>
            </a:r>
            <a:endParaRPr sz="4400">
              <a:latin typeface="Liberation Sans Narrow"/>
              <a:cs typeface="Liberation Sans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3213" y="5643025"/>
            <a:ext cx="1189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Testing</a:t>
            </a:r>
            <a:r>
              <a:rPr sz="1800" spc="-30" dirty="0">
                <a:solidFill>
                  <a:srgbClr val="161616"/>
                </a:solidFill>
                <a:latin typeface="Liberation Sans Narrow"/>
                <a:cs typeface="Liberation Sans Narrow"/>
              </a:rPr>
              <a:t> </a:t>
            </a:r>
            <a:r>
              <a:rPr sz="1800" spc="85" dirty="0">
                <a:solidFill>
                  <a:srgbClr val="161616"/>
                </a:solidFill>
                <a:latin typeface="Liberation Sans Narrow"/>
                <a:cs typeface="Liberation Sans Narrow"/>
              </a:rPr>
              <a:t>data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93278" y="5304367"/>
            <a:ext cx="37071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210" dirty="0">
                <a:solidFill>
                  <a:srgbClr val="FFFFFF"/>
                </a:solidFill>
                <a:latin typeface="Liberation Sans Narrow"/>
                <a:cs typeface="Liberation Sans Narrow"/>
              </a:rPr>
              <a:t>Production </a:t>
            </a:r>
            <a:r>
              <a:rPr sz="4400" spc="285" dirty="0">
                <a:solidFill>
                  <a:srgbClr val="FFFFFF"/>
                </a:solidFill>
                <a:latin typeface="Liberation Sans Narrow"/>
                <a:cs typeface="Liberation Sans Narrow"/>
              </a:rPr>
              <a:t>data</a:t>
            </a:r>
            <a:endParaRPr sz="44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4237" y="1393609"/>
          <a:ext cx="11165839" cy="5378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1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400" b="1" spc="130" dirty="0">
                          <a:solidFill>
                            <a:srgbClr val="FFFFFF"/>
                          </a:solidFill>
                          <a:latin typeface="Liberation Sans Narrow"/>
                          <a:cs typeface="Liberation Sans Narrow"/>
                        </a:rPr>
                        <a:t>Drift</a:t>
                      </a:r>
                      <a:endParaRPr sz="24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301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  <a:spcBef>
                          <a:spcPts val="2575"/>
                        </a:spcBef>
                      </a:pPr>
                      <a:r>
                        <a:rPr sz="2400" b="1" spc="45" dirty="0">
                          <a:solidFill>
                            <a:srgbClr val="FFFFFF"/>
                          </a:solidFill>
                          <a:latin typeface="Liberation Sans Narrow"/>
                          <a:cs typeface="Liberation Sans Narrow"/>
                        </a:rPr>
                        <a:t>Usecase</a:t>
                      </a:r>
                      <a:endParaRPr sz="24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327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35915">
                        <a:lnSpc>
                          <a:spcPct val="100000"/>
                        </a:lnSpc>
                      </a:pPr>
                      <a:r>
                        <a:rPr sz="2000" b="1" spc="70" dirty="0">
                          <a:solidFill>
                            <a:srgbClr val="FFFFFF"/>
                          </a:solidFill>
                          <a:latin typeface="Liberation Sans Narrow"/>
                          <a:cs typeface="Liberation Sans Narrow"/>
                        </a:rPr>
                        <a:t>Training/validation</a:t>
                      </a:r>
                      <a:endParaRPr sz="20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ct val="100000"/>
                        </a:lnSpc>
                        <a:spcBef>
                          <a:spcPts val="2575"/>
                        </a:spcBef>
                      </a:pPr>
                      <a:r>
                        <a:rPr sz="2400" b="1" spc="80" dirty="0">
                          <a:solidFill>
                            <a:srgbClr val="FFFFFF"/>
                          </a:solidFill>
                          <a:latin typeface="Liberation Sans Narrow"/>
                          <a:cs typeface="Liberation Sans Narrow"/>
                        </a:rPr>
                        <a:t>Testing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2400" b="1" spc="140" dirty="0">
                          <a:solidFill>
                            <a:srgbClr val="FFFFFF"/>
                          </a:solidFill>
                          <a:latin typeface="Liberation Sans Narrow"/>
                          <a:cs typeface="Liberation Sans Narrow"/>
                        </a:rPr>
                        <a:t>data</a:t>
                      </a:r>
                      <a:endParaRPr sz="24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327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75" dirty="0">
                          <a:solidFill>
                            <a:srgbClr val="4472C4"/>
                          </a:solidFill>
                          <a:latin typeface="Liberation Sans Narrow"/>
                          <a:cs typeface="Liberation Sans Narrow"/>
                        </a:rPr>
                        <a:t>Structure</a:t>
                      </a:r>
                      <a:endParaRPr sz="20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203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114" dirty="0">
                          <a:latin typeface="Liberation Sans Narrow"/>
                          <a:cs typeface="Liberation Sans Narrow"/>
                        </a:rPr>
                        <a:t>Summarization</a:t>
                      </a:r>
                      <a:endParaRPr sz="20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91590" marR="721360" indent="-157480">
                        <a:lnSpc>
                          <a:spcPts val="2070"/>
                        </a:lnSpc>
                      </a:pPr>
                      <a:r>
                        <a:rPr sz="1800" spc="95" dirty="0">
                          <a:latin typeface="Liberation Sans Narrow"/>
                          <a:cs typeface="Liberation Sans Narrow"/>
                        </a:rPr>
                        <a:t>Customer </a:t>
                      </a:r>
                      <a:r>
                        <a:rPr sz="1800" spc="75" dirty="0">
                          <a:latin typeface="Liberation Sans Narrow"/>
                          <a:cs typeface="Liberation Sans Narrow"/>
                        </a:rPr>
                        <a:t>emails</a:t>
                      </a:r>
                      <a:endParaRPr sz="18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46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6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Phone</a:t>
                      </a:r>
                      <a:r>
                        <a:rPr sz="1800" b="1" spc="-14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transcripts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9420">
                        <a:lnSpc>
                          <a:spcPct val="100000"/>
                        </a:lnSpc>
                      </a:pPr>
                      <a:r>
                        <a:rPr sz="2000" spc="105" dirty="0">
                          <a:solidFill>
                            <a:srgbClr val="4472C4"/>
                          </a:solidFill>
                          <a:latin typeface="Liberation Sans Narrow"/>
                          <a:cs typeface="Liberation Sans Narrow"/>
                        </a:rPr>
                        <a:t>Contents</a:t>
                      </a:r>
                      <a:endParaRPr sz="20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2501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99415">
                        <a:lnSpc>
                          <a:spcPct val="100000"/>
                        </a:lnSpc>
                      </a:pPr>
                      <a:r>
                        <a:rPr sz="2000" spc="75" dirty="0">
                          <a:latin typeface="Liberation Sans Narrow"/>
                          <a:cs typeface="Liberation Sans Narrow"/>
                        </a:rPr>
                        <a:t>Classification</a:t>
                      </a:r>
                      <a:endParaRPr sz="20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81660" marR="875665" indent="635" algn="ctr">
                        <a:lnSpc>
                          <a:spcPct val="100299"/>
                        </a:lnSpc>
                      </a:pPr>
                      <a:r>
                        <a:rPr sz="1800" spc="85" dirty="0">
                          <a:latin typeface="Liberation Sans Narrow"/>
                          <a:cs typeface="Liberation Sans Narrow"/>
                        </a:rPr>
                        <a:t>Banking </a:t>
                      </a:r>
                      <a:r>
                        <a:rPr sz="1800" spc="95" dirty="0">
                          <a:latin typeface="Liberation Sans Narrow"/>
                          <a:cs typeface="Liberation Sans Narrow"/>
                        </a:rPr>
                        <a:t>Credit</a:t>
                      </a:r>
                      <a:r>
                        <a:rPr sz="1800" spc="-10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800" spc="30" dirty="0">
                          <a:latin typeface="Liberation Sans Narrow"/>
                          <a:cs typeface="Liberation Sans Narrow"/>
                        </a:rPr>
                        <a:t>Cards </a:t>
                      </a:r>
                      <a:r>
                        <a:rPr sz="1800" spc="95" dirty="0">
                          <a:latin typeface="Liberation Sans Narrow"/>
                          <a:cs typeface="Liberation Sans Narrow"/>
                        </a:rPr>
                        <a:t>Housing</a:t>
                      </a:r>
                      <a:r>
                        <a:rPr sz="1800" spc="-5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800" spc="55" dirty="0">
                          <a:latin typeface="Liberation Sans Narrow"/>
                          <a:cs typeface="Liberation Sans Narrow"/>
                        </a:rPr>
                        <a:t>loans</a:t>
                      </a:r>
                      <a:endParaRPr sz="18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5155">
                        <a:lnSpc>
                          <a:spcPct val="100000"/>
                        </a:lnSpc>
                      </a:pPr>
                      <a:r>
                        <a:rPr sz="1800" b="1" spc="-11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Vehicle</a:t>
                      </a:r>
                      <a:r>
                        <a:rPr sz="1800" b="1" spc="-114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loans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39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9420">
                        <a:lnSpc>
                          <a:spcPct val="100000"/>
                        </a:lnSpc>
                      </a:pPr>
                      <a:r>
                        <a:rPr sz="2000" b="1" spc="60" dirty="0">
                          <a:solidFill>
                            <a:srgbClr val="4472C4"/>
                          </a:solidFill>
                          <a:latin typeface="Liberation Sans Narrow"/>
                          <a:cs typeface="Liberation Sans Narrow"/>
                        </a:rPr>
                        <a:t>Confidence</a:t>
                      </a:r>
                      <a:endParaRPr sz="20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2463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93700">
                        <a:lnSpc>
                          <a:spcPct val="100000"/>
                        </a:lnSpc>
                      </a:pPr>
                      <a:r>
                        <a:rPr sz="2000" spc="120" dirty="0">
                          <a:latin typeface="Liberation Sans Narrow"/>
                          <a:cs typeface="Liberation Sans Narrow"/>
                        </a:rPr>
                        <a:t>Spam</a:t>
                      </a:r>
                      <a:r>
                        <a:rPr sz="2000" spc="-5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2000" spc="114" dirty="0">
                          <a:latin typeface="Liberation Sans Narrow"/>
                          <a:cs typeface="Liberation Sans Narrow"/>
                        </a:rPr>
                        <a:t>prediction</a:t>
                      </a:r>
                      <a:endParaRPr sz="20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3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88950">
                        <a:lnSpc>
                          <a:spcPct val="100000"/>
                        </a:lnSpc>
                      </a:pPr>
                      <a:r>
                        <a:rPr sz="1800" spc="105" dirty="0">
                          <a:latin typeface="Liberation Sans Narrow"/>
                          <a:cs typeface="Liberation Sans Narrow"/>
                        </a:rPr>
                        <a:t>80%</a:t>
                      </a:r>
                      <a:r>
                        <a:rPr sz="1800" spc="-4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800" spc="125" dirty="0">
                          <a:latin typeface="Liberation Sans Narrow"/>
                          <a:cs typeface="Liberation Sans Narrow"/>
                        </a:rPr>
                        <a:t>on</a:t>
                      </a:r>
                      <a:r>
                        <a:rPr sz="1800" spc="-4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800" spc="65" dirty="0">
                          <a:latin typeface="Liberation Sans Narrow"/>
                          <a:cs typeface="Liberation Sans Narrow"/>
                        </a:rPr>
                        <a:t>average</a:t>
                      </a:r>
                      <a:endParaRPr sz="18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2336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84250" marR="1012190" algn="ctr">
                        <a:lnSpc>
                          <a:spcPts val="2070"/>
                        </a:lnSpc>
                      </a:pPr>
                      <a:r>
                        <a:rPr sz="1800" b="1" spc="-4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50%</a:t>
                      </a:r>
                      <a:r>
                        <a:rPr sz="1800" b="1" spc="-15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on </a:t>
                      </a:r>
                      <a:r>
                        <a:rPr sz="1800" b="1" spc="-7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average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6004" y="427563"/>
            <a:ext cx="3056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70" dirty="0">
                <a:latin typeface="Trebuchet MS"/>
                <a:cs typeface="Trebuchet MS"/>
              </a:rPr>
              <a:t>Types</a:t>
            </a:r>
            <a:r>
              <a:rPr sz="4400" spc="-440" dirty="0">
                <a:latin typeface="Trebuchet MS"/>
                <a:cs typeface="Trebuchet MS"/>
              </a:rPr>
              <a:t> </a:t>
            </a:r>
            <a:r>
              <a:rPr sz="4400" spc="-130" dirty="0">
                <a:latin typeface="Trebuchet MS"/>
                <a:cs typeface="Trebuchet MS"/>
              </a:rPr>
              <a:t>of</a:t>
            </a:r>
            <a:r>
              <a:rPr sz="4400" spc="-430" dirty="0">
                <a:latin typeface="Trebuchet MS"/>
                <a:cs typeface="Trebuchet MS"/>
              </a:rPr>
              <a:t> </a:t>
            </a:r>
            <a:r>
              <a:rPr sz="4400" spc="-185" dirty="0">
                <a:latin typeface="Trebuchet MS"/>
                <a:cs typeface="Trebuchet MS"/>
              </a:rPr>
              <a:t>drift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3729" y="2387603"/>
            <a:ext cx="922867" cy="9228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330270" y="2438396"/>
            <a:ext cx="1498600" cy="804545"/>
            <a:chOff x="9330270" y="2438396"/>
            <a:chExt cx="1498600" cy="8045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0270" y="2523061"/>
              <a:ext cx="685800" cy="6942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24529" y="2438396"/>
              <a:ext cx="804332" cy="8043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44827" y="3533699"/>
            <a:ext cx="1915795" cy="1925320"/>
            <a:chOff x="6344827" y="3533699"/>
            <a:chExt cx="1915795" cy="1925320"/>
          </a:xfrm>
        </p:grpSpPr>
        <p:sp>
          <p:nvSpPr>
            <p:cNvPr id="3" name="object 3"/>
            <p:cNvSpPr/>
            <p:nvPr/>
          </p:nvSpPr>
          <p:spPr>
            <a:xfrm>
              <a:off x="7307313" y="3543223"/>
              <a:ext cx="953135" cy="1247775"/>
            </a:xfrm>
            <a:custGeom>
              <a:avLst/>
              <a:gdLst/>
              <a:ahLst/>
              <a:cxnLst/>
              <a:rect l="l" t="t" r="r" b="b"/>
              <a:pathLst>
                <a:path w="953134" h="1247775">
                  <a:moveTo>
                    <a:pt x="0" y="0"/>
                  </a:moveTo>
                  <a:lnTo>
                    <a:pt x="0" y="952919"/>
                  </a:lnTo>
                  <a:lnTo>
                    <a:pt x="906272" y="1247381"/>
                  </a:lnTo>
                  <a:lnTo>
                    <a:pt x="920456" y="1199492"/>
                  </a:lnTo>
                  <a:lnTo>
                    <a:pt x="932098" y="1150993"/>
                  </a:lnTo>
                  <a:lnTo>
                    <a:pt x="941182" y="1101983"/>
                  </a:lnTo>
                  <a:lnTo>
                    <a:pt x="947691" y="1052567"/>
                  </a:lnTo>
                  <a:lnTo>
                    <a:pt x="951609" y="1002844"/>
                  </a:lnTo>
                  <a:lnTo>
                    <a:pt x="952919" y="952919"/>
                  </a:lnTo>
                  <a:lnTo>
                    <a:pt x="951752" y="905359"/>
                  </a:lnTo>
                  <a:lnTo>
                    <a:pt x="948290" y="858403"/>
                  </a:lnTo>
                  <a:lnTo>
                    <a:pt x="942586" y="812105"/>
                  </a:lnTo>
                  <a:lnTo>
                    <a:pt x="934696" y="766520"/>
                  </a:lnTo>
                  <a:lnTo>
                    <a:pt x="924673" y="721702"/>
                  </a:lnTo>
                  <a:lnTo>
                    <a:pt x="912572" y="677706"/>
                  </a:lnTo>
                  <a:lnTo>
                    <a:pt x="898449" y="634586"/>
                  </a:lnTo>
                  <a:lnTo>
                    <a:pt x="882357" y="592398"/>
                  </a:lnTo>
                  <a:lnTo>
                    <a:pt x="864351" y="551195"/>
                  </a:lnTo>
                  <a:lnTo>
                    <a:pt x="844485" y="511033"/>
                  </a:lnTo>
                  <a:lnTo>
                    <a:pt x="822816" y="471965"/>
                  </a:lnTo>
                  <a:lnTo>
                    <a:pt x="799396" y="434047"/>
                  </a:lnTo>
                  <a:lnTo>
                    <a:pt x="774280" y="397334"/>
                  </a:lnTo>
                  <a:lnTo>
                    <a:pt x="747524" y="361878"/>
                  </a:lnTo>
                  <a:lnTo>
                    <a:pt x="719181" y="327737"/>
                  </a:lnTo>
                  <a:lnTo>
                    <a:pt x="689307" y="294963"/>
                  </a:lnTo>
                  <a:lnTo>
                    <a:pt x="657955" y="263611"/>
                  </a:lnTo>
                  <a:lnTo>
                    <a:pt x="625181" y="233737"/>
                  </a:lnTo>
                  <a:lnTo>
                    <a:pt x="591040" y="205394"/>
                  </a:lnTo>
                  <a:lnTo>
                    <a:pt x="555584" y="178638"/>
                  </a:lnTo>
                  <a:lnTo>
                    <a:pt x="518871" y="153523"/>
                  </a:lnTo>
                  <a:lnTo>
                    <a:pt x="480953" y="130103"/>
                  </a:lnTo>
                  <a:lnTo>
                    <a:pt x="441885" y="108433"/>
                  </a:lnTo>
                  <a:lnTo>
                    <a:pt x="401723" y="88567"/>
                  </a:lnTo>
                  <a:lnTo>
                    <a:pt x="360520" y="70561"/>
                  </a:lnTo>
                  <a:lnTo>
                    <a:pt x="318332" y="54469"/>
                  </a:lnTo>
                  <a:lnTo>
                    <a:pt x="275212" y="40346"/>
                  </a:lnTo>
                  <a:lnTo>
                    <a:pt x="231216" y="28245"/>
                  </a:lnTo>
                  <a:lnTo>
                    <a:pt x="186398" y="18222"/>
                  </a:lnTo>
                  <a:lnTo>
                    <a:pt x="140813" y="10332"/>
                  </a:lnTo>
                  <a:lnTo>
                    <a:pt x="94515" y="4628"/>
                  </a:lnTo>
                  <a:lnTo>
                    <a:pt x="47559" y="1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47205" y="4496143"/>
              <a:ext cx="1466850" cy="953135"/>
            </a:xfrm>
            <a:custGeom>
              <a:avLst/>
              <a:gdLst/>
              <a:ahLst/>
              <a:cxnLst/>
              <a:rect l="l" t="t" r="r" b="b"/>
              <a:pathLst>
                <a:path w="1466850" h="953135">
                  <a:moveTo>
                    <a:pt x="560108" y="0"/>
                  </a:moveTo>
                  <a:lnTo>
                    <a:pt x="0" y="770915"/>
                  </a:lnTo>
                  <a:lnTo>
                    <a:pt x="41163" y="799204"/>
                  </a:lnTo>
                  <a:lnTo>
                    <a:pt x="83693" y="825263"/>
                  </a:lnTo>
                  <a:lnTo>
                    <a:pt x="127498" y="849047"/>
                  </a:lnTo>
                  <a:lnTo>
                    <a:pt x="172486" y="870507"/>
                  </a:lnTo>
                  <a:lnTo>
                    <a:pt x="218566" y="889598"/>
                  </a:lnTo>
                  <a:lnTo>
                    <a:pt x="265645" y="906272"/>
                  </a:lnTo>
                  <a:lnTo>
                    <a:pt x="311238" y="919859"/>
                  </a:lnTo>
                  <a:lnTo>
                    <a:pt x="356966" y="931076"/>
                  </a:lnTo>
                  <a:lnTo>
                    <a:pt x="402760" y="939958"/>
                  </a:lnTo>
                  <a:lnTo>
                    <a:pt x="448553" y="946540"/>
                  </a:lnTo>
                  <a:lnTo>
                    <a:pt x="494274" y="950857"/>
                  </a:lnTo>
                  <a:lnTo>
                    <a:pt x="539856" y="952944"/>
                  </a:lnTo>
                  <a:lnTo>
                    <a:pt x="585229" y="952836"/>
                  </a:lnTo>
                  <a:lnTo>
                    <a:pt x="630325" y="950569"/>
                  </a:lnTo>
                  <a:lnTo>
                    <a:pt x="675075" y="946177"/>
                  </a:lnTo>
                  <a:lnTo>
                    <a:pt x="719410" y="939695"/>
                  </a:lnTo>
                  <a:lnTo>
                    <a:pt x="763262" y="931158"/>
                  </a:lnTo>
                  <a:lnTo>
                    <a:pt x="806560" y="920602"/>
                  </a:lnTo>
                  <a:lnTo>
                    <a:pt x="849238" y="908061"/>
                  </a:lnTo>
                  <a:lnTo>
                    <a:pt x="891225" y="893570"/>
                  </a:lnTo>
                  <a:lnTo>
                    <a:pt x="932454" y="877166"/>
                  </a:lnTo>
                  <a:lnTo>
                    <a:pt x="972855" y="858881"/>
                  </a:lnTo>
                  <a:lnTo>
                    <a:pt x="1012359" y="838753"/>
                  </a:lnTo>
                  <a:lnTo>
                    <a:pt x="1050899" y="816815"/>
                  </a:lnTo>
                  <a:lnTo>
                    <a:pt x="1088404" y="793103"/>
                  </a:lnTo>
                  <a:lnTo>
                    <a:pt x="1124806" y="767651"/>
                  </a:lnTo>
                  <a:lnTo>
                    <a:pt x="1160037" y="740496"/>
                  </a:lnTo>
                  <a:lnTo>
                    <a:pt x="1194028" y="711671"/>
                  </a:lnTo>
                  <a:lnTo>
                    <a:pt x="1226709" y="681212"/>
                  </a:lnTo>
                  <a:lnTo>
                    <a:pt x="1258012" y="649154"/>
                  </a:lnTo>
                  <a:lnTo>
                    <a:pt x="1287868" y="615533"/>
                  </a:lnTo>
                  <a:lnTo>
                    <a:pt x="1316209" y="580382"/>
                  </a:lnTo>
                  <a:lnTo>
                    <a:pt x="1342966" y="543737"/>
                  </a:lnTo>
                  <a:lnTo>
                    <a:pt x="1368069" y="505634"/>
                  </a:lnTo>
                  <a:lnTo>
                    <a:pt x="1391450" y="466107"/>
                  </a:lnTo>
                  <a:lnTo>
                    <a:pt x="1413041" y="425191"/>
                  </a:lnTo>
                  <a:lnTo>
                    <a:pt x="1432772" y="382922"/>
                  </a:lnTo>
                  <a:lnTo>
                    <a:pt x="1450574" y="339333"/>
                  </a:lnTo>
                  <a:lnTo>
                    <a:pt x="1466380" y="294462"/>
                  </a:lnTo>
                  <a:lnTo>
                    <a:pt x="560108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47210" y="4496134"/>
              <a:ext cx="1466850" cy="953135"/>
            </a:xfrm>
            <a:custGeom>
              <a:avLst/>
              <a:gdLst/>
              <a:ahLst/>
              <a:cxnLst/>
              <a:rect l="l" t="t" r="r" b="b"/>
              <a:pathLst>
                <a:path w="1466850" h="953135">
                  <a:moveTo>
                    <a:pt x="1466377" y="294470"/>
                  </a:moveTo>
                  <a:lnTo>
                    <a:pt x="1450571" y="339341"/>
                  </a:lnTo>
                  <a:lnTo>
                    <a:pt x="1432768" y="382930"/>
                  </a:lnTo>
                  <a:lnTo>
                    <a:pt x="1413037" y="425199"/>
                  </a:lnTo>
                  <a:lnTo>
                    <a:pt x="1391446" y="466115"/>
                  </a:lnTo>
                  <a:lnTo>
                    <a:pt x="1368064" y="505642"/>
                  </a:lnTo>
                  <a:lnTo>
                    <a:pt x="1342960" y="543745"/>
                  </a:lnTo>
                  <a:lnTo>
                    <a:pt x="1316204" y="580390"/>
                  </a:lnTo>
                  <a:lnTo>
                    <a:pt x="1287863" y="615540"/>
                  </a:lnTo>
                  <a:lnTo>
                    <a:pt x="1258006" y="649162"/>
                  </a:lnTo>
                  <a:lnTo>
                    <a:pt x="1226702" y="681219"/>
                  </a:lnTo>
                  <a:lnTo>
                    <a:pt x="1194021" y="711678"/>
                  </a:lnTo>
                  <a:lnTo>
                    <a:pt x="1160031" y="740503"/>
                  </a:lnTo>
                  <a:lnTo>
                    <a:pt x="1124800" y="767658"/>
                  </a:lnTo>
                  <a:lnTo>
                    <a:pt x="1088397" y="793109"/>
                  </a:lnTo>
                  <a:lnTo>
                    <a:pt x="1050892" y="816821"/>
                  </a:lnTo>
                  <a:lnTo>
                    <a:pt x="1012352" y="838759"/>
                  </a:lnTo>
                  <a:lnTo>
                    <a:pt x="972848" y="858887"/>
                  </a:lnTo>
                  <a:lnTo>
                    <a:pt x="932447" y="877171"/>
                  </a:lnTo>
                  <a:lnTo>
                    <a:pt x="891218" y="893575"/>
                  </a:lnTo>
                  <a:lnTo>
                    <a:pt x="849231" y="908065"/>
                  </a:lnTo>
                  <a:lnTo>
                    <a:pt x="806553" y="920606"/>
                  </a:lnTo>
                  <a:lnTo>
                    <a:pt x="763255" y="931162"/>
                  </a:lnTo>
                  <a:lnTo>
                    <a:pt x="719404" y="939698"/>
                  </a:lnTo>
                  <a:lnTo>
                    <a:pt x="675069" y="946180"/>
                  </a:lnTo>
                  <a:lnTo>
                    <a:pt x="630319" y="950572"/>
                  </a:lnTo>
                  <a:lnTo>
                    <a:pt x="585223" y="952839"/>
                  </a:lnTo>
                  <a:lnTo>
                    <a:pt x="539850" y="952946"/>
                  </a:lnTo>
                  <a:lnTo>
                    <a:pt x="494269" y="950858"/>
                  </a:lnTo>
                  <a:lnTo>
                    <a:pt x="448548" y="946541"/>
                  </a:lnTo>
                  <a:lnTo>
                    <a:pt x="402755" y="939958"/>
                  </a:lnTo>
                  <a:lnTo>
                    <a:pt x="356961" y="931075"/>
                  </a:lnTo>
                  <a:lnTo>
                    <a:pt x="311234" y="919858"/>
                  </a:lnTo>
                  <a:lnTo>
                    <a:pt x="265642" y="906270"/>
                  </a:lnTo>
                  <a:lnTo>
                    <a:pt x="218561" y="889597"/>
                  </a:lnTo>
                  <a:lnTo>
                    <a:pt x="172481" y="870508"/>
                  </a:lnTo>
                  <a:lnTo>
                    <a:pt x="127494" y="849050"/>
                  </a:lnTo>
                  <a:lnTo>
                    <a:pt x="83690" y="825268"/>
                  </a:lnTo>
                  <a:lnTo>
                    <a:pt x="41162" y="799210"/>
                  </a:lnTo>
                  <a:lnTo>
                    <a:pt x="0" y="770920"/>
                  </a:lnTo>
                  <a:lnTo>
                    <a:pt x="560107" y="0"/>
                  </a:lnTo>
                  <a:lnTo>
                    <a:pt x="1466377" y="29447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54353" y="3543236"/>
              <a:ext cx="953135" cy="1724025"/>
            </a:xfrm>
            <a:custGeom>
              <a:avLst/>
              <a:gdLst/>
              <a:ahLst/>
              <a:cxnLst/>
              <a:rect l="l" t="t" r="r" b="b"/>
              <a:pathLst>
                <a:path w="953134" h="1724025">
                  <a:moveTo>
                    <a:pt x="952959" y="0"/>
                  </a:moveTo>
                  <a:lnTo>
                    <a:pt x="902307" y="1344"/>
                  </a:lnTo>
                  <a:lnTo>
                    <a:pt x="852088" y="5346"/>
                  </a:lnTo>
                  <a:lnTo>
                    <a:pt x="802393" y="11959"/>
                  </a:lnTo>
                  <a:lnTo>
                    <a:pt x="753314" y="21136"/>
                  </a:lnTo>
                  <a:lnTo>
                    <a:pt x="704942" y="32831"/>
                  </a:lnTo>
                  <a:lnTo>
                    <a:pt x="657368" y="46997"/>
                  </a:lnTo>
                  <a:lnTo>
                    <a:pt x="610685" y="63589"/>
                  </a:lnTo>
                  <a:lnTo>
                    <a:pt x="564982" y="82558"/>
                  </a:lnTo>
                  <a:lnTo>
                    <a:pt x="520353" y="103859"/>
                  </a:lnTo>
                  <a:lnTo>
                    <a:pt x="476888" y="127444"/>
                  </a:lnTo>
                  <a:lnTo>
                    <a:pt x="434678" y="153268"/>
                  </a:lnTo>
                  <a:lnTo>
                    <a:pt x="393815" y="181284"/>
                  </a:lnTo>
                  <a:lnTo>
                    <a:pt x="354391" y="211445"/>
                  </a:lnTo>
                  <a:lnTo>
                    <a:pt x="316496" y="243705"/>
                  </a:lnTo>
                  <a:lnTo>
                    <a:pt x="280223" y="278016"/>
                  </a:lnTo>
                  <a:lnTo>
                    <a:pt x="245662" y="314333"/>
                  </a:lnTo>
                  <a:lnTo>
                    <a:pt x="212905" y="352609"/>
                  </a:lnTo>
                  <a:lnTo>
                    <a:pt x="182044" y="392798"/>
                  </a:lnTo>
                  <a:lnTo>
                    <a:pt x="155033" y="431960"/>
                  </a:lnTo>
                  <a:lnTo>
                    <a:pt x="130234" y="471983"/>
                  </a:lnTo>
                  <a:lnTo>
                    <a:pt x="107635" y="512792"/>
                  </a:lnTo>
                  <a:lnTo>
                    <a:pt x="87224" y="554309"/>
                  </a:lnTo>
                  <a:lnTo>
                    <a:pt x="68990" y="596458"/>
                  </a:lnTo>
                  <a:lnTo>
                    <a:pt x="52919" y="639164"/>
                  </a:lnTo>
                  <a:lnTo>
                    <a:pt x="39000" y="682350"/>
                  </a:lnTo>
                  <a:lnTo>
                    <a:pt x="27221" y="725939"/>
                  </a:lnTo>
                  <a:lnTo>
                    <a:pt x="17569" y="769856"/>
                  </a:lnTo>
                  <a:lnTo>
                    <a:pt x="10034" y="814024"/>
                  </a:lnTo>
                  <a:lnTo>
                    <a:pt x="4601" y="858367"/>
                  </a:lnTo>
                  <a:lnTo>
                    <a:pt x="1261" y="902809"/>
                  </a:lnTo>
                  <a:lnTo>
                    <a:pt x="0" y="947273"/>
                  </a:lnTo>
                  <a:lnTo>
                    <a:pt x="806" y="991683"/>
                  </a:lnTo>
                  <a:lnTo>
                    <a:pt x="3667" y="1035963"/>
                  </a:lnTo>
                  <a:lnTo>
                    <a:pt x="8572" y="1080037"/>
                  </a:lnTo>
                  <a:lnTo>
                    <a:pt x="15507" y="1123828"/>
                  </a:lnTo>
                  <a:lnTo>
                    <a:pt x="24462" y="1167260"/>
                  </a:lnTo>
                  <a:lnTo>
                    <a:pt x="35424" y="1210257"/>
                  </a:lnTo>
                  <a:lnTo>
                    <a:pt x="48381" y="1252742"/>
                  </a:lnTo>
                  <a:lnTo>
                    <a:pt x="63320" y="1294640"/>
                  </a:lnTo>
                  <a:lnTo>
                    <a:pt x="80230" y="1335874"/>
                  </a:lnTo>
                  <a:lnTo>
                    <a:pt x="99100" y="1376368"/>
                  </a:lnTo>
                  <a:lnTo>
                    <a:pt x="119915" y="1416046"/>
                  </a:lnTo>
                  <a:lnTo>
                    <a:pt x="142666" y="1454831"/>
                  </a:lnTo>
                  <a:lnTo>
                    <a:pt x="167338" y="1492646"/>
                  </a:lnTo>
                  <a:lnTo>
                    <a:pt x="193922" y="1529417"/>
                  </a:lnTo>
                  <a:lnTo>
                    <a:pt x="222403" y="1565066"/>
                  </a:lnTo>
                  <a:lnTo>
                    <a:pt x="252771" y="1599518"/>
                  </a:lnTo>
                  <a:lnTo>
                    <a:pt x="285013" y="1632695"/>
                  </a:lnTo>
                  <a:lnTo>
                    <a:pt x="319117" y="1664522"/>
                  </a:lnTo>
                  <a:lnTo>
                    <a:pt x="355072" y="1694923"/>
                  </a:lnTo>
                  <a:lnTo>
                    <a:pt x="392864" y="1723821"/>
                  </a:lnTo>
                  <a:lnTo>
                    <a:pt x="952959" y="952906"/>
                  </a:lnTo>
                  <a:lnTo>
                    <a:pt x="952959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54352" y="3543224"/>
              <a:ext cx="953135" cy="1724025"/>
            </a:xfrm>
            <a:custGeom>
              <a:avLst/>
              <a:gdLst/>
              <a:ahLst/>
              <a:cxnLst/>
              <a:rect l="l" t="t" r="r" b="b"/>
              <a:pathLst>
                <a:path w="953134" h="1724025">
                  <a:moveTo>
                    <a:pt x="392858" y="1723830"/>
                  </a:moveTo>
                  <a:lnTo>
                    <a:pt x="355067" y="1694931"/>
                  </a:lnTo>
                  <a:lnTo>
                    <a:pt x="319114" y="1664530"/>
                  </a:lnTo>
                  <a:lnTo>
                    <a:pt x="285010" y="1632702"/>
                  </a:lnTo>
                  <a:lnTo>
                    <a:pt x="252769" y="1599524"/>
                  </a:lnTo>
                  <a:lnTo>
                    <a:pt x="222402" y="1565072"/>
                  </a:lnTo>
                  <a:lnTo>
                    <a:pt x="193921" y="1529423"/>
                  </a:lnTo>
                  <a:lnTo>
                    <a:pt x="167338" y="1492652"/>
                  </a:lnTo>
                  <a:lnTo>
                    <a:pt x="142665" y="1454836"/>
                  </a:lnTo>
                  <a:lnTo>
                    <a:pt x="119915" y="1416051"/>
                  </a:lnTo>
                  <a:lnTo>
                    <a:pt x="99100" y="1376373"/>
                  </a:lnTo>
                  <a:lnTo>
                    <a:pt x="80231" y="1335879"/>
                  </a:lnTo>
                  <a:lnTo>
                    <a:pt x="63321" y="1294645"/>
                  </a:lnTo>
                  <a:lnTo>
                    <a:pt x="48381" y="1252747"/>
                  </a:lnTo>
                  <a:lnTo>
                    <a:pt x="35424" y="1210261"/>
                  </a:lnTo>
                  <a:lnTo>
                    <a:pt x="24463" y="1167264"/>
                  </a:lnTo>
                  <a:lnTo>
                    <a:pt x="15508" y="1123832"/>
                  </a:lnTo>
                  <a:lnTo>
                    <a:pt x="8572" y="1080041"/>
                  </a:lnTo>
                  <a:lnTo>
                    <a:pt x="3667" y="1035967"/>
                  </a:lnTo>
                  <a:lnTo>
                    <a:pt x="806" y="991687"/>
                  </a:lnTo>
                  <a:lnTo>
                    <a:pt x="0" y="947277"/>
                  </a:lnTo>
                  <a:lnTo>
                    <a:pt x="1261" y="902813"/>
                  </a:lnTo>
                  <a:lnTo>
                    <a:pt x="4601" y="858372"/>
                  </a:lnTo>
                  <a:lnTo>
                    <a:pt x="10033" y="814029"/>
                  </a:lnTo>
                  <a:lnTo>
                    <a:pt x="17569" y="769861"/>
                  </a:lnTo>
                  <a:lnTo>
                    <a:pt x="27220" y="725944"/>
                  </a:lnTo>
                  <a:lnTo>
                    <a:pt x="39000" y="682355"/>
                  </a:lnTo>
                  <a:lnTo>
                    <a:pt x="52919" y="639169"/>
                  </a:lnTo>
                  <a:lnTo>
                    <a:pt x="68989" y="596464"/>
                  </a:lnTo>
                  <a:lnTo>
                    <a:pt x="87224" y="554314"/>
                  </a:lnTo>
                  <a:lnTo>
                    <a:pt x="107635" y="512797"/>
                  </a:lnTo>
                  <a:lnTo>
                    <a:pt x="130234" y="471988"/>
                  </a:lnTo>
                  <a:lnTo>
                    <a:pt x="155033" y="431965"/>
                  </a:lnTo>
                  <a:lnTo>
                    <a:pt x="182045" y="392803"/>
                  </a:lnTo>
                  <a:lnTo>
                    <a:pt x="212905" y="352614"/>
                  </a:lnTo>
                  <a:lnTo>
                    <a:pt x="245661" y="314338"/>
                  </a:lnTo>
                  <a:lnTo>
                    <a:pt x="280222" y="278020"/>
                  </a:lnTo>
                  <a:lnTo>
                    <a:pt x="316495" y="243708"/>
                  </a:lnTo>
                  <a:lnTo>
                    <a:pt x="354389" y="211448"/>
                  </a:lnTo>
                  <a:lnTo>
                    <a:pt x="393814" y="181287"/>
                  </a:lnTo>
                  <a:lnTo>
                    <a:pt x="434677" y="153271"/>
                  </a:lnTo>
                  <a:lnTo>
                    <a:pt x="476887" y="127447"/>
                  </a:lnTo>
                  <a:lnTo>
                    <a:pt x="520353" y="103860"/>
                  </a:lnTo>
                  <a:lnTo>
                    <a:pt x="564983" y="82559"/>
                  </a:lnTo>
                  <a:lnTo>
                    <a:pt x="610686" y="63590"/>
                  </a:lnTo>
                  <a:lnTo>
                    <a:pt x="657371" y="46998"/>
                  </a:lnTo>
                  <a:lnTo>
                    <a:pt x="704945" y="32832"/>
                  </a:lnTo>
                  <a:lnTo>
                    <a:pt x="753318" y="21136"/>
                  </a:lnTo>
                  <a:lnTo>
                    <a:pt x="802398" y="11959"/>
                  </a:lnTo>
                  <a:lnTo>
                    <a:pt x="852093" y="5346"/>
                  </a:lnTo>
                  <a:lnTo>
                    <a:pt x="902313" y="1344"/>
                  </a:lnTo>
                  <a:lnTo>
                    <a:pt x="952966" y="0"/>
                  </a:lnTo>
                  <a:lnTo>
                    <a:pt x="952965" y="952909"/>
                  </a:lnTo>
                  <a:lnTo>
                    <a:pt x="392858" y="172383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82118" y="2508665"/>
            <a:ext cx="1390015" cy="8712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spc="-70" dirty="0">
                <a:solidFill>
                  <a:srgbClr val="161616"/>
                </a:solidFill>
                <a:latin typeface="Trebuchet MS"/>
                <a:cs typeface="Trebuchet MS"/>
              </a:rPr>
              <a:t>Testing</a:t>
            </a:r>
            <a:r>
              <a:rPr sz="1800" b="1" spc="-130" dirty="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161616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271780">
              <a:lnSpc>
                <a:spcPct val="100000"/>
              </a:lnSpc>
              <a:spcBef>
                <a:spcPts val="1140"/>
              </a:spcBef>
            </a:pPr>
            <a:r>
              <a:rPr sz="1900" spc="-10" dirty="0">
                <a:solidFill>
                  <a:srgbClr val="595959"/>
                </a:solidFill>
                <a:latin typeface="Carlito"/>
                <a:cs typeface="Carlito"/>
              </a:rPr>
              <a:t>Predictions</a:t>
            </a:r>
            <a:endParaRPr sz="19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55093" y="5693817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111607" y="0"/>
                </a:moveTo>
                <a:lnTo>
                  <a:pt x="0" y="0"/>
                </a:lnTo>
                <a:lnTo>
                  <a:pt x="0" y="111613"/>
                </a:lnTo>
                <a:lnTo>
                  <a:pt x="111607" y="111613"/>
                </a:lnTo>
                <a:lnTo>
                  <a:pt x="111607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05042" y="5583767"/>
            <a:ext cx="9321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Carlito"/>
                <a:cs typeface="Carlito"/>
              </a:rPr>
              <a:t>Credit</a:t>
            </a:r>
            <a:r>
              <a:rPr sz="1600" spc="-50" dirty="0">
                <a:solidFill>
                  <a:srgbClr val="595959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Carlito"/>
                <a:cs typeface="Carlito"/>
              </a:rPr>
              <a:t>card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20648" y="5693817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111607" y="0"/>
                </a:moveTo>
                <a:lnTo>
                  <a:pt x="0" y="0"/>
                </a:lnTo>
                <a:lnTo>
                  <a:pt x="0" y="111613"/>
                </a:lnTo>
                <a:lnTo>
                  <a:pt x="111607" y="111613"/>
                </a:lnTo>
                <a:lnTo>
                  <a:pt x="111607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0610" y="5583767"/>
            <a:ext cx="680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595959"/>
                </a:solidFill>
                <a:latin typeface="Carlito"/>
                <a:cs typeface="Carlito"/>
              </a:rPr>
              <a:t>Banking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33728" y="5693817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111620" y="0"/>
                </a:moveTo>
                <a:lnTo>
                  <a:pt x="0" y="0"/>
                </a:lnTo>
                <a:lnTo>
                  <a:pt x="0" y="111613"/>
                </a:lnTo>
                <a:lnTo>
                  <a:pt x="111620" y="111613"/>
                </a:lnTo>
                <a:lnTo>
                  <a:pt x="111620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083689" y="5583767"/>
            <a:ext cx="49910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595959"/>
                </a:solidFill>
                <a:latin typeface="Carlito"/>
                <a:cs typeface="Carlito"/>
              </a:rPr>
              <a:t>Loans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666975" y="5693817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111620" y="0"/>
                </a:moveTo>
                <a:lnTo>
                  <a:pt x="0" y="0"/>
                </a:lnTo>
                <a:lnTo>
                  <a:pt x="0" y="111613"/>
                </a:lnTo>
                <a:lnTo>
                  <a:pt x="111620" y="111613"/>
                </a:lnTo>
                <a:lnTo>
                  <a:pt x="11162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46004" y="427563"/>
            <a:ext cx="38754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35" dirty="0">
                <a:latin typeface="Trebuchet MS"/>
                <a:cs typeface="Trebuchet MS"/>
              </a:rPr>
              <a:t>Distribution</a:t>
            </a:r>
            <a:r>
              <a:rPr sz="4400" spc="-390" dirty="0">
                <a:latin typeface="Trebuchet MS"/>
                <a:cs typeface="Trebuchet MS"/>
              </a:rPr>
              <a:t> </a:t>
            </a:r>
            <a:r>
              <a:rPr sz="4400" spc="-165" dirty="0">
                <a:latin typeface="Trebuchet MS"/>
                <a:cs typeface="Trebuchet MS"/>
              </a:rPr>
              <a:t>drift</a:t>
            </a:r>
            <a:endParaRPr sz="44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08454" y="3533699"/>
            <a:ext cx="1925320" cy="1925320"/>
            <a:chOff x="2808454" y="3533699"/>
            <a:chExt cx="1925320" cy="1925320"/>
          </a:xfrm>
        </p:grpSpPr>
        <p:sp>
          <p:nvSpPr>
            <p:cNvPr id="18" name="object 18"/>
            <p:cNvSpPr/>
            <p:nvPr/>
          </p:nvSpPr>
          <p:spPr>
            <a:xfrm>
              <a:off x="3770922" y="3543223"/>
              <a:ext cx="560705" cy="953135"/>
            </a:xfrm>
            <a:custGeom>
              <a:avLst/>
              <a:gdLst/>
              <a:ahLst/>
              <a:cxnLst/>
              <a:rect l="l" t="t" r="r" b="b"/>
              <a:pathLst>
                <a:path w="560704" h="953135">
                  <a:moveTo>
                    <a:pt x="0" y="0"/>
                  </a:moveTo>
                  <a:lnTo>
                    <a:pt x="0" y="952919"/>
                  </a:lnTo>
                  <a:lnTo>
                    <a:pt x="560108" y="181990"/>
                  </a:lnTo>
                  <a:lnTo>
                    <a:pt x="518730" y="153564"/>
                  </a:lnTo>
                  <a:lnTo>
                    <a:pt x="476064" y="127442"/>
                  </a:lnTo>
                  <a:lnTo>
                    <a:pt x="432207" y="103657"/>
                  </a:lnTo>
                  <a:lnTo>
                    <a:pt x="387256" y="82241"/>
                  </a:lnTo>
                  <a:lnTo>
                    <a:pt x="341310" y="63225"/>
                  </a:lnTo>
                  <a:lnTo>
                    <a:pt x="294465" y="46642"/>
                  </a:lnTo>
                  <a:lnTo>
                    <a:pt x="246819" y="32522"/>
                  </a:lnTo>
                  <a:lnTo>
                    <a:pt x="198471" y="20899"/>
                  </a:lnTo>
                  <a:lnTo>
                    <a:pt x="149517" y="11803"/>
                  </a:lnTo>
                  <a:lnTo>
                    <a:pt x="100055" y="5267"/>
                  </a:lnTo>
                  <a:lnTo>
                    <a:pt x="50184" y="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70922" y="3725214"/>
              <a:ext cx="953135" cy="1065530"/>
            </a:xfrm>
            <a:custGeom>
              <a:avLst/>
              <a:gdLst/>
              <a:ahLst/>
              <a:cxnLst/>
              <a:rect l="l" t="t" r="r" b="b"/>
              <a:pathLst>
                <a:path w="953135" h="1065529">
                  <a:moveTo>
                    <a:pt x="560108" y="0"/>
                  </a:moveTo>
                  <a:lnTo>
                    <a:pt x="0" y="770928"/>
                  </a:lnTo>
                  <a:lnTo>
                    <a:pt x="906272" y="1065390"/>
                  </a:lnTo>
                  <a:lnTo>
                    <a:pt x="920302" y="1018110"/>
                  </a:lnTo>
                  <a:lnTo>
                    <a:pt x="931793" y="970556"/>
                  </a:lnTo>
                  <a:lnTo>
                    <a:pt x="940775" y="922816"/>
                  </a:lnTo>
                  <a:lnTo>
                    <a:pt x="947275" y="874974"/>
                  </a:lnTo>
                  <a:lnTo>
                    <a:pt x="951320" y="827118"/>
                  </a:lnTo>
                  <a:lnTo>
                    <a:pt x="952940" y="779334"/>
                  </a:lnTo>
                  <a:lnTo>
                    <a:pt x="952162" y="731709"/>
                  </a:lnTo>
                  <a:lnTo>
                    <a:pt x="949014" y="684328"/>
                  </a:lnTo>
                  <a:lnTo>
                    <a:pt x="943524" y="637278"/>
                  </a:lnTo>
                  <a:lnTo>
                    <a:pt x="935720" y="590646"/>
                  </a:lnTo>
                  <a:lnTo>
                    <a:pt x="925631" y="544518"/>
                  </a:lnTo>
                  <a:lnTo>
                    <a:pt x="913284" y="498980"/>
                  </a:lnTo>
                  <a:lnTo>
                    <a:pt x="898708" y="454118"/>
                  </a:lnTo>
                  <a:lnTo>
                    <a:pt x="881930" y="410020"/>
                  </a:lnTo>
                  <a:lnTo>
                    <a:pt x="862979" y="366771"/>
                  </a:lnTo>
                  <a:lnTo>
                    <a:pt x="841883" y="324458"/>
                  </a:lnTo>
                  <a:lnTo>
                    <a:pt x="818669" y="283166"/>
                  </a:lnTo>
                  <a:lnTo>
                    <a:pt x="793366" y="242984"/>
                  </a:lnTo>
                  <a:lnTo>
                    <a:pt x="766003" y="203996"/>
                  </a:lnTo>
                  <a:lnTo>
                    <a:pt x="736606" y="166290"/>
                  </a:lnTo>
                  <a:lnTo>
                    <a:pt x="705204" y="129951"/>
                  </a:lnTo>
                  <a:lnTo>
                    <a:pt x="671825" y="95066"/>
                  </a:lnTo>
                  <a:lnTo>
                    <a:pt x="636497" y="61722"/>
                  </a:lnTo>
                  <a:lnTo>
                    <a:pt x="599249" y="30004"/>
                  </a:lnTo>
                  <a:lnTo>
                    <a:pt x="560108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70926" y="3725212"/>
              <a:ext cx="953135" cy="1065530"/>
            </a:xfrm>
            <a:custGeom>
              <a:avLst/>
              <a:gdLst/>
              <a:ahLst/>
              <a:cxnLst/>
              <a:rect l="l" t="t" r="r" b="b"/>
              <a:pathLst>
                <a:path w="953135" h="1065529">
                  <a:moveTo>
                    <a:pt x="560110" y="0"/>
                  </a:moveTo>
                  <a:lnTo>
                    <a:pt x="599250" y="30003"/>
                  </a:lnTo>
                  <a:lnTo>
                    <a:pt x="636498" y="61720"/>
                  </a:lnTo>
                  <a:lnTo>
                    <a:pt x="671826" y="95064"/>
                  </a:lnTo>
                  <a:lnTo>
                    <a:pt x="705204" y="129948"/>
                  </a:lnTo>
                  <a:lnTo>
                    <a:pt x="736606" y="166286"/>
                  </a:lnTo>
                  <a:lnTo>
                    <a:pt x="766002" y="203992"/>
                  </a:lnTo>
                  <a:lnTo>
                    <a:pt x="793366" y="242980"/>
                  </a:lnTo>
                  <a:lnTo>
                    <a:pt x="818668" y="283162"/>
                  </a:lnTo>
                  <a:lnTo>
                    <a:pt x="841882" y="324453"/>
                  </a:lnTo>
                  <a:lnTo>
                    <a:pt x="862978" y="366766"/>
                  </a:lnTo>
                  <a:lnTo>
                    <a:pt x="881929" y="410015"/>
                  </a:lnTo>
                  <a:lnTo>
                    <a:pt x="898706" y="454113"/>
                  </a:lnTo>
                  <a:lnTo>
                    <a:pt x="913282" y="498974"/>
                  </a:lnTo>
                  <a:lnTo>
                    <a:pt x="925629" y="544512"/>
                  </a:lnTo>
                  <a:lnTo>
                    <a:pt x="935718" y="590640"/>
                  </a:lnTo>
                  <a:lnTo>
                    <a:pt x="943522" y="637272"/>
                  </a:lnTo>
                  <a:lnTo>
                    <a:pt x="949012" y="684322"/>
                  </a:lnTo>
                  <a:lnTo>
                    <a:pt x="952160" y="731702"/>
                  </a:lnTo>
                  <a:lnTo>
                    <a:pt x="952938" y="779328"/>
                  </a:lnTo>
                  <a:lnTo>
                    <a:pt x="951318" y="827111"/>
                  </a:lnTo>
                  <a:lnTo>
                    <a:pt x="947273" y="874967"/>
                  </a:lnTo>
                  <a:lnTo>
                    <a:pt x="940773" y="922808"/>
                  </a:lnTo>
                  <a:lnTo>
                    <a:pt x="931792" y="970548"/>
                  </a:lnTo>
                  <a:lnTo>
                    <a:pt x="920300" y="1018102"/>
                  </a:lnTo>
                  <a:lnTo>
                    <a:pt x="906270" y="1065381"/>
                  </a:lnTo>
                  <a:lnTo>
                    <a:pt x="0" y="770921"/>
                  </a:lnTo>
                  <a:lnTo>
                    <a:pt x="56011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17977" y="3543236"/>
              <a:ext cx="1859280" cy="1906270"/>
            </a:xfrm>
            <a:custGeom>
              <a:avLst/>
              <a:gdLst/>
              <a:ahLst/>
              <a:cxnLst/>
              <a:rect l="l" t="t" r="r" b="b"/>
              <a:pathLst>
                <a:path w="1859279" h="1906270">
                  <a:moveTo>
                    <a:pt x="952944" y="0"/>
                  </a:moveTo>
                  <a:lnTo>
                    <a:pt x="903643" y="1267"/>
                  </a:lnTo>
                  <a:lnTo>
                    <a:pt x="854865" y="5032"/>
                  </a:lnTo>
                  <a:lnTo>
                    <a:pt x="806686" y="11243"/>
                  </a:lnTo>
                  <a:lnTo>
                    <a:pt x="759177" y="19845"/>
                  </a:lnTo>
                  <a:lnTo>
                    <a:pt x="712413" y="30786"/>
                  </a:lnTo>
                  <a:lnTo>
                    <a:pt x="666468" y="44012"/>
                  </a:lnTo>
                  <a:lnTo>
                    <a:pt x="621414" y="59469"/>
                  </a:lnTo>
                  <a:lnTo>
                    <a:pt x="577325" y="77105"/>
                  </a:lnTo>
                  <a:lnTo>
                    <a:pt x="534274" y="96865"/>
                  </a:lnTo>
                  <a:lnTo>
                    <a:pt x="492336" y="118697"/>
                  </a:lnTo>
                  <a:lnTo>
                    <a:pt x="451583" y="142547"/>
                  </a:lnTo>
                  <a:lnTo>
                    <a:pt x="412089" y="168362"/>
                  </a:lnTo>
                  <a:lnTo>
                    <a:pt x="373928" y="196087"/>
                  </a:lnTo>
                  <a:lnTo>
                    <a:pt x="337173" y="225671"/>
                  </a:lnTo>
                  <a:lnTo>
                    <a:pt x="301897" y="257059"/>
                  </a:lnTo>
                  <a:lnTo>
                    <a:pt x="268174" y="290199"/>
                  </a:lnTo>
                  <a:lnTo>
                    <a:pt x="236077" y="325036"/>
                  </a:lnTo>
                  <a:lnTo>
                    <a:pt x="205680" y="361517"/>
                  </a:lnTo>
                  <a:lnTo>
                    <a:pt x="177057" y="399589"/>
                  </a:lnTo>
                  <a:lnTo>
                    <a:pt x="150281" y="439199"/>
                  </a:lnTo>
                  <a:lnTo>
                    <a:pt x="125424" y="480293"/>
                  </a:lnTo>
                  <a:lnTo>
                    <a:pt x="102562" y="522818"/>
                  </a:lnTo>
                  <a:lnTo>
                    <a:pt x="81767" y="566720"/>
                  </a:lnTo>
                  <a:lnTo>
                    <a:pt x="63112" y="611947"/>
                  </a:lnTo>
                  <a:lnTo>
                    <a:pt x="46672" y="658444"/>
                  </a:lnTo>
                  <a:lnTo>
                    <a:pt x="33085" y="704036"/>
                  </a:lnTo>
                  <a:lnTo>
                    <a:pt x="21868" y="749764"/>
                  </a:lnTo>
                  <a:lnTo>
                    <a:pt x="12986" y="795558"/>
                  </a:lnTo>
                  <a:lnTo>
                    <a:pt x="6404" y="841351"/>
                  </a:lnTo>
                  <a:lnTo>
                    <a:pt x="2087" y="887072"/>
                  </a:lnTo>
                  <a:lnTo>
                    <a:pt x="0" y="932653"/>
                  </a:lnTo>
                  <a:lnTo>
                    <a:pt x="107" y="978026"/>
                  </a:lnTo>
                  <a:lnTo>
                    <a:pt x="2375" y="1023122"/>
                  </a:lnTo>
                  <a:lnTo>
                    <a:pt x="6767" y="1067871"/>
                  </a:lnTo>
                  <a:lnTo>
                    <a:pt x="13249" y="1112206"/>
                  </a:lnTo>
                  <a:lnTo>
                    <a:pt x="21786" y="1156057"/>
                  </a:lnTo>
                  <a:lnTo>
                    <a:pt x="32342" y="1199355"/>
                  </a:lnTo>
                  <a:lnTo>
                    <a:pt x="44883" y="1242033"/>
                  </a:lnTo>
                  <a:lnTo>
                    <a:pt x="59373" y="1284020"/>
                  </a:lnTo>
                  <a:lnTo>
                    <a:pt x="75778" y="1325248"/>
                  </a:lnTo>
                  <a:lnTo>
                    <a:pt x="94062" y="1365649"/>
                  </a:lnTo>
                  <a:lnTo>
                    <a:pt x="114191" y="1405153"/>
                  </a:lnTo>
                  <a:lnTo>
                    <a:pt x="136129" y="1443692"/>
                  </a:lnTo>
                  <a:lnTo>
                    <a:pt x="159841" y="1481197"/>
                  </a:lnTo>
                  <a:lnTo>
                    <a:pt x="185292" y="1517599"/>
                  </a:lnTo>
                  <a:lnTo>
                    <a:pt x="212448" y="1552830"/>
                  </a:lnTo>
                  <a:lnTo>
                    <a:pt x="241273" y="1586820"/>
                  </a:lnTo>
                  <a:lnTo>
                    <a:pt x="271732" y="1619502"/>
                  </a:lnTo>
                  <a:lnTo>
                    <a:pt x="303789" y="1650805"/>
                  </a:lnTo>
                  <a:lnTo>
                    <a:pt x="337411" y="1680661"/>
                  </a:lnTo>
                  <a:lnTo>
                    <a:pt x="372562" y="1709002"/>
                  </a:lnTo>
                  <a:lnTo>
                    <a:pt x="409206" y="1735759"/>
                  </a:lnTo>
                  <a:lnTo>
                    <a:pt x="447310" y="1760863"/>
                  </a:lnTo>
                  <a:lnTo>
                    <a:pt x="486837" y="1784245"/>
                  </a:lnTo>
                  <a:lnTo>
                    <a:pt x="527753" y="1805836"/>
                  </a:lnTo>
                  <a:lnTo>
                    <a:pt x="570022" y="1825568"/>
                  </a:lnTo>
                  <a:lnTo>
                    <a:pt x="613610" y="1843371"/>
                  </a:lnTo>
                  <a:lnTo>
                    <a:pt x="658482" y="1859178"/>
                  </a:lnTo>
                  <a:lnTo>
                    <a:pt x="704074" y="1872765"/>
                  </a:lnTo>
                  <a:lnTo>
                    <a:pt x="749802" y="1883982"/>
                  </a:lnTo>
                  <a:lnTo>
                    <a:pt x="795597" y="1892864"/>
                  </a:lnTo>
                  <a:lnTo>
                    <a:pt x="841389" y="1899446"/>
                  </a:lnTo>
                  <a:lnTo>
                    <a:pt x="887111" y="1903763"/>
                  </a:lnTo>
                  <a:lnTo>
                    <a:pt x="932693" y="1905850"/>
                  </a:lnTo>
                  <a:lnTo>
                    <a:pt x="978066" y="1905743"/>
                  </a:lnTo>
                  <a:lnTo>
                    <a:pt x="1023162" y="1903475"/>
                  </a:lnTo>
                  <a:lnTo>
                    <a:pt x="1067912" y="1899083"/>
                  </a:lnTo>
                  <a:lnTo>
                    <a:pt x="1112247" y="1892601"/>
                  </a:lnTo>
                  <a:lnTo>
                    <a:pt x="1156098" y="1884064"/>
                  </a:lnTo>
                  <a:lnTo>
                    <a:pt x="1199397" y="1873508"/>
                  </a:lnTo>
                  <a:lnTo>
                    <a:pt x="1242074" y="1860967"/>
                  </a:lnTo>
                  <a:lnTo>
                    <a:pt x="1284062" y="1846477"/>
                  </a:lnTo>
                  <a:lnTo>
                    <a:pt x="1325290" y="1830072"/>
                  </a:lnTo>
                  <a:lnTo>
                    <a:pt x="1365691" y="1811788"/>
                  </a:lnTo>
                  <a:lnTo>
                    <a:pt x="1405196" y="1791659"/>
                  </a:lnTo>
                  <a:lnTo>
                    <a:pt x="1443735" y="1769721"/>
                  </a:lnTo>
                  <a:lnTo>
                    <a:pt x="1481241" y="1746009"/>
                  </a:lnTo>
                  <a:lnTo>
                    <a:pt x="1517643" y="1720557"/>
                  </a:lnTo>
                  <a:lnTo>
                    <a:pt x="1552874" y="1693402"/>
                  </a:lnTo>
                  <a:lnTo>
                    <a:pt x="1586864" y="1664577"/>
                  </a:lnTo>
                  <a:lnTo>
                    <a:pt x="1619545" y="1634118"/>
                  </a:lnTo>
                  <a:lnTo>
                    <a:pt x="1650848" y="1602061"/>
                  </a:lnTo>
                  <a:lnTo>
                    <a:pt x="1680705" y="1568439"/>
                  </a:lnTo>
                  <a:lnTo>
                    <a:pt x="1709046" y="1533288"/>
                  </a:lnTo>
                  <a:lnTo>
                    <a:pt x="1735802" y="1496644"/>
                  </a:lnTo>
                  <a:lnTo>
                    <a:pt x="1760905" y="1458540"/>
                  </a:lnTo>
                  <a:lnTo>
                    <a:pt x="1784287" y="1419013"/>
                  </a:lnTo>
                  <a:lnTo>
                    <a:pt x="1805877" y="1378097"/>
                  </a:lnTo>
                  <a:lnTo>
                    <a:pt x="1825608" y="1335828"/>
                  </a:lnTo>
                  <a:lnTo>
                    <a:pt x="1843411" y="1292240"/>
                  </a:lnTo>
                  <a:lnTo>
                    <a:pt x="1859216" y="1247368"/>
                  </a:lnTo>
                  <a:lnTo>
                    <a:pt x="952944" y="952906"/>
                  </a:lnTo>
                  <a:lnTo>
                    <a:pt x="952944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17979" y="3543224"/>
              <a:ext cx="1859280" cy="1906270"/>
            </a:xfrm>
            <a:custGeom>
              <a:avLst/>
              <a:gdLst/>
              <a:ahLst/>
              <a:cxnLst/>
              <a:rect l="l" t="t" r="r" b="b"/>
              <a:pathLst>
                <a:path w="1859279" h="1906270">
                  <a:moveTo>
                    <a:pt x="1859217" y="1247379"/>
                  </a:moveTo>
                  <a:lnTo>
                    <a:pt x="1843411" y="1292251"/>
                  </a:lnTo>
                  <a:lnTo>
                    <a:pt x="1825607" y="1335839"/>
                  </a:lnTo>
                  <a:lnTo>
                    <a:pt x="1805876" y="1378109"/>
                  </a:lnTo>
                  <a:lnTo>
                    <a:pt x="1784285" y="1419024"/>
                  </a:lnTo>
                  <a:lnTo>
                    <a:pt x="1760903" y="1458551"/>
                  </a:lnTo>
                  <a:lnTo>
                    <a:pt x="1735800" y="1496655"/>
                  </a:lnTo>
                  <a:lnTo>
                    <a:pt x="1709043" y="1533299"/>
                  </a:lnTo>
                  <a:lnTo>
                    <a:pt x="1680702" y="1568450"/>
                  </a:lnTo>
                  <a:lnTo>
                    <a:pt x="1650845" y="1602071"/>
                  </a:lnTo>
                  <a:lnTo>
                    <a:pt x="1619542" y="1634129"/>
                  </a:lnTo>
                  <a:lnTo>
                    <a:pt x="1586860" y="1664588"/>
                  </a:lnTo>
                  <a:lnTo>
                    <a:pt x="1552870" y="1693412"/>
                  </a:lnTo>
                  <a:lnTo>
                    <a:pt x="1517639" y="1720567"/>
                  </a:lnTo>
                  <a:lnTo>
                    <a:pt x="1481236" y="1746019"/>
                  </a:lnTo>
                  <a:lnTo>
                    <a:pt x="1443731" y="1769731"/>
                  </a:lnTo>
                  <a:lnTo>
                    <a:pt x="1405192" y="1791668"/>
                  </a:lnTo>
                  <a:lnTo>
                    <a:pt x="1365687" y="1811797"/>
                  </a:lnTo>
                  <a:lnTo>
                    <a:pt x="1325286" y="1830081"/>
                  </a:lnTo>
                  <a:lnTo>
                    <a:pt x="1284058" y="1846485"/>
                  </a:lnTo>
                  <a:lnTo>
                    <a:pt x="1242070" y="1860975"/>
                  </a:lnTo>
                  <a:lnTo>
                    <a:pt x="1199393" y="1873516"/>
                  </a:lnTo>
                  <a:lnTo>
                    <a:pt x="1156094" y="1884071"/>
                  </a:lnTo>
                  <a:lnTo>
                    <a:pt x="1112243" y="1892608"/>
                  </a:lnTo>
                  <a:lnTo>
                    <a:pt x="1067908" y="1899089"/>
                  </a:lnTo>
                  <a:lnTo>
                    <a:pt x="1023158" y="1903481"/>
                  </a:lnTo>
                  <a:lnTo>
                    <a:pt x="978063" y="1905748"/>
                  </a:lnTo>
                  <a:lnTo>
                    <a:pt x="932690" y="1905855"/>
                  </a:lnTo>
                  <a:lnTo>
                    <a:pt x="887108" y="1903768"/>
                  </a:lnTo>
                  <a:lnTo>
                    <a:pt x="841387" y="1899450"/>
                  </a:lnTo>
                  <a:lnTo>
                    <a:pt x="795595" y="1892868"/>
                  </a:lnTo>
                  <a:lnTo>
                    <a:pt x="749801" y="1883985"/>
                  </a:lnTo>
                  <a:lnTo>
                    <a:pt x="704073" y="1872767"/>
                  </a:lnTo>
                  <a:lnTo>
                    <a:pt x="658481" y="1859180"/>
                  </a:lnTo>
                  <a:lnTo>
                    <a:pt x="613609" y="1843374"/>
                  </a:lnTo>
                  <a:lnTo>
                    <a:pt x="570021" y="1825570"/>
                  </a:lnTo>
                  <a:lnTo>
                    <a:pt x="527751" y="1805839"/>
                  </a:lnTo>
                  <a:lnTo>
                    <a:pt x="486836" y="1784248"/>
                  </a:lnTo>
                  <a:lnTo>
                    <a:pt x="447308" y="1760867"/>
                  </a:lnTo>
                  <a:lnTo>
                    <a:pt x="409205" y="1735763"/>
                  </a:lnTo>
                  <a:lnTo>
                    <a:pt x="372560" y="1709007"/>
                  </a:lnTo>
                  <a:lnTo>
                    <a:pt x="337410" y="1680666"/>
                  </a:lnTo>
                  <a:lnTo>
                    <a:pt x="303788" y="1650810"/>
                  </a:lnTo>
                  <a:lnTo>
                    <a:pt x="271730" y="1619507"/>
                  </a:lnTo>
                  <a:lnTo>
                    <a:pt x="241271" y="1586826"/>
                  </a:lnTo>
                  <a:lnTo>
                    <a:pt x="212447" y="1552835"/>
                  </a:lnTo>
                  <a:lnTo>
                    <a:pt x="185291" y="1517605"/>
                  </a:lnTo>
                  <a:lnTo>
                    <a:pt x="159840" y="1481202"/>
                  </a:lnTo>
                  <a:lnTo>
                    <a:pt x="136127" y="1443697"/>
                  </a:lnTo>
                  <a:lnTo>
                    <a:pt x="114189" y="1405158"/>
                  </a:lnTo>
                  <a:lnTo>
                    <a:pt x="94061" y="1365654"/>
                  </a:lnTo>
                  <a:lnTo>
                    <a:pt x="75777" y="1325253"/>
                  </a:lnTo>
                  <a:lnTo>
                    <a:pt x="59372" y="1284025"/>
                  </a:lnTo>
                  <a:lnTo>
                    <a:pt x="44882" y="1242038"/>
                  </a:lnTo>
                  <a:lnTo>
                    <a:pt x="32341" y="1199360"/>
                  </a:lnTo>
                  <a:lnTo>
                    <a:pt x="21785" y="1156062"/>
                  </a:lnTo>
                  <a:lnTo>
                    <a:pt x="13248" y="1112211"/>
                  </a:lnTo>
                  <a:lnTo>
                    <a:pt x="6766" y="1067876"/>
                  </a:lnTo>
                  <a:lnTo>
                    <a:pt x="2374" y="1023126"/>
                  </a:lnTo>
                  <a:lnTo>
                    <a:pt x="107" y="978030"/>
                  </a:lnTo>
                  <a:lnTo>
                    <a:pt x="0" y="932657"/>
                  </a:lnTo>
                  <a:lnTo>
                    <a:pt x="2087" y="887075"/>
                  </a:lnTo>
                  <a:lnTo>
                    <a:pt x="6404" y="841353"/>
                  </a:lnTo>
                  <a:lnTo>
                    <a:pt x="12987" y="795561"/>
                  </a:lnTo>
                  <a:lnTo>
                    <a:pt x="21869" y="749766"/>
                  </a:lnTo>
                  <a:lnTo>
                    <a:pt x="33087" y="704038"/>
                  </a:lnTo>
                  <a:lnTo>
                    <a:pt x="46674" y="658445"/>
                  </a:lnTo>
                  <a:lnTo>
                    <a:pt x="63114" y="611948"/>
                  </a:lnTo>
                  <a:lnTo>
                    <a:pt x="81769" y="566721"/>
                  </a:lnTo>
                  <a:lnTo>
                    <a:pt x="102564" y="522819"/>
                  </a:lnTo>
                  <a:lnTo>
                    <a:pt x="125426" y="480294"/>
                  </a:lnTo>
                  <a:lnTo>
                    <a:pt x="150282" y="439200"/>
                  </a:lnTo>
                  <a:lnTo>
                    <a:pt x="177059" y="399590"/>
                  </a:lnTo>
                  <a:lnTo>
                    <a:pt x="205682" y="361518"/>
                  </a:lnTo>
                  <a:lnTo>
                    <a:pt x="236079" y="325036"/>
                  </a:lnTo>
                  <a:lnTo>
                    <a:pt x="268175" y="290199"/>
                  </a:lnTo>
                  <a:lnTo>
                    <a:pt x="301898" y="257060"/>
                  </a:lnTo>
                  <a:lnTo>
                    <a:pt x="337174" y="225671"/>
                  </a:lnTo>
                  <a:lnTo>
                    <a:pt x="373930" y="196088"/>
                  </a:lnTo>
                  <a:lnTo>
                    <a:pt x="412091" y="168362"/>
                  </a:lnTo>
                  <a:lnTo>
                    <a:pt x="451585" y="142547"/>
                  </a:lnTo>
                  <a:lnTo>
                    <a:pt x="492338" y="118697"/>
                  </a:lnTo>
                  <a:lnTo>
                    <a:pt x="534276" y="96865"/>
                  </a:lnTo>
                  <a:lnTo>
                    <a:pt x="577327" y="77105"/>
                  </a:lnTo>
                  <a:lnTo>
                    <a:pt x="621416" y="59469"/>
                  </a:lnTo>
                  <a:lnTo>
                    <a:pt x="666470" y="44012"/>
                  </a:lnTo>
                  <a:lnTo>
                    <a:pt x="712415" y="30786"/>
                  </a:lnTo>
                  <a:lnTo>
                    <a:pt x="759179" y="19845"/>
                  </a:lnTo>
                  <a:lnTo>
                    <a:pt x="806688" y="11243"/>
                  </a:lnTo>
                  <a:lnTo>
                    <a:pt x="854867" y="5032"/>
                  </a:lnTo>
                  <a:lnTo>
                    <a:pt x="903645" y="1267"/>
                  </a:lnTo>
                  <a:lnTo>
                    <a:pt x="952946" y="0"/>
                  </a:lnTo>
                  <a:lnTo>
                    <a:pt x="952946" y="952909"/>
                  </a:lnTo>
                  <a:lnTo>
                    <a:pt x="1859217" y="124737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125711" y="2508665"/>
            <a:ext cx="2383155" cy="8712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spc="-85" dirty="0">
                <a:solidFill>
                  <a:srgbClr val="161616"/>
                </a:solidFill>
                <a:latin typeface="Trebuchet MS"/>
                <a:cs typeface="Trebuchet MS"/>
              </a:rPr>
              <a:t>Training/validation</a:t>
            </a:r>
            <a:r>
              <a:rPr sz="1800" b="1" spc="15" dirty="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161616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92075">
              <a:lnSpc>
                <a:spcPct val="100000"/>
              </a:lnSpc>
              <a:spcBef>
                <a:spcPts val="1140"/>
              </a:spcBef>
            </a:pPr>
            <a:r>
              <a:rPr sz="1900" spc="-10" dirty="0">
                <a:solidFill>
                  <a:srgbClr val="595959"/>
                </a:solidFill>
                <a:latin typeface="Carlito"/>
                <a:cs typeface="Carlito"/>
              </a:rPr>
              <a:t>Predictions</a:t>
            </a:r>
            <a:endParaRPr sz="1900"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93429" y="5693817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111607" y="0"/>
                </a:moveTo>
                <a:lnTo>
                  <a:pt x="0" y="0"/>
                </a:lnTo>
                <a:lnTo>
                  <a:pt x="0" y="111613"/>
                </a:lnTo>
                <a:lnTo>
                  <a:pt x="111607" y="111613"/>
                </a:lnTo>
                <a:lnTo>
                  <a:pt x="111607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343391" y="5583767"/>
            <a:ext cx="9321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Carlito"/>
                <a:cs typeface="Carlito"/>
              </a:rPr>
              <a:t>Credit</a:t>
            </a:r>
            <a:r>
              <a:rPr sz="1600" spc="-50" dirty="0">
                <a:solidFill>
                  <a:srgbClr val="595959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Carlito"/>
                <a:cs typeface="Carlito"/>
              </a:rPr>
              <a:t>card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42499" y="5693817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111607" y="0"/>
                </a:moveTo>
                <a:lnTo>
                  <a:pt x="0" y="0"/>
                </a:lnTo>
                <a:lnTo>
                  <a:pt x="0" y="111613"/>
                </a:lnTo>
                <a:lnTo>
                  <a:pt x="111607" y="111613"/>
                </a:lnTo>
                <a:lnTo>
                  <a:pt x="111607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92461" y="5583767"/>
            <a:ext cx="680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595959"/>
                </a:solidFill>
                <a:latin typeface="Carlito"/>
                <a:cs typeface="Carlito"/>
              </a:rPr>
              <a:t>Banking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39094" y="5693817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111607" y="0"/>
                </a:moveTo>
                <a:lnTo>
                  <a:pt x="0" y="0"/>
                </a:lnTo>
                <a:lnTo>
                  <a:pt x="0" y="111613"/>
                </a:lnTo>
                <a:lnTo>
                  <a:pt x="111607" y="111613"/>
                </a:lnTo>
                <a:lnTo>
                  <a:pt x="111607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589043" y="5583767"/>
            <a:ext cx="49910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595959"/>
                </a:solidFill>
                <a:latin typeface="Carlito"/>
                <a:cs typeface="Carlito"/>
              </a:rPr>
              <a:t>Loans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255844" y="5693817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111620" y="0"/>
                </a:moveTo>
                <a:lnTo>
                  <a:pt x="0" y="0"/>
                </a:lnTo>
                <a:lnTo>
                  <a:pt x="0" y="111613"/>
                </a:lnTo>
                <a:lnTo>
                  <a:pt x="111620" y="111613"/>
                </a:lnTo>
                <a:lnTo>
                  <a:pt x="11162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932377" y="1799167"/>
            <a:ext cx="2291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" dirty="0">
                <a:solidFill>
                  <a:srgbClr val="161616"/>
                </a:solidFill>
                <a:latin typeface="Trebuchet MS"/>
                <a:cs typeface="Trebuchet MS"/>
              </a:rPr>
              <a:t>Use</a:t>
            </a:r>
            <a:r>
              <a:rPr sz="1800" b="1" spc="-135" dirty="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sz="1800" b="1" spc="-100" dirty="0">
                <a:solidFill>
                  <a:srgbClr val="161616"/>
                </a:solidFill>
                <a:latin typeface="Trebuchet MS"/>
                <a:cs typeface="Trebuchet MS"/>
              </a:rPr>
              <a:t>case:</a:t>
            </a:r>
            <a:r>
              <a:rPr sz="1800" b="1" spc="-215" dirty="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161616"/>
                </a:solidFill>
                <a:latin typeface="Trebuchet MS"/>
                <a:cs typeface="Trebuchet MS"/>
              </a:rPr>
              <a:t>Classification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0766"/>
            <a:ext cx="362267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5" dirty="0">
                <a:latin typeface="Trebuchet MS"/>
                <a:cs typeface="Trebuchet MS"/>
              </a:rPr>
              <a:t>Model</a:t>
            </a:r>
            <a:r>
              <a:rPr sz="5200" spc="-500" dirty="0">
                <a:latin typeface="Trebuchet MS"/>
                <a:cs typeface="Trebuchet MS"/>
              </a:rPr>
              <a:t> </a:t>
            </a:r>
            <a:r>
              <a:rPr sz="5200" spc="-175" dirty="0">
                <a:latin typeface="Trebuchet MS"/>
                <a:cs typeface="Trebuchet MS"/>
              </a:rPr>
              <a:t>health</a:t>
            </a:r>
            <a:endParaRPr sz="5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1850" y="1957552"/>
            <a:ext cx="10528300" cy="756285"/>
            <a:chOff x="831850" y="1957552"/>
            <a:chExt cx="10528300" cy="756285"/>
          </a:xfrm>
        </p:grpSpPr>
        <p:sp>
          <p:nvSpPr>
            <p:cNvPr id="4" name="object 4"/>
            <p:cNvSpPr/>
            <p:nvPr/>
          </p:nvSpPr>
          <p:spPr>
            <a:xfrm>
              <a:off x="838200" y="1963902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10391673" y="0"/>
                  </a:moveTo>
                  <a:lnTo>
                    <a:pt x="123924" y="0"/>
                  </a:lnTo>
                  <a:lnTo>
                    <a:pt x="75687" y="9737"/>
                  </a:lnTo>
                  <a:lnTo>
                    <a:pt x="36296" y="36291"/>
                  </a:lnTo>
                  <a:lnTo>
                    <a:pt x="9738" y="75679"/>
                  </a:lnTo>
                  <a:lnTo>
                    <a:pt x="0" y="123913"/>
                  </a:lnTo>
                  <a:lnTo>
                    <a:pt x="0" y="619607"/>
                  </a:lnTo>
                  <a:lnTo>
                    <a:pt x="9738" y="667844"/>
                  </a:lnTo>
                  <a:lnTo>
                    <a:pt x="36296" y="707236"/>
                  </a:lnTo>
                  <a:lnTo>
                    <a:pt x="75687" y="733795"/>
                  </a:lnTo>
                  <a:lnTo>
                    <a:pt x="123924" y="743534"/>
                  </a:lnTo>
                  <a:lnTo>
                    <a:pt x="10391673" y="743534"/>
                  </a:lnTo>
                  <a:lnTo>
                    <a:pt x="10439910" y="733795"/>
                  </a:lnTo>
                  <a:lnTo>
                    <a:pt x="10479301" y="707236"/>
                  </a:lnTo>
                  <a:lnTo>
                    <a:pt x="10505860" y="667844"/>
                  </a:lnTo>
                  <a:lnTo>
                    <a:pt x="10515600" y="619607"/>
                  </a:lnTo>
                  <a:lnTo>
                    <a:pt x="10515600" y="123913"/>
                  </a:lnTo>
                  <a:lnTo>
                    <a:pt x="10505860" y="75679"/>
                  </a:lnTo>
                  <a:lnTo>
                    <a:pt x="10479301" y="36291"/>
                  </a:lnTo>
                  <a:lnTo>
                    <a:pt x="10439910" y="9737"/>
                  </a:lnTo>
                  <a:lnTo>
                    <a:pt x="10391673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1963902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0" y="123924"/>
                  </a:moveTo>
                  <a:lnTo>
                    <a:pt x="9738" y="75687"/>
                  </a:lnTo>
                  <a:lnTo>
                    <a:pt x="36296" y="36296"/>
                  </a:lnTo>
                  <a:lnTo>
                    <a:pt x="75687" y="9738"/>
                  </a:lnTo>
                  <a:lnTo>
                    <a:pt x="123924" y="0"/>
                  </a:lnTo>
                  <a:lnTo>
                    <a:pt x="10391705" y="0"/>
                  </a:lnTo>
                  <a:lnTo>
                    <a:pt x="10439921" y="9738"/>
                  </a:lnTo>
                  <a:lnTo>
                    <a:pt x="10479305" y="36296"/>
                  </a:lnTo>
                  <a:lnTo>
                    <a:pt x="10505865" y="75687"/>
                  </a:lnTo>
                  <a:lnTo>
                    <a:pt x="10515605" y="123924"/>
                  </a:lnTo>
                  <a:lnTo>
                    <a:pt x="10515605" y="619611"/>
                  </a:lnTo>
                  <a:lnTo>
                    <a:pt x="10505865" y="667848"/>
                  </a:lnTo>
                  <a:lnTo>
                    <a:pt x="10479305" y="707238"/>
                  </a:lnTo>
                  <a:lnTo>
                    <a:pt x="10439921" y="733796"/>
                  </a:lnTo>
                  <a:lnTo>
                    <a:pt x="10391705" y="743535"/>
                  </a:lnTo>
                  <a:lnTo>
                    <a:pt x="123924" y="743535"/>
                  </a:lnTo>
                  <a:lnTo>
                    <a:pt x="75687" y="733796"/>
                  </a:lnTo>
                  <a:lnTo>
                    <a:pt x="36296" y="707238"/>
                  </a:lnTo>
                  <a:lnTo>
                    <a:pt x="9738" y="667848"/>
                  </a:lnTo>
                  <a:lnTo>
                    <a:pt x="0" y="619611"/>
                  </a:lnTo>
                  <a:lnTo>
                    <a:pt x="0" y="123924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31850" y="2790367"/>
            <a:ext cx="10528300" cy="756285"/>
            <a:chOff x="831850" y="2790367"/>
            <a:chExt cx="10528300" cy="756285"/>
          </a:xfrm>
        </p:grpSpPr>
        <p:sp>
          <p:nvSpPr>
            <p:cNvPr id="7" name="object 7"/>
            <p:cNvSpPr/>
            <p:nvPr/>
          </p:nvSpPr>
          <p:spPr>
            <a:xfrm>
              <a:off x="838200" y="2796717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10391673" y="0"/>
                  </a:moveTo>
                  <a:lnTo>
                    <a:pt x="123924" y="0"/>
                  </a:lnTo>
                  <a:lnTo>
                    <a:pt x="75687" y="9737"/>
                  </a:lnTo>
                  <a:lnTo>
                    <a:pt x="36296" y="36291"/>
                  </a:lnTo>
                  <a:lnTo>
                    <a:pt x="9738" y="75679"/>
                  </a:lnTo>
                  <a:lnTo>
                    <a:pt x="0" y="123913"/>
                  </a:lnTo>
                  <a:lnTo>
                    <a:pt x="0" y="619607"/>
                  </a:lnTo>
                  <a:lnTo>
                    <a:pt x="9738" y="667844"/>
                  </a:lnTo>
                  <a:lnTo>
                    <a:pt x="36296" y="707236"/>
                  </a:lnTo>
                  <a:lnTo>
                    <a:pt x="75687" y="733795"/>
                  </a:lnTo>
                  <a:lnTo>
                    <a:pt x="123924" y="743534"/>
                  </a:lnTo>
                  <a:lnTo>
                    <a:pt x="10391673" y="743534"/>
                  </a:lnTo>
                  <a:lnTo>
                    <a:pt x="10439910" y="733795"/>
                  </a:lnTo>
                  <a:lnTo>
                    <a:pt x="10479301" y="707236"/>
                  </a:lnTo>
                  <a:lnTo>
                    <a:pt x="10505860" y="667844"/>
                  </a:lnTo>
                  <a:lnTo>
                    <a:pt x="10515600" y="619607"/>
                  </a:lnTo>
                  <a:lnTo>
                    <a:pt x="10515600" y="123913"/>
                  </a:lnTo>
                  <a:lnTo>
                    <a:pt x="10505860" y="75679"/>
                  </a:lnTo>
                  <a:lnTo>
                    <a:pt x="10479301" y="36291"/>
                  </a:lnTo>
                  <a:lnTo>
                    <a:pt x="10439910" y="9737"/>
                  </a:lnTo>
                  <a:lnTo>
                    <a:pt x="10391673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8200" y="2796717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0" y="123924"/>
                  </a:moveTo>
                  <a:lnTo>
                    <a:pt x="9738" y="75687"/>
                  </a:lnTo>
                  <a:lnTo>
                    <a:pt x="36296" y="36296"/>
                  </a:lnTo>
                  <a:lnTo>
                    <a:pt x="75687" y="9738"/>
                  </a:lnTo>
                  <a:lnTo>
                    <a:pt x="123924" y="0"/>
                  </a:lnTo>
                  <a:lnTo>
                    <a:pt x="10391705" y="0"/>
                  </a:lnTo>
                  <a:lnTo>
                    <a:pt x="10439921" y="9738"/>
                  </a:lnTo>
                  <a:lnTo>
                    <a:pt x="10479305" y="36296"/>
                  </a:lnTo>
                  <a:lnTo>
                    <a:pt x="10505865" y="75687"/>
                  </a:lnTo>
                  <a:lnTo>
                    <a:pt x="10515605" y="123924"/>
                  </a:lnTo>
                  <a:lnTo>
                    <a:pt x="10515605" y="619611"/>
                  </a:lnTo>
                  <a:lnTo>
                    <a:pt x="10505865" y="667848"/>
                  </a:lnTo>
                  <a:lnTo>
                    <a:pt x="10479305" y="707238"/>
                  </a:lnTo>
                  <a:lnTo>
                    <a:pt x="10439921" y="733796"/>
                  </a:lnTo>
                  <a:lnTo>
                    <a:pt x="10391705" y="743535"/>
                  </a:lnTo>
                  <a:lnTo>
                    <a:pt x="123924" y="743535"/>
                  </a:lnTo>
                  <a:lnTo>
                    <a:pt x="75687" y="733796"/>
                  </a:lnTo>
                  <a:lnTo>
                    <a:pt x="36296" y="707238"/>
                  </a:lnTo>
                  <a:lnTo>
                    <a:pt x="9738" y="667848"/>
                  </a:lnTo>
                  <a:lnTo>
                    <a:pt x="0" y="619611"/>
                  </a:lnTo>
                  <a:lnTo>
                    <a:pt x="0" y="123924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31850" y="3623183"/>
            <a:ext cx="10528300" cy="756285"/>
            <a:chOff x="831850" y="3623183"/>
            <a:chExt cx="10528300" cy="756285"/>
          </a:xfrm>
        </p:grpSpPr>
        <p:sp>
          <p:nvSpPr>
            <p:cNvPr id="10" name="object 10"/>
            <p:cNvSpPr/>
            <p:nvPr/>
          </p:nvSpPr>
          <p:spPr>
            <a:xfrm>
              <a:off x="838200" y="3629533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10391673" y="0"/>
                  </a:moveTo>
                  <a:lnTo>
                    <a:pt x="123924" y="0"/>
                  </a:lnTo>
                  <a:lnTo>
                    <a:pt x="75687" y="9737"/>
                  </a:lnTo>
                  <a:lnTo>
                    <a:pt x="36296" y="36291"/>
                  </a:lnTo>
                  <a:lnTo>
                    <a:pt x="9738" y="75679"/>
                  </a:lnTo>
                  <a:lnTo>
                    <a:pt x="0" y="123913"/>
                  </a:lnTo>
                  <a:lnTo>
                    <a:pt x="0" y="619607"/>
                  </a:lnTo>
                  <a:lnTo>
                    <a:pt x="9738" y="667844"/>
                  </a:lnTo>
                  <a:lnTo>
                    <a:pt x="36296" y="707236"/>
                  </a:lnTo>
                  <a:lnTo>
                    <a:pt x="75687" y="733795"/>
                  </a:lnTo>
                  <a:lnTo>
                    <a:pt x="123924" y="743534"/>
                  </a:lnTo>
                  <a:lnTo>
                    <a:pt x="10391673" y="743534"/>
                  </a:lnTo>
                  <a:lnTo>
                    <a:pt x="10439910" y="733795"/>
                  </a:lnTo>
                  <a:lnTo>
                    <a:pt x="10479301" y="707236"/>
                  </a:lnTo>
                  <a:lnTo>
                    <a:pt x="10505860" y="667844"/>
                  </a:lnTo>
                  <a:lnTo>
                    <a:pt x="10515600" y="619607"/>
                  </a:lnTo>
                  <a:lnTo>
                    <a:pt x="10515600" y="123913"/>
                  </a:lnTo>
                  <a:lnTo>
                    <a:pt x="10505860" y="75679"/>
                  </a:lnTo>
                  <a:lnTo>
                    <a:pt x="10479301" y="36291"/>
                  </a:lnTo>
                  <a:lnTo>
                    <a:pt x="10439910" y="9737"/>
                  </a:lnTo>
                  <a:lnTo>
                    <a:pt x="10391673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8200" y="3629533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0" y="123924"/>
                  </a:moveTo>
                  <a:lnTo>
                    <a:pt x="9738" y="75687"/>
                  </a:lnTo>
                  <a:lnTo>
                    <a:pt x="36296" y="36296"/>
                  </a:lnTo>
                  <a:lnTo>
                    <a:pt x="75687" y="9738"/>
                  </a:lnTo>
                  <a:lnTo>
                    <a:pt x="123924" y="0"/>
                  </a:lnTo>
                  <a:lnTo>
                    <a:pt x="10391705" y="0"/>
                  </a:lnTo>
                  <a:lnTo>
                    <a:pt x="10439921" y="9738"/>
                  </a:lnTo>
                  <a:lnTo>
                    <a:pt x="10479305" y="36296"/>
                  </a:lnTo>
                  <a:lnTo>
                    <a:pt x="10505865" y="75687"/>
                  </a:lnTo>
                  <a:lnTo>
                    <a:pt x="10515605" y="123924"/>
                  </a:lnTo>
                  <a:lnTo>
                    <a:pt x="10515605" y="619611"/>
                  </a:lnTo>
                  <a:lnTo>
                    <a:pt x="10505865" y="667848"/>
                  </a:lnTo>
                  <a:lnTo>
                    <a:pt x="10479305" y="707238"/>
                  </a:lnTo>
                  <a:lnTo>
                    <a:pt x="10439921" y="733796"/>
                  </a:lnTo>
                  <a:lnTo>
                    <a:pt x="10391705" y="743535"/>
                  </a:lnTo>
                  <a:lnTo>
                    <a:pt x="123924" y="743535"/>
                  </a:lnTo>
                  <a:lnTo>
                    <a:pt x="75687" y="733796"/>
                  </a:lnTo>
                  <a:lnTo>
                    <a:pt x="36296" y="707238"/>
                  </a:lnTo>
                  <a:lnTo>
                    <a:pt x="9738" y="667848"/>
                  </a:lnTo>
                  <a:lnTo>
                    <a:pt x="0" y="619611"/>
                  </a:lnTo>
                  <a:lnTo>
                    <a:pt x="0" y="123924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31850" y="4455985"/>
            <a:ext cx="10528300" cy="756285"/>
            <a:chOff x="831850" y="4455985"/>
            <a:chExt cx="10528300" cy="756285"/>
          </a:xfrm>
        </p:grpSpPr>
        <p:sp>
          <p:nvSpPr>
            <p:cNvPr id="13" name="object 13"/>
            <p:cNvSpPr/>
            <p:nvPr/>
          </p:nvSpPr>
          <p:spPr>
            <a:xfrm>
              <a:off x="838200" y="4462335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10391673" y="0"/>
                  </a:moveTo>
                  <a:lnTo>
                    <a:pt x="123924" y="0"/>
                  </a:lnTo>
                  <a:lnTo>
                    <a:pt x="75687" y="9739"/>
                  </a:lnTo>
                  <a:lnTo>
                    <a:pt x="36296" y="36298"/>
                  </a:lnTo>
                  <a:lnTo>
                    <a:pt x="9738" y="75689"/>
                  </a:lnTo>
                  <a:lnTo>
                    <a:pt x="0" y="123926"/>
                  </a:lnTo>
                  <a:lnTo>
                    <a:pt x="0" y="619620"/>
                  </a:lnTo>
                  <a:lnTo>
                    <a:pt x="9738" y="667855"/>
                  </a:lnTo>
                  <a:lnTo>
                    <a:pt x="36296" y="707242"/>
                  </a:lnTo>
                  <a:lnTo>
                    <a:pt x="75687" y="733797"/>
                  </a:lnTo>
                  <a:lnTo>
                    <a:pt x="123924" y="743534"/>
                  </a:lnTo>
                  <a:lnTo>
                    <a:pt x="10391673" y="743534"/>
                  </a:lnTo>
                  <a:lnTo>
                    <a:pt x="10439910" y="733797"/>
                  </a:lnTo>
                  <a:lnTo>
                    <a:pt x="10479301" y="707242"/>
                  </a:lnTo>
                  <a:lnTo>
                    <a:pt x="10505860" y="667855"/>
                  </a:lnTo>
                  <a:lnTo>
                    <a:pt x="10515600" y="619620"/>
                  </a:lnTo>
                  <a:lnTo>
                    <a:pt x="10515600" y="123926"/>
                  </a:lnTo>
                  <a:lnTo>
                    <a:pt x="10505860" y="75689"/>
                  </a:lnTo>
                  <a:lnTo>
                    <a:pt x="10479301" y="36298"/>
                  </a:lnTo>
                  <a:lnTo>
                    <a:pt x="10439910" y="9739"/>
                  </a:lnTo>
                  <a:lnTo>
                    <a:pt x="10391673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8200" y="4462335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0" y="123924"/>
                  </a:moveTo>
                  <a:lnTo>
                    <a:pt x="9738" y="75687"/>
                  </a:lnTo>
                  <a:lnTo>
                    <a:pt x="36296" y="36296"/>
                  </a:lnTo>
                  <a:lnTo>
                    <a:pt x="75687" y="9738"/>
                  </a:lnTo>
                  <a:lnTo>
                    <a:pt x="123924" y="0"/>
                  </a:lnTo>
                  <a:lnTo>
                    <a:pt x="10391705" y="0"/>
                  </a:lnTo>
                  <a:lnTo>
                    <a:pt x="10439921" y="9738"/>
                  </a:lnTo>
                  <a:lnTo>
                    <a:pt x="10479305" y="36296"/>
                  </a:lnTo>
                  <a:lnTo>
                    <a:pt x="10505865" y="75687"/>
                  </a:lnTo>
                  <a:lnTo>
                    <a:pt x="10515605" y="123924"/>
                  </a:lnTo>
                  <a:lnTo>
                    <a:pt x="10515605" y="619611"/>
                  </a:lnTo>
                  <a:lnTo>
                    <a:pt x="10505865" y="667848"/>
                  </a:lnTo>
                  <a:lnTo>
                    <a:pt x="10479305" y="707238"/>
                  </a:lnTo>
                  <a:lnTo>
                    <a:pt x="10439921" y="733796"/>
                  </a:lnTo>
                  <a:lnTo>
                    <a:pt x="10391705" y="743535"/>
                  </a:lnTo>
                  <a:lnTo>
                    <a:pt x="123924" y="743535"/>
                  </a:lnTo>
                  <a:lnTo>
                    <a:pt x="75687" y="733796"/>
                  </a:lnTo>
                  <a:lnTo>
                    <a:pt x="36296" y="707238"/>
                  </a:lnTo>
                  <a:lnTo>
                    <a:pt x="9738" y="667848"/>
                  </a:lnTo>
                  <a:lnTo>
                    <a:pt x="0" y="619611"/>
                  </a:lnTo>
                  <a:lnTo>
                    <a:pt x="0" y="123924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31850" y="5288800"/>
            <a:ext cx="10528300" cy="756285"/>
            <a:chOff x="831850" y="5288800"/>
            <a:chExt cx="10528300" cy="756285"/>
          </a:xfrm>
        </p:grpSpPr>
        <p:sp>
          <p:nvSpPr>
            <p:cNvPr id="16" name="object 16"/>
            <p:cNvSpPr/>
            <p:nvPr/>
          </p:nvSpPr>
          <p:spPr>
            <a:xfrm>
              <a:off x="838200" y="5295150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10391673" y="0"/>
                  </a:moveTo>
                  <a:lnTo>
                    <a:pt x="123924" y="0"/>
                  </a:lnTo>
                  <a:lnTo>
                    <a:pt x="75687" y="9739"/>
                  </a:lnTo>
                  <a:lnTo>
                    <a:pt x="36296" y="36298"/>
                  </a:lnTo>
                  <a:lnTo>
                    <a:pt x="9738" y="75689"/>
                  </a:lnTo>
                  <a:lnTo>
                    <a:pt x="0" y="123926"/>
                  </a:lnTo>
                  <a:lnTo>
                    <a:pt x="0" y="619616"/>
                  </a:lnTo>
                  <a:lnTo>
                    <a:pt x="9738" y="667853"/>
                  </a:lnTo>
                  <a:lnTo>
                    <a:pt x="36296" y="707244"/>
                  </a:lnTo>
                  <a:lnTo>
                    <a:pt x="75687" y="733802"/>
                  </a:lnTo>
                  <a:lnTo>
                    <a:pt x="123924" y="743540"/>
                  </a:lnTo>
                  <a:lnTo>
                    <a:pt x="10391673" y="743540"/>
                  </a:lnTo>
                  <a:lnTo>
                    <a:pt x="10439910" y="733802"/>
                  </a:lnTo>
                  <a:lnTo>
                    <a:pt x="10479301" y="707244"/>
                  </a:lnTo>
                  <a:lnTo>
                    <a:pt x="10505860" y="667853"/>
                  </a:lnTo>
                  <a:lnTo>
                    <a:pt x="10515600" y="619616"/>
                  </a:lnTo>
                  <a:lnTo>
                    <a:pt x="10515600" y="123926"/>
                  </a:lnTo>
                  <a:lnTo>
                    <a:pt x="10505860" y="75689"/>
                  </a:lnTo>
                  <a:lnTo>
                    <a:pt x="10479301" y="36298"/>
                  </a:lnTo>
                  <a:lnTo>
                    <a:pt x="10439910" y="9739"/>
                  </a:lnTo>
                  <a:lnTo>
                    <a:pt x="10391673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8200" y="5295150"/>
              <a:ext cx="10515600" cy="743585"/>
            </a:xfrm>
            <a:custGeom>
              <a:avLst/>
              <a:gdLst/>
              <a:ahLst/>
              <a:cxnLst/>
              <a:rect l="l" t="t" r="r" b="b"/>
              <a:pathLst>
                <a:path w="10515600" h="743585">
                  <a:moveTo>
                    <a:pt x="0" y="123924"/>
                  </a:moveTo>
                  <a:lnTo>
                    <a:pt x="9738" y="75687"/>
                  </a:lnTo>
                  <a:lnTo>
                    <a:pt x="36296" y="36296"/>
                  </a:lnTo>
                  <a:lnTo>
                    <a:pt x="75687" y="9738"/>
                  </a:lnTo>
                  <a:lnTo>
                    <a:pt x="123924" y="0"/>
                  </a:lnTo>
                  <a:lnTo>
                    <a:pt x="10391705" y="0"/>
                  </a:lnTo>
                  <a:lnTo>
                    <a:pt x="10439921" y="9738"/>
                  </a:lnTo>
                  <a:lnTo>
                    <a:pt x="10479305" y="36296"/>
                  </a:lnTo>
                  <a:lnTo>
                    <a:pt x="10505865" y="75687"/>
                  </a:lnTo>
                  <a:lnTo>
                    <a:pt x="10515605" y="123924"/>
                  </a:lnTo>
                  <a:lnTo>
                    <a:pt x="10515605" y="619611"/>
                  </a:lnTo>
                  <a:lnTo>
                    <a:pt x="10505865" y="667848"/>
                  </a:lnTo>
                  <a:lnTo>
                    <a:pt x="10479305" y="707238"/>
                  </a:lnTo>
                  <a:lnTo>
                    <a:pt x="10439921" y="733796"/>
                  </a:lnTo>
                  <a:lnTo>
                    <a:pt x="10391705" y="743535"/>
                  </a:lnTo>
                  <a:lnTo>
                    <a:pt x="123924" y="743535"/>
                  </a:lnTo>
                  <a:lnTo>
                    <a:pt x="75687" y="733796"/>
                  </a:lnTo>
                  <a:lnTo>
                    <a:pt x="36296" y="707238"/>
                  </a:lnTo>
                  <a:lnTo>
                    <a:pt x="9738" y="667848"/>
                  </a:lnTo>
                  <a:lnTo>
                    <a:pt x="0" y="619611"/>
                  </a:lnTo>
                  <a:lnTo>
                    <a:pt x="0" y="123924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79906" y="2040467"/>
            <a:ext cx="10005695" cy="3834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" dirty="0">
                <a:solidFill>
                  <a:srgbClr val="FFFFFF"/>
                </a:solidFill>
                <a:latin typeface="Carlito"/>
                <a:cs typeface="Carlito"/>
              </a:rPr>
              <a:t>Latency</a:t>
            </a:r>
            <a:endParaRPr sz="3100">
              <a:latin typeface="Carlito"/>
              <a:cs typeface="Carlito"/>
            </a:endParaRPr>
          </a:p>
          <a:p>
            <a:pPr marL="12700" marR="5080" algn="just">
              <a:lnSpc>
                <a:spcPct val="175600"/>
              </a:lnSpc>
              <a:spcBef>
                <a:spcPts val="65"/>
              </a:spcBef>
            </a:pP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#</a:t>
            </a:r>
            <a:r>
              <a:rPr sz="3100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scoring</a:t>
            </a:r>
            <a:r>
              <a:rPr sz="3100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requests</a:t>
            </a:r>
            <a:r>
              <a:rPr sz="3100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3100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number</a:t>
            </a:r>
            <a:r>
              <a:rPr sz="3100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31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records</a:t>
            </a:r>
            <a:r>
              <a:rPr sz="31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that</a:t>
            </a:r>
            <a:r>
              <a:rPr sz="3100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were</a:t>
            </a:r>
            <a:r>
              <a:rPr sz="31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rlito"/>
                <a:cs typeface="Carlito"/>
              </a:rPr>
              <a:t>processed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#</a:t>
            </a:r>
            <a:r>
              <a:rPr sz="31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input</a:t>
            </a:r>
            <a:r>
              <a:rPr sz="31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31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output</a:t>
            </a:r>
            <a:r>
              <a:rPr sz="31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rlito"/>
                <a:cs typeface="Carlito"/>
              </a:rPr>
              <a:t>tokens</a:t>
            </a:r>
            <a:r>
              <a:rPr sz="31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(which</a:t>
            </a:r>
            <a:r>
              <a:rPr sz="31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31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directly</a:t>
            </a:r>
            <a:r>
              <a:rPr sz="31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rlito"/>
                <a:cs typeface="Carlito"/>
              </a:rPr>
              <a:t>correlated</a:t>
            </a:r>
            <a:r>
              <a:rPr sz="31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31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rlito"/>
                <a:cs typeface="Carlito"/>
              </a:rPr>
              <a:t>cost) Payload</a:t>
            </a:r>
            <a:r>
              <a:rPr sz="31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size</a:t>
            </a:r>
            <a:r>
              <a:rPr sz="31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31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bytes</a:t>
            </a:r>
            <a:r>
              <a:rPr sz="3100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(size</a:t>
            </a:r>
            <a:r>
              <a:rPr sz="31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31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input</a:t>
            </a:r>
            <a:r>
              <a:rPr sz="31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31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rlito"/>
                <a:cs typeface="Carlito"/>
              </a:rPr>
              <a:t>output)</a:t>
            </a:r>
            <a:endParaRPr sz="3100">
              <a:latin typeface="Carlito"/>
              <a:cs typeface="Carlito"/>
            </a:endParaRPr>
          </a:p>
          <a:p>
            <a:pPr marL="12700" algn="just">
              <a:lnSpc>
                <a:spcPct val="100000"/>
              </a:lnSpc>
              <a:spcBef>
                <a:spcPts val="2880"/>
              </a:spcBef>
            </a:pP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#</a:t>
            </a:r>
            <a:r>
              <a:rPr sz="31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users</a:t>
            </a:r>
            <a:r>
              <a:rPr sz="31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who</a:t>
            </a:r>
            <a:r>
              <a:rPr sz="31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are</a:t>
            </a:r>
            <a:r>
              <a:rPr sz="31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r>
              <a:rPr sz="31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31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rlito"/>
                <a:cs typeface="Carlito"/>
              </a:rPr>
              <a:t>LLM/Prompt/Application</a:t>
            </a:r>
            <a:endParaRPr sz="31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3829"/>
            <a:ext cx="17214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14" dirty="0">
                <a:latin typeface="Trebuchet MS"/>
                <a:cs typeface="Trebuchet MS"/>
              </a:rPr>
              <a:t>Quality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0665" algn="l"/>
              </a:tabLst>
            </a:pPr>
            <a:r>
              <a:rPr spc="-60" dirty="0"/>
              <a:t>Is</a:t>
            </a:r>
            <a:r>
              <a:rPr spc="-250" dirty="0"/>
              <a:t> </a:t>
            </a:r>
            <a:r>
              <a:rPr spc="-125" dirty="0"/>
              <a:t>a</a:t>
            </a:r>
            <a:r>
              <a:rPr spc="-245" dirty="0"/>
              <a:t> </a:t>
            </a:r>
            <a:r>
              <a:rPr spc="-105" dirty="0"/>
              <a:t>measure</a:t>
            </a:r>
            <a:r>
              <a:rPr spc="-260" dirty="0"/>
              <a:t> </a:t>
            </a:r>
            <a:r>
              <a:rPr spc="-95" dirty="0"/>
              <a:t>of</a:t>
            </a:r>
            <a:r>
              <a:rPr spc="-260" dirty="0"/>
              <a:t> </a:t>
            </a:r>
            <a:r>
              <a:rPr spc="-65" dirty="0"/>
              <a:t>how</a:t>
            </a:r>
            <a:r>
              <a:rPr spc="-250" dirty="0"/>
              <a:t> </a:t>
            </a:r>
            <a:r>
              <a:rPr b="1" i="1" spc="-10" dirty="0">
                <a:solidFill>
                  <a:srgbClr val="FF0000"/>
                </a:solidFill>
                <a:latin typeface="BABEL Unicode"/>
                <a:cs typeface="BABEL Unicode"/>
              </a:rPr>
              <a:t>good</a:t>
            </a:r>
            <a:r>
              <a:rPr b="1" i="1" spc="-160" dirty="0">
                <a:solidFill>
                  <a:srgbClr val="FF0000"/>
                </a:solidFill>
                <a:latin typeface="BABEL Unicode"/>
                <a:cs typeface="BABEL Unicode"/>
              </a:rPr>
              <a:t> </a:t>
            </a:r>
            <a:r>
              <a:rPr spc="-114" dirty="0"/>
              <a:t>predictions</a:t>
            </a:r>
            <a:r>
              <a:rPr spc="-240" dirty="0"/>
              <a:t> </a:t>
            </a:r>
            <a:r>
              <a:rPr spc="-95" dirty="0"/>
              <a:t>or</a:t>
            </a:r>
            <a:r>
              <a:rPr spc="-254" dirty="0"/>
              <a:t> </a:t>
            </a:r>
            <a:r>
              <a:rPr spc="-110" dirty="0"/>
              <a:t>generated</a:t>
            </a:r>
            <a:r>
              <a:rPr spc="-250" dirty="0"/>
              <a:t> </a:t>
            </a:r>
            <a:r>
              <a:rPr spc="-105" dirty="0"/>
              <a:t>contents</a:t>
            </a:r>
            <a:r>
              <a:rPr spc="-235" dirty="0"/>
              <a:t> </a:t>
            </a:r>
            <a:r>
              <a:rPr spc="-25" dirty="0"/>
              <a:t>are</a:t>
            </a: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0665" algn="l"/>
              </a:tabLst>
            </a:pPr>
            <a:r>
              <a:rPr spc="-114" dirty="0"/>
              <a:t>Different</a:t>
            </a:r>
            <a:r>
              <a:rPr spc="-235" dirty="0"/>
              <a:t> </a:t>
            </a:r>
            <a:r>
              <a:rPr spc="-75" dirty="0"/>
              <a:t>tasks</a:t>
            </a:r>
            <a:r>
              <a:rPr spc="-229" dirty="0"/>
              <a:t> </a:t>
            </a:r>
            <a:r>
              <a:rPr spc="-140" dirty="0"/>
              <a:t>require</a:t>
            </a:r>
            <a:r>
              <a:rPr spc="-240" dirty="0"/>
              <a:t> </a:t>
            </a:r>
            <a:r>
              <a:rPr spc="-140" dirty="0"/>
              <a:t>different</a:t>
            </a:r>
            <a:r>
              <a:rPr spc="-229" dirty="0"/>
              <a:t> </a:t>
            </a:r>
            <a:r>
              <a:rPr spc="-10" dirty="0"/>
              <a:t>metrics:</a:t>
            </a:r>
          </a:p>
          <a:p>
            <a:pPr marL="697230" lvl="1" indent="-227329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25" dirty="0">
                <a:latin typeface="Trebuchet MS"/>
                <a:cs typeface="Trebuchet MS"/>
              </a:rPr>
              <a:t>Classification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Trebuchet MS"/>
                <a:cs typeface="Trebuchet MS"/>
              </a:rPr>
              <a:t>Summarization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Trebuchet MS"/>
                <a:cs typeface="Trebuchet MS"/>
              </a:rPr>
              <a:t>Extraction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/>
          </a:p>
          <a:p>
            <a:pPr>
              <a:lnSpc>
                <a:spcPct val="100000"/>
              </a:lnSpc>
              <a:spcBef>
                <a:spcPts val="1810"/>
              </a:spcBef>
            </a:pPr>
            <a:endParaRPr sz="2400"/>
          </a:p>
          <a:p>
            <a:pPr marL="177800">
              <a:lnSpc>
                <a:spcPct val="100000"/>
              </a:lnSpc>
            </a:pPr>
            <a:r>
              <a:rPr sz="3600" spc="-185" dirty="0"/>
              <a:t>To</a:t>
            </a:r>
            <a:r>
              <a:rPr sz="3600" spc="-340" dirty="0"/>
              <a:t> </a:t>
            </a:r>
            <a:r>
              <a:rPr sz="3600" spc="-130" dirty="0"/>
              <a:t>compute</a:t>
            </a:r>
            <a:r>
              <a:rPr sz="3600" spc="-335" dirty="0"/>
              <a:t> </a:t>
            </a:r>
            <a:r>
              <a:rPr sz="3600" i="1" spc="195" dirty="0">
                <a:latin typeface="Liberation Sans Narrow"/>
                <a:cs typeface="Liberation Sans Narrow"/>
              </a:rPr>
              <a:t>quality</a:t>
            </a:r>
            <a:r>
              <a:rPr sz="3600" i="1" spc="-80" dirty="0">
                <a:latin typeface="Liberation Sans Narrow"/>
                <a:cs typeface="Liberation Sans Narrow"/>
              </a:rPr>
              <a:t> </a:t>
            </a:r>
            <a:r>
              <a:rPr sz="3600" spc="-170" dirty="0"/>
              <a:t>we</a:t>
            </a:r>
            <a:r>
              <a:rPr sz="3600" spc="-335" dirty="0"/>
              <a:t> </a:t>
            </a:r>
            <a:r>
              <a:rPr sz="3600" spc="-140" dirty="0"/>
              <a:t>need</a:t>
            </a:r>
            <a:r>
              <a:rPr sz="3600" spc="-340" dirty="0"/>
              <a:t> </a:t>
            </a:r>
            <a:r>
              <a:rPr sz="3600" b="1" spc="-125" dirty="0">
                <a:solidFill>
                  <a:srgbClr val="FF0000"/>
                </a:solidFill>
                <a:latin typeface="Trebuchet MS"/>
                <a:cs typeface="Trebuchet MS"/>
              </a:rPr>
              <a:t>Ground</a:t>
            </a:r>
            <a:r>
              <a:rPr sz="3600" b="1" spc="-5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Trebuchet MS"/>
                <a:cs typeface="Trebuchet MS"/>
              </a:rPr>
              <a:t>Truths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56163"/>
            <a:ext cx="41757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5" dirty="0">
                <a:latin typeface="Trebuchet MS"/>
                <a:cs typeface="Trebuchet MS"/>
              </a:rPr>
              <a:t>Classification</a:t>
            </a:r>
            <a:r>
              <a:rPr sz="4000" spc="-320" dirty="0">
                <a:latin typeface="Trebuchet MS"/>
                <a:cs typeface="Trebuchet MS"/>
              </a:rPr>
              <a:t> </a:t>
            </a:r>
            <a:r>
              <a:rPr sz="4000" spc="-85" dirty="0">
                <a:latin typeface="Trebuchet MS"/>
                <a:cs typeface="Trebuchet MS"/>
              </a:rPr>
              <a:t>basics</a:t>
            </a:r>
            <a:endParaRPr sz="40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75623" y="2173325"/>
          <a:ext cx="6408420" cy="2127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No</a:t>
                      </a:r>
                      <a:r>
                        <a:rPr sz="2800" b="1" spc="-3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800" spc="-10" dirty="0">
                          <a:latin typeface="Carlito"/>
                          <a:cs typeface="Carlito"/>
                        </a:rPr>
                        <a:t>Cancer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800" spc="-25" dirty="0">
                          <a:latin typeface="Carlito"/>
                          <a:cs typeface="Carlito"/>
                        </a:rPr>
                        <a:t>10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800" spc="-50" dirty="0">
                          <a:latin typeface="Carlito"/>
                          <a:cs typeface="Carlito"/>
                        </a:rPr>
                        <a:t>8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Carlito"/>
                          <a:cs typeface="Carlito"/>
                        </a:rPr>
                        <a:t>No</a:t>
                      </a:r>
                      <a:r>
                        <a:rPr sz="2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800" spc="-10" dirty="0">
                          <a:latin typeface="Carlito"/>
                          <a:cs typeface="Carlito"/>
                        </a:rPr>
                        <a:t>cancer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spc="-25" dirty="0">
                          <a:latin typeface="Carlito"/>
                          <a:cs typeface="Carlito"/>
                        </a:rPr>
                        <a:t>22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spc="-25" dirty="0">
                          <a:latin typeface="Carlito"/>
                          <a:cs typeface="Carlito"/>
                        </a:rPr>
                        <a:t>60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660491" y="1553625"/>
            <a:ext cx="17989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95" dirty="0">
                <a:latin typeface="Trebuchet MS"/>
                <a:cs typeface="Trebuchet MS"/>
              </a:rPr>
              <a:t>Predictions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1031" y="2273024"/>
            <a:ext cx="368300" cy="18548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50"/>
              </a:lnSpc>
            </a:pPr>
            <a:r>
              <a:rPr sz="2700" spc="-95" dirty="0">
                <a:latin typeface="Trebuchet MS"/>
                <a:cs typeface="Trebuchet MS"/>
              </a:rPr>
              <a:t>Ground</a:t>
            </a:r>
            <a:r>
              <a:rPr sz="2700" spc="-250" dirty="0">
                <a:latin typeface="Trebuchet MS"/>
                <a:cs typeface="Trebuchet MS"/>
              </a:rPr>
              <a:t> </a:t>
            </a:r>
            <a:r>
              <a:rPr sz="2700" spc="-100" dirty="0">
                <a:latin typeface="Trebuchet MS"/>
                <a:cs typeface="Trebuchet MS"/>
              </a:rPr>
              <a:t>truth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1531" y="4449225"/>
            <a:ext cx="35179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85" dirty="0">
                <a:latin typeface="Trebuchet MS"/>
                <a:cs typeface="Trebuchet MS"/>
              </a:rPr>
              <a:t>True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positives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(TP)? </a:t>
            </a:r>
            <a:r>
              <a:rPr sz="3000" spc="-185" dirty="0">
                <a:latin typeface="Trebuchet MS"/>
                <a:cs typeface="Trebuchet MS"/>
              </a:rPr>
              <a:t>True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-70" dirty="0">
                <a:latin typeface="Trebuchet MS"/>
                <a:cs typeface="Trebuchet MS"/>
              </a:rPr>
              <a:t>negatives?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(TN)? </a:t>
            </a:r>
            <a:r>
              <a:rPr sz="3000" spc="-110" dirty="0">
                <a:latin typeface="Trebuchet MS"/>
                <a:cs typeface="Trebuchet MS"/>
              </a:rPr>
              <a:t>False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positives?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(FP)? </a:t>
            </a:r>
            <a:r>
              <a:rPr sz="3000" spc="-110" dirty="0">
                <a:latin typeface="Trebuchet MS"/>
                <a:cs typeface="Trebuchet MS"/>
              </a:rPr>
              <a:t>False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70" dirty="0">
                <a:latin typeface="Trebuchet MS"/>
                <a:cs typeface="Trebuchet MS"/>
              </a:rPr>
              <a:t>negatives?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(FN)?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1517" y="4449225"/>
            <a:ext cx="372046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30" dirty="0">
                <a:latin typeface="Trebuchet MS"/>
                <a:cs typeface="Trebuchet MS"/>
              </a:rPr>
              <a:t>Predicted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60" dirty="0">
                <a:latin typeface="Trebuchet MS"/>
                <a:cs typeface="Trebuchet MS"/>
              </a:rPr>
              <a:t>as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cancer? </a:t>
            </a:r>
            <a:r>
              <a:rPr sz="3000" spc="-130" dirty="0">
                <a:latin typeface="Trebuchet MS"/>
                <a:cs typeface="Trebuchet MS"/>
              </a:rPr>
              <a:t>Predicted</a:t>
            </a:r>
            <a:r>
              <a:rPr sz="3000" spc="-275" dirty="0">
                <a:latin typeface="Trebuchet MS"/>
                <a:cs typeface="Trebuchet MS"/>
              </a:rPr>
              <a:t> </a:t>
            </a:r>
            <a:r>
              <a:rPr sz="3000" spc="-60" dirty="0">
                <a:latin typeface="Trebuchet MS"/>
                <a:cs typeface="Trebuchet MS"/>
              </a:rPr>
              <a:t>as</a:t>
            </a:r>
            <a:r>
              <a:rPr sz="3000" spc="-280" dirty="0">
                <a:latin typeface="Trebuchet MS"/>
                <a:cs typeface="Trebuchet MS"/>
              </a:rPr>
              <a:t> </a:t>
            </a:r>
            <a:r>
              <a:rPr sz="3000" spc="-45" dirty="0">
                <a:latin typeface="Trebuchet MS"/>
                <a:cs typeface="Trebuchet MS"/>
              </a:rPr>
              <a:t>no</a:t>
            </a:r>
            <a:r>
              <a:rPr sz="3000" spc="-275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cancer? </a:t>
            </a:r>
            <a:r>
              <a:rPr sz="3000" spc="-135" dirty="0">
                <a:latin typeface="Trebuchet MS"/>
                <a:cs typeface="Trebuchet MS"/>
              </a:rPr>
              <a:t>Real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cancer?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000" spc="-135" dirty="0">
                <a:latin typeface="Trebuchet MS"/>
                <a:cs typeface="Trebuchet MS"/>
              </a:rPr>
              <a:t>Real</a:t>
            </a:r>
            <a:r>
              <a:rPr sz="3000" spc="-275" dirty="0">
                <a:latin typeface="Trebuchet MS"/>
                <a:cs typeface="Trebuchet MS"/>
              </a:rPr>
              <a:t> </a:t>
            </a:r>
            <a:r>
              <a:rPr sz="3000" spc="-45" dirty="0">
                <a:latin typeface="Trebuchet MS"/>
                <a:cs typeface="Trebuchet MS"/>
              </a:rPr>
              <a:t>no</a:t>
            </a:r>
            <a:r>
              <a:rPr sz="3000" spc="-28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cancer?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4400" spc="-30" dirty="0"/>
              <a:t>Classification</a:t>
            </a:r>
            <a:r>
              <a:rPr sz="4400" spc="-135" dirty="0"/>
              <a:t> </a:t>
            </a:r>
            <a:r>
              <a:rPr sz="4400" spc="-10" dirty="0"/>
              <a:t>basics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08618" y="2440368"/>
          <a:ext cx="7539354" cy="2942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2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5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No</a:t>
                      </a:r>
                      <a:r>
                        <a:rPr sz="2800" b="1" spc="-3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800" spc="-10" dirty="0">
                          <a:latin typeface="Carlito"/>
                          <a:cs typeface="Carlito"/>
                        </a:rPr>
                        <a:t>Cancer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800" spc="-10" dirty="0">
                          <a:latin typeface="Carlito"/>
                          <a:cs typeface="Carlito"/>
                        </a:rPr>
                        <a:t>TP=10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800" spc="-20" dirty="0">
                          <a:latin typeface="Carlito"/>
                          <a:cs typeface="Carlito"/>
                        </a:rPr>
                        <a:t>FN=8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800" spc="-20" dirty="0">
                          <a:latin typeface="Carlito"/>
                          <a:cs typeface="Carlito"/>
                        </a:rPr>
                        <a:t>P=18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dirty="0">
                          <a:latin typeface="Carlito"/>
                          <a:cs typeface="Carlito"/>
                        </a:rPr>
                        <a:t>No</a:t>
                      </a:r>
                      <a:r>
                        <a:rPr sz="2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800" spc="-10" dirty="0">
                          <a:latin typeface="Carlito"/>
                          <a:cs typeface="Carlito"/>
                        </a:rPr>
                        <a:t>cancer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rlito"/>
                          <a:cs typeface="Carlito"/>
                        </a:rPr>
                        <a:t>FP=22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rlito"/>
                          <a:cs typeface="Carlito"/>
                        </a:rPr>
                        <a:t>TN=60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20" dirty="0">
                          <a:latin typeface="Carlito"/>
                          <a:cs typeface="Carlito"/>
                        </a:rPr>
                        <a:t>N=82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10" dirty="0">
                          <a:latin typeface="Carlito"/>
                          <a:cs typeface="Carlito"/>
                        </a:rPr>
                        <a:t>PP=22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10" dirty="0">
                          <a:latin typeface="Carlito"/>
                          <a:cs typeface="Carlito"/>
                        </a:rPr>
                        <a:t>PN=68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spc="-10" dirty="0">
                          <a:latin typeface="Carlito"/>
                          <a:cs typeface="Carlito"/>
                        </a:rPr>
                        <a:t>T=100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238445" y="1621367"/>
            <a:ext cx="223266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0" dirty="0">
                <a:latin typeface="Carlito"/>
                <a:cs typeface="Carlito"/>
              </a:rPr>
              <a:t>Predictions</a:t>
            </a:r>
            <a:endParaRPr sz="3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5011" y="2850999"/>
            <a:ext cx="537210" cy="2292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900"/>
              </a:lnSpc>
            </a:pPr>
            <a:r>
              <a:rPr sz="3300" dirty="0">
                <a:latin typeface="Carlito"/>
                <a:cs typeface="Carlito"/>
              </a:rPr>
              <a:t>Ground</a:t>
            </a:r>
            <a:r>
              <a:rPr sz="3300" spc="-45" dirty="0">
                <a:latin typeface="Carlito"/>
                <a:cs typeface="Carlito"/>
              </a:rPr>
              <a:t> </a:t>
            </a:r>
            <a:r>
              <a:rPr sz="3300" spc="-20" dirty="0">
                <a:latin typeface="Carlito"/>
                <a:cs typeface="Carlito"/>
              </a:rPr>
              <a:t>truth</a:t>
            </a:r>
            <a:endParaRPr sz="33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2808" y="5742046"/>
            <a:ext cx="1449705" cy="3860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i="1" spc="-90" dirty="0">
                <a:latin typeface="MathJax_Math"/>
                <a:cs typeface="MathJax_Math"/>
              </a:rPr>
              <a:t>Accuracy</a:t>
            </a:r>
            <a:r>
              <a:rPr sz="2350" i="1" dirty="0">
                <a:latin typeface="MathJax_Math"/>
                <a:cs typeface="MathJax_Math"/>
              </a:rPr>
              <a:t> </a:t>
            </a:r>
            <a:r>
              <a:rPr sz="2350" spc="-50" dirty="0">
                <a:latin typeface="LM Roman 10"/>
                <a:cs typeface="LM Roman 10"/>
              </a:rPr>
              <a:t>=</a:t>
            </a:r>
            <a:endParaRPr sz="2350">
              <a:latin typeface="LM Roman 10"/>
              <a:cs typeface="LM Roman 1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2659" y="5538940"/>
            <a:ext cx="1226820" cy="3860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i="1" dirty="0">
                <a:latin typeface="MathJax_Math"/>
                <a:cs typeface="MathJax_Math"/>
              </a:rPr>
              <a:t>TP</a:t>
            </a:r>
            <a:r>
              <a:rPr sz="2350" i="1" spc="215" dirty="0">
                <a:latin typeface="MathJax_Math"/>
                <a:cs typeface="MathJax_Math"/>
              </a:rPr>
              <a:t> </a:t>
            </a:r>
            <a:r>
              <a:rPr sz="2350" spc="-170" dirty="0">
                <a:latin typeface="LM Roman 10"/>
                <a:cs typeface="LM Roman 10"/>
              </a:rPr>
              <a:t>+</a:t>
            </a:r>
            <a:r>
              <a:rPr sz="2350" spc="-290" dirty="0">
                <a:latin typeface="LM Roman 10"/>
                <a:cs typeface="LM Roman 10"/>
              </a:rPr>
              <a:t> </a:t>
            </a:r>
            <a:r>
              <a:rPr sz="2350" i="1" spc="-25" dirty="0">
                <a:latin typeface="MathJax_Math"/>
                <a:cs typeface="MathJax_Math"/>
              </a:rPr>
              <a:t>TN </a:t>
            </a:r>
            <a:endParaRPr sz="2350">
              <a:latin typeface="MathJax_Math"/>
              <a:cs typeface="MathJax_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25883" y="5979983"/>
            <a:ext cx="2752090" cy="0"/>
          </a:xfrm>
          <a:custGeom>
            <a:avLst/>
            <a:gdLst/>
            <a:ahLst/>
            <a:cxnLst/>
            <a:rect l="l" t="t" r="r" b="b"/>
            <a:pathLst>
              <a:path w="2752090">
                <a:moveTo>
                  <a:pt x="0" y="0"/>
                </a:moveTo>
                <a:lnTo>
                  <a:pt x="2751610" y="0"/>
                </a:lnTo>
              </a:path>
            </a:pathLst>
          </a:custGeom>
          <a:ln w="119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13177" y="5947985"/>
            <a:ext cx="2785745" cy="3860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i="1" dirty="0">
                <a:latin typeface="MathJax_Math"/>
                <a:cs typeface="MathJax_Math"/>
              </a:rPr>
              <a:t>TP</a:t>
            </a:r>
            <a:r>
              <a:rPr sz="2350" i="1" spc="204" dirty="0">
                <a:latin typeface="MathJax_Math"/>
                <a:cs typeface="MathJax_Math"/>
              </a:rPr>
              <a:t> </a:t>
            </a:r>
            <a:r>
              <a:rPr sz="2350" spc="-170" dirty="0">
                <a:latin typeface="LM Roman 10"/>
                <a:cs typeface="LM Roman 10"/>
              </a:rPr>
              <a:t>+</a:t>
            </a:r>
            <a:r>
              <a:rPr sz="2350" spc="-300" dirty="0">
                <a:latin typeface="LM Roman 10"/>
                <a:cs typeface="LM Roman 10"/>
              </a:rPr>
              <a:t> </a:t>
            </a:r>
            <a:r>
              <a:rPr sz="2350" i="1" dirty="0">
                <a:latin typeface="MathJax_Math"/>
                <a:cs typeface="MathJax_Math"/>
              </a:rPr>
              <a:t>TN</a:t>
            </a:r>
            <a:r>
              <a:rPr sz="2350" i="1" spc="145" dirty="0">
                <a:latin typeface="MathJax_Math"/>
                <a:cs typeface="MathJax_Math"/>
              </a:rPr>
              <a:t> </a:t>
            </a:r>
            <a:r>
              <a:rPr sz="2350" spc="-170" dirty="0">
                <a:latin typeface="LM Roman 10"/>
                <a:cs typeface="LM Roman 10"/>
              </a:rPr>
              <a:t>+</a:t>
            </a:r>
            <a:r>
              <a:rPr sz="2350" spc="-295" dirty="0">
                <a:latin typeface="LM Roman 10"/>
                <a:cs typeface="LM Roman 10"/>
              </a:rPr>
              <a:t> </a:t>
            </a:r>
            <a:r>
              <a:rPr sz="2350" i="1" dirty="0">
                <a:latin typeface="MathJax_Math"/>
                <a:cs typeface="MathJax_Math"/>
              </a:rPr>
              <a:t>FP</a:t>
            </a:r>
            <a:r>
              <a:rPr sz="2350" i="1" spc="204" dirty="0">
                <a:latin typeface="MathJax_Math"/>
                <a:cs typeface="MathJax_Math"/>
              </a:rPr>
              <a:t> </a:t>
            </a:r>
            <a:r>
              <a:rPr sz="2350" spc="-170" dirty="0">
                <a:latin typeface="LM Roman 10"/>
                <a:cs typeface="LM Roman 10"/>
              </a:rPr>
              <a:t>+</a:t>
            </a:r>
            <a:r>
              <a:rPr sz="2350" spc="-295" dirty="0">
                <a:latin typeface="LM Roman 10"/>
                <a:cs typeface="LM Roman 10"/>
              </a:rPr>
              <a:t> </a:t>
            </a:r>
            <a:r>
              <a:rPr sz="2350" i="1" spc="-25" dirty="0">
                <a:latin typeface="MathJax_Math"/>
                <a:cs typeface="MathJax_Math"/>
              </a:rPr>
              <a:t>FN </a:t>
            </a:r>
            <a:endParaRPr sz="2350">
              <a:latin typeface="MathJax_Math"/>
              <a:cs typeface="MathJax_Math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3300" dirty="0"/>
              <a:t>Which</a:t>
            </a:r>
            <a:r>
              <a:rPr sz="3300" spc="-114" dirty="0"/>
              <a:t> </a:t>
            </a:r>
            <a:r>
              <a:rPr sz="3300" spc="-25" dirty="0"/>
              <a:t>model’s</a:t>
            </a:r>
            <a:r>
              <a:rPr sz="3300" spc="-114" dirty="0"/>
              <a:t> </a:t>
            </a:r>
            <a:r>
              <a:rPr sz="3300" dirty="0"/>
              <a:t>better</a:t>
            </a:r>
            <a:r>
              <a:rPr sz="3300" spc="-120" dirty="0"/>
              <a:t> </a:t>
            </a:r>
            <a:r>
              <a:rPr sz="3300" spc="-20" dirty="0"/>
              <a:t>(1)?</a:t>
            </a:r>
            <a:endParaRPr sz="33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5542" y="1987257"/>
          <a:ext cx="5073015" cy="2027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1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No</a:t>
                      </a:r>
                      <a:r>
                        <a:rPr sz="2300" b="1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10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50" dirty="0">
                          <a:latin typeface="Carlito"/>
                          <a:cs typeface="Carlito"/>
                        </a:rPr>
                        <a:t>8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300" dirty="0">
                          <a:latin typeface="Carlito"/>
                          <a:cs typeface="Carlito"/>
                        </a:rPr>
                        <a:t>No</a:t>
                      </a:r>
                      <a:r>
                        <a:rPr sz="23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300" spc="-10" dirty="0"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22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60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1245" y="2119648"/>
            <a:ext cx="444500" cy="18389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210"/>
              </a:lnSpc>
            </a:pPr>
            <a:r>
              <a:rPr sz="2700" spc="-10" dirty="0">
                <a:latin typeface="Carlito"/>
                <a:cs typeface="Carlito"/>
              </a:rPr>
              <a:t>Ground</a:t>
            </a:r>
            <a:r>
              <a:rPr sz="2700" spc="-12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truth</a:t>
            </a:r>
            <a:endParaRPr sz="2700">
              <a:latin typeface="Carlito"/>
              <a:cs typeface="Carli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44120" y="4295724"/>
          <a:ext cx="5013959" cy="2136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1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1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3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No</a:t>
                      </a:r>
                      <a:r>
                        <a:rPr sz="2300" b="1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300" spc="-50" dirty="0">
                          <a:latin typeface="Carlito"/>
                          <a:cs typeface="Carlito"/>
                        </a:rPr>
                        <a:t>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18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dirty="0">
                          <a:latin typeface="Carlito"/>
                          <a:cs typeface="Carlito"/>
                        </a:rPr>
                        <a:t>No</a:t>
                      </a:r>
                      <a:r>
                        <a:rPr sz="23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300" spc="-10" dirty="0"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50" dirty="0">
                          <a:latin typeface="Carlito"/>
                          <a:cs typeface="Carlito"/>
                        </a:rPr>
                        <a:t>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82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659014" y="4515710"/>
            <a:ext cx="444500" cy="18389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210"/>
              </a:lnSpc>
            </a:pPr>
            <a:r>
              <a:rPr sz="2700" spc="-10" dirty="0">
                <a:latin typeface="Carlito"/>
                <a:cs typeface="Carlito"/>
              </a:rPr>
              <a:t>Ground</a:t>
            </a:r>
            <a:r>
              <a:rPr sz="2700" spc="-12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truth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8203" y="1447796"/>
            <a:ext cx="6940550" cy="414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215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rlito"/>
                <a:cs typeface="Carlito"/>
              </a:rPr>
              <a:t>Predictions</a:t>
            </a:r>
            <a:endParaRPr sz="27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2700">
              <a:latin typeface="Carlito"/>
              <a:cs typeface="Carlito"/>
            </a:endParaRPr>
          </a:p>
          <a:p>
            <a:pPr marL="3212465">
              <a:lnSpc>
                <a:spcPct val="100000"/>
              </a:lnSpc>
            </a:pPr>
            <a:r>
              <a:rPr sz="3300" spc="-10" dirty="0">
                <a:solidFill>
                  <a:srgbClr val="FF0000"/>
                </a:solidFill>
                <a:latin typeface="Carlito"/>
                <a:cs typeface="Carlito"/>
              </a:rPr>
              <a:t>Accuracy=70%</a:t>
            </a:r>
            <a:endParaRPr sz="33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33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700" spc="-10" dirty="0">
                <a:latin typeface="Carlito"/>
                <a:cs typeface="Carlito"/>
              </a:rPr>
              <a:t>Predictions</a:t>
            </a:r>
            <a:endParaRPr sz="27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7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7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300" spc="-10" dirty="0">
                <a:solidFill>
                  <a:srgbClr val="FF0000"/>
                </a:solidFill>
                <a:latin typeface="Carlito"/>
                <a:cs typeface="Carlito"/>
              </a:rPr>
              <a:t>Accuracy=82%</a:t>
            </a:r>
            <a:endParaRPr sz="33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09414"/>
            <a:ext cx="8106409" cy="134937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4000" spc="-10" dirty="0"/>
              <a:t>More</a:t>
            </a:r>
            <a:r>
              <a:rPr sz="4000" spc="-210" dirty="0"/>
              <a:t> </a:t>
            </a:r>
            <a:r>
              <a:rPr sz="4000" spc="-10" dirty="0"/>
              <a:t>metrics!</a:t>
            </a:r>
            <a:r>
              <a:rPr sz="4000" spc="-190" dirty="0"/>
              <a:t> </a:t>
            </a:r>
            <a:r>
              <a:rPr sz="4000" dirty="0"/>
              <a:t>Now</a:t>
            </a:r>
            <a:r>
              <a:rPr sz="4000" spc="-185" dirty="0"/>
              <a:t> </a:t>
            </a:r>
            <a:r>
              <a:rPr sz="4000" dirty="0"/>
              <a:t>which</a:t>
            </a:r>
            <a:r>
              <a:rPr sz="4000" spc="-190" dirty="0"/>
              <a:t> </a:t>
            </a:r>
            <a:r>
              <a:rPr sz="4000" spc="-55" dirty="0"/>
              <a:t>one’s</a:t>
            </a:r>
            <a:r>
              <a:rPr sz="4000" spc="-170" dirty="0"/>
              <a:t> </a:t>
            </a:r>
            <a:r>
              <a:rPr sz="4000" spc="-10" dirty="0"/>
              <a:t>better?</a:t>
            </a:r>
            <a:endParaRPr sz="4000"/>
          </a:p>
          <a:p>
            <a:pPr marL="213360" algn="ctr">
              <a:lnSpc>
                <a:spcPct val="100000"/>
              </a:lnSpc>
              <a:spcBef>
                <a:spcPts val="865"/>
              </a:spcBef>
            </a:pPr>
            <a:r>
              <a:rPr sz="3000" spc="-10" dirty="0"/>
              <a:t>Predictions</a:t>
            </a:r>
            <a:endParaRPr sz="3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52392" y="1921268"/>
          <a:ext cx="5484492" cy="2228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5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3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No</a:t>
                      </a:r>
                      <a:r>
                        <a:rPr sz="2300" b="1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10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300" spc="-50" dirty="0">
                          <a:latin typeface="Carlito"/>
                          <a:cs typeface="Carlito"/>
                        </a:rPr>
                        <a:t>8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300" dirty="0">
                          <a:latin typeface="Carlito"/>
                          <a:cs typeface="Carlito"/>
                        </a:rPr>
                        <a:t>No</a:t>
                      </a:r>
                      <a:r>
                        <a:rPr sz="23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300" spc="-10" dirty="0"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22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60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74310" y="1941554"/>
            <a:ext cx="490855" cy="20675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554"/>
              </a:lnSpc>
            </a:pPr>
            <a:r>
              <a:rPr sz="3000" dirty="0">
                <a:latin typeface="Carlito"/>
                <a:cs typeface="Carlito"/>
              </a:rPr>
              <a:t>Ground</a:t>
            </a:r>
            <a:r>
              <a:rPr sz="3000" spc="-9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truth</a:t>
            </a:r>
            <a:endParaRPr sz="3000">
              <a:latin typeface="Carlito"/>
              <a:cs typeface="Carli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040550" y="4437113"/>
          <a:ext cx="4888230" cy="2228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5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3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No</a:t>
                      </a:r>
                      <a:r>
                        <a:rPr sz="2300" b="1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300" spc="-10" dirty="0"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300" spc="-50" dirty="0">
                          <a:latin typeface="Carlito"/>
                          <a:cs typeface="Carlito"/>
                        </a:rPr>
                        <a:t>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18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300" dirty="0">
                          <a:latin typeface="Carlito"/>
                          <a:cs typeface="Carlito"/>
                        </a:rPr>
                        <a:t>No</a:t>
                      </a:r>
                      <a:r>
                        <a:rPr sz="23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300" spc="-10" dirty="0">
                          <a:latin typeface="Carlito"/>
                          <a:cs typeface="Carlito"/>
                        </a:rPr>
                        <a:t>cancer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300" spc="-50" dirty="0">
                          <a:latin typeface="Carlito"/>
                          <a:cs typeface="Carlito"/>
                        </a:rPr>
                        <a:t>0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300" spc="-25" dirty="0">
                          <a:latin typeface="Carlito"/>
                          <a:cs typeface="Carlito"/>
                        </a:rPr>
                        <a:t>82</a:t>
                      </a:r>
                      <a:endParaRPr sz="23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386736" y="2882896"/>
            <a:ext cx="2291080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0000"/>
                </a:solidFill>
                <a:latin typeface="Carlito"/>
                <a:cs typeface="Carlito"/>
              </a:rPr>
              <a:t>Precision=NaN Recall=0</a:t>
            </a:r>
            <a:endParaRPr sz="3000">
              <a:latin typeface="Carlito"/>
              <a:cs typeface="Carlito"/>
            </a:endParaRPr>
          </a:p>
          <a:p>
            <a:pPr marL="439420">
              <a:lnSpc>
                <a:spcPct val="100000"/>
              </a:lnSpc>
              <a:spcBef>
                <a:spcPts val="800"/>
              </a:spcBef>
            </a:pPr>
            <a:r>
              <a:rPr sz="3000" spc="-10" dirty="0">
                <a:latin typeface="Carlito"/>
                <a:cs typeface="Carlito"/>
              </a:rPr>
              <a:t>Predictions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57000" y="4481550"/>
            <a:ext cx="490855" cy="20675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554"/>
              </a:lnSpc>
            </a:pPr>
            <a:r>
              <a:rPr sz="3000" dirty="0">
                <a:latin typeface="Carlito"/>
                <a:cs typeface="Carlito"/>
              </a:rPr>
              <a:t>Ground</a:t>
            </a:r>
            <a:r>
              <a:rPr sz="3000" spc="-9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truth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7125" y="5732563"/>
            <a:ext cx="145986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i="1" spc="-155" dirty="0">
                <a:latin typeface="MathJax_Math"/>
                <a:cs typeface="MathJax_Math"/>
              </a:rPr>
              <a:t>P</a:t>
            </a:r>
            <a:r>
              <a:rPr sz="2300" i="1" spc="-290" dirty="0">
                <a:latin typeface="MathJax_Math"/>
                <a:cs typeface="MathJax_Math"/>
              </a:rPr>
              <a:t> </a:t>
            </a:r>
            <a:r>
              <a:rPr sz="2300" i="1" spc="-100" dirty="0">
                <a:latin typeface="MathJax_Math"/>
                <a:cs typeface="MathJax_Math"/>
              </a:rPr>
              <a:t>recision</a:t>
            </a:r>
            <a:r>
              <a:rPr sz="2300" i="1" dirty="0">
                <a:latin typeface="MathJax_Math"/>
                <a:cs typeface="MathJax_Math"/>
              </a:rPr>
              <a:t> </a:t>
            </a:r>
            <a:r>
              <a:rPr sz="2300" spc="-80" dirty="0">
                <a:latin typeface="LM Roman 10"/>
                <a:cs typeface="LM Roman 10"/>
              </a:rPr>
              <a:t>=</a:t>
            </a:r>
            <a:endParaRPr sz="2300">
              <a:latin typeface="LM Roman 10"/>
              <a:cs typeface="LM Roman 1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9539" y="5532418"/>
            <a:ext cx="42100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i="1" spc="-25" dirty="0">
                <a:latin typeface="MathJax_Math"/>
                <a:cs typeface="MathJax_Math"/>
              </a:rPr>
              <a:t>TP </a:t>
            </a:r>
            <a:endParaRPr sz="2300">
              <a:latin typeface="MathJax_Math"/>
              <a:cs typeface="MathJax_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26157" y="5967177"/>
            <a:ext cx="1127760" cy="0"/>
          </a:xfrm>
          <a:custGeom>
            <a:avLst/>
            <a:gdLst/>
            <a:ahLst/>
            <a:cxnLst/>
            <a:rect l="l" t="t" r="r" b="b"/>
            <a:pathLst>
              <a:path w="1127760">
                <a:moveTo>
                  <a:pt x="0" y="0"/>
                </a:moveTo>
                <a:lnTo>
                  <a:pt x="1127635" y="0"/>
                </a:lnTo>
              </a:path>
            </a:pathLst>
          </a:custGeom>
          <a:ln w="11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13453" y="5935500"/>
            <a:ext cx="115316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i="1" dirty="0">
                <a:latin typeface="MathJax_Math"/>
                <a:cs typeface="MathJax_Math"/>
              </a:rPr>
              <a:t>TP</a:t>
            </a:r>
            <a:r>
              <a:rPr sz="2300" i="1" spc="175" dirty="0">
                <a:latin typeface="MathJax_Math"/>
                <a:cs typeface="MathJax_Math"/>
              </a:rPr>
              <a:t> </a:t>
            </a:r>
            <a:r>
              <a:rPr sz="2300" spc="-204" dirty="0">
                <a:latin typeface="LM Roman 10"/>
                <a:cs typeface="LM Roman 10"/>
              </a:rPr>
              <a:t>+</a:t>
            </a:r>
            <a:r>
              <a:rPr sz="2300" spc="-300" dirty="0">
                <a:latin typeface="LM Roman 10"/>
                <a:cs typeface="LM Roman 10"/>
              </a:rPr>
              <a:t> </a:t>
            </a:r>
            <a:r>
              <a:rPr sz="2300" i="1" spc="-35" dirty="0">
                <a:latin typeface="MathJax_Math"/>
                <a:cs typeface="MathJax_Math"/>
              </a:rPr>
              <a:t>FP </a:t>
            </a:r>
            <a:endParaRPr sz="2300">
              <a:latin typeface="MathJax_Math"/>
              <a:cs typeface="MathJax_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58152" y="5787497"/>
            <a:ext cx="101282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i="1" spc="-110" dirty="0">
                <a:latin typeface="MathJax_Math"/>
                <a:cs typeface="MathJax_Math"/>
              </a:rPr>
              <a:t>Recall</a:t>
            </a:r>
            <a:r>
              <a:rPr sz="2250" i="1" spc="-10" dirty="0">
                <a:latin typeface="MathJax_Math"/>
                <a:cs typeface="MathJax_Math"/>
              </a:rPr>
              <a:t> </a:t>
            </a:r>
            <a:r>
              <a:rPr sz="2250" spc="-100" dirty="0">
                <a:latin typeface="LM Roman 10"/>
                <a:cs typeface="LM Roman 10"/>
              </a:rPr>
              <a:t>=</a:t>
            </a:r>
            <a:endParaRPr sz="2250">
              <a:latin typeface="LM Roman 10"/>
              <a:cs typeface="LM Roman 1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14306" y="5594426"/>
            <a:ext cx="40830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i="1" spc="-25" dirty="0">
                <a:latin typeface="MathJax_Math"/>
                <a:cs typeface="MathJax_Math"/>
              </a:rPr>
              <a:t>TP </a:t>
            </a:r>
            <a:endParaRPr sz="2250">
              <a:latin typeface="MathJax_Math"/>
              <a:cs typeface="MathJax_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56505" y="6014247"/>
            <a:ext cx="1123315" cy="0"/>
          </a:xfrm>
          <a:custGeom>
            <a:avLst/>
            <a:gdLst/>
            <a:ahLst/>
            <a:cxnLst/>
            <a:rect l="l" t="t" r="r" b="b"/>
            <a:pathLst>
              <a:path w="1123314">
                <a:moveTo>
                  <a:pt x="0" y="0"/>
                </a:moveTo>
                <a:lnTo>
                  <a:pt x="1123183" y="0"/>
                </a:lnTo>
              </a:path>
            </a:pathLst>
          </a:custGeom>
          <a:ln w="114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43793" y="5983264"/>
            <a:ext cx="115633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i="1" dirty="0">
                <a:latin typeface="MathJax_Math"/>
                <a:cs typeface="MathJax_Math"/>
              </a:rPr>
              <a:t>TP</a:t>
            </a:r>
            <a:r>
              <a:rPr sz="2250" i="1" spc="100" dirty="0">
                <a:latin typeface="MathJax_Math"/>
                <a:cs typeface="MathJax_Math"/>
              </a:rPr>
              <a:t> </a:t>
            </a:r>
            <a:r>
              <a:rPr sz="2250" spc="-210" dirty="0">
                <a:latin typeface="LM Roman 10"/>
                <a:cs typeface="LM Roman 10"/>
              </a:rPr>
              <a:t>+</a:t>
            </a:r>
            <a:r>
              <a:rPr sz="2250" spc="-310" dirty="0">
                <a:latin typeface="LM Roman 10"/>
                <a:cs typeface="LM Roman 10"/>
              </a:rPr>
              <a:t> </a:t>
            </a:r>
            <a:r>
              <a:rPr sz="2250" i="1" spc="-35" dirty="0">
                <a:latin typeface="MathJax_Math"/>
                <a:cs typeface="MathJax_Math"/>
              </a:rPr>
              <a:t>FN </a:t>
            </a:r>
            <a:endParaRPr sz="2250">
              <a:latin typeface="MathJax_Math"/>
              <a:cs typeface="MathJax_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55596" y="4144425"/>
            <a:ext cx="33889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0000"/>
                </a:solidFill>
                <a:latin typeface="Carlito"/>
                <a:cs typeface="Carlito"/>
              </a:rPr>
              <a:t>Precision=10/32=31% Recall=10/18</a:t>
            </a:r>
            <a:r>
              <a:rPr sz="3000" spc="-5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3000" dirty="0">
                <a:solidFill>
                  <a:srgbClr val="FF0000"/>
                </a:solidFill>
                <a:latin typeface="Carlito"/>
                <a:cs typeface="Carlito"/>
              </a:rPr>
              <a:t>=</a:t>
            </a:r>
            <a:r>
              <a:rPr sz="3000" spc="-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Carlito"/>
                <a:cs typeface="Carlito"/>
              </a:rPr>
              <a:t>55%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383" y="74080"/>
            <a:ext cx="5567680" cy="615188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15"/>
              </a:spcBef>
              <a:buFont typeface="Arial"/>
              <a:buChar char="•"/>
              <a:tabLst>
                <a:tab pos="240665" algn="l"/>
              </a:tabLst>
            </a:pPr>
            <a:r>
              <a:rPr sz="2000" b="1" spc="-50" dirty="0">
                <a:solidFill>
                  <a:srgbClr val="ED7D31"/>
                </a:solidFill>
                <a:latin typeface="Carlito"/>
                <a:cs typeface="Carlito"/>
              </a:rPr>
              <a:t>Text</a:t>
            </a:r>
            <a:r>
              <a:rPr sz="2000" b="1" spc="-25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ED7D31"/>
                </a:solidFill>
                <a:latin typeface="Carlito"/>
                <a:cs typeface="Carlito"/>
              </a:rPr>
              <a:t>Classification</a:t>
            </a:r>
            <a:r>
              <a:rPr sz="2000" b="1" spc="-20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ED7D31"/>
                </a:solidFill>
                <a:latin typeface="Carlito"/>
                <a:cs typeface="Carlito"/>
              </a:rPr>
              <a:t>Metrics</a:t>
            </a:r>
            <a:endParaRPr sz="2000">
              <a:latin typeface="Carlito"/>
              <a:cs typeface="Carlito"/>
            </a:endParaRPr>
          </a:p>
          <a:p>
            <a:pPr marL="240665" marR="150495" indent="-228600">
              <a:lnSpc>
                <a:spcPct val="76400"/>
              </a:lnSpc>
              <a:spcBef>
                <a:spcPts val="1185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85" dirty="0">
                <a:solidFill>
                  <a:srgbClr val="ED7D31"/>
                </a:solidFill>
                <a:latin typeface="Verdana"/>
                <a:cs typeface="Verdana"/>
              </a:rPr>
              <a:t>Accuracy</a:t>
            </a:r>
            <a:r>
              <a:rPr sz="1600" spc="-18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-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7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proportion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correct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predictions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among</a:t>
            </a:r>
            <a:r>
              <a:rPr sz="1600" spc="-25" dirty="0">
                <a:latin typeface="Carlito"/>
                <a:cs typeface="Carlito"/>
              </a:rPr>
              <a:t> the </a:t>
            </a:r>
            <a:r>
              <a:rPr sz="1600" dirty="0">
                <a:latin typeface="Carlito"/>
                <a:cs typeface="Carlito"/>
              </a:rPr>
              <a:t>total</a:t>
            </a:r>
            <a:r>
              <a:rPr sz="1600" spc="-4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number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cases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processed.</a:t>
            </a:r>
            <a:endParaRPr sz="1600">
              <a:latin typeface="Carlito"/>
              <a:cs typeface="Carlito"/>
            </a:endParaRPr>
          </a:p>
          <a:p>
            <a:pPr marL="240665" marR="5080" indent="-228600">
              <a:lnSpc>
                <a:spcPts val="1600"/>
              </a:lnSpc>
              <a:spcBef>
                <a:spcPts val="400"/>
              </a:spcBef>
              <a:buSzPct val="87500"/>
              <a:buFont typeface="Arial"/>
              <a:buChar char="•"/>
              <a:tabLst>
                <a:tab pos="240665" algn="l"/>
              </a:tabLst>
            </a:pPr>
            <a:r>
              <a:rPr sz="1600" spc="-60" dirty="0">
                <a:solidFill>
                  <a:srgbClr val="ED7D31"/>
                </a:solidFill>
                <a:latin typeface="Verdana"/>
                <a:cs typeface="Verdana"/>
              </a:rPr>
              <a:t>Precision</a:t>
            </a:r>
            <a:r>
              <a:rPr sz="1600" spc="-19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-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6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fraction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correctly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labeled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positive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examples </a:t>
            </a:r>
            <a:r>
              <a:rPr sz="1600" dirty="0">
                <a:latin typeface="Carlito"/>
                <a:cs typeface="Carlito"/>
              </a:rPr>
              <a:t>out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all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examples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that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were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labeled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positive.</a:t>
            </a:r>
            <a:endParaRPr sz="1600">
              <a:latin typeface="Carlito"/>
              <a:cs typeface="Carlito"/>
            </a:endParaRPr>
          </a:p>
          <a:p>
            <a:pPr marL="240665" marR="490855" indent="-228600">
              <a:lnSpc>
                <a:spcPts val="1600"/>
              </a:lnSpc>
              <a:spcBef>
                <a:spcPts val="935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95" dirty="0">
                <a:solidFill>
                  <a:srgbClr val="ED7D31"/>
                </a:solidFill>
                <a:latin typeface="Verdana"/>
                <a:cs typeface="Verdana"/>
              </a:rPr>
              <a:t>r_squared</a:t>
            </a:r>
            <a:r>
              <a:rPr sz="1600" spc="-190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-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measure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goodness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fit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</a:t>
            </a:r>
            <a:r>
              <a:rPr sz="1600" spc="-10" dirty="0">
                <a:latin typeface="Carlito"/>
                <a:cs typeface="Carlito"/>
              </a:rPr>
              <a:t> linear regression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  <a:p>
            <a:pPr marL="240665" marR="561340" indent="-228600">
              <a:lnSpc>
                <a:spcPct val="79900"/>
              </a:lnSpc>
              <a:spcBef>
                <a:spcPts val="935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55" dirty="0">
                <a:solidFill>
                  <a:srgbClr val="ED7D31"/>
                </a:solidFill>
                <a:latin typeface="Verdana"/>
                <a:cs typeface="Verdana"/>
              </a:rPr>
              <a:t>Recall</a:t>
            </a:r>
            <a:r>
              <a:rPr sz="1600" spc="-18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-</a:t>
            </a:r>
            <a:r>
              <a:rPr sz="1600" spc="-5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fraction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positive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examples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that</a:t>
            </a:r>
            <a:r>
              <a:rPr sz="1600" spc="-20" dirty="0">
                <a:latin typeface="Carlito"/>
                <a:cs typeface="Carlito"/>
              </a:rPr>
              <a:t> were </a:t>
            </a:r>
            <a:r>
              <a:rPr sz="1600" spc="-10" dirty="0">
                <a:latin typeface="Carlito"/>
                <a:cs typeface="Carlito"/>
              </a:rPr>
              <a:t>correctly</a:t>
            </a:r>
            <a:endParaRPr sz="1600">
              <a:latin typeface="Carlito"/>
              <a:cs typeface="Carlito"/>
            </a:endParaRPr>
          </a:p>
          <a:p>
            <a:pPr marL="240665">
              <a:lnSpc>
                <a:spcPts val="1600"/>
              </a:lnSpc>
            </a:pPr>
            <a:r>
              <a:rPr sz="1600" dirty="0">
                <a:latin typeface="Carlito"/>
                <a:cs typeface="Carlito"/>
              </a:rPr>
              <a:t>labeled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by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model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positive.</a:t>
            </a:r>
            <a:endParaRPr sz="1600">
              <a:latin typeface="Carlito"/>
              <a:cs typeface="Carlito"/>
            </a:endParaRPr>
          </a:p>
          <a:p>
            <a:pPr marL="240665" marR="257175" indent="-228600">
              <a:lnSpc>
                <a:spcPct val="79900"/>
              </a:lnSpc>
              <a:spcBef>
                <a:spcPts val="930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114" dirty="0">
                <a:solidFill>
                  <a:srgbClr val="ED7D31"/>
                </a:solidFill>
                <a:latin typeface="Verdana"/>
                <a:cs typeface="Verdana"/>
              </a:rPr>
              <a:t>ROC</a:t>
            </a:r>
            <a:r>
              <a:rPr sz="1600" spc="-190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ED7D31"/>
                </a:solidFill>
                <a:latin typeface="Verdana"/>
                <a:cs typeface="Verdana"/>
              </a:rPr>
              <a:t>AUC</a:t>
            </a:r>
            <a:r>
              <a:rPr sz="1600" spc="-19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-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computes</a:t>
            </a:r>
            <a:r>
              <a:rPr sz="1600" spc="-9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area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under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curve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(AUC)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for</a:t>
            </a:r>
            <a:r>
              <a:rPr sz="1600" spc="-25" dirty="0">
                <a:latin typeface="Carlito"/>
                <a:cs typeface="Carlito"/>
              </a:rPr>
              <a:t> the </a:t>
            </a:r>
            <a:r>
              <a:rPr sz="1600" spc="-10" dirty="0">
                <a:latin typeface="Carlito"/>
                <a:cs typeface="Carlito"/>
              </a:rPr>
              <a:t>Receiver Operating Characteristic </a:t>
            </a:r>
            <a:r>
              <a:rPr sz="1600" dirty="0">
                <a:latin typeface="Carlito"/>
                <a:cs typeface="Carlito"/>
              </a:rPr>
              <a:t>Curve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(ROC).</a:t>
            </a:r>
            <a:endParaRPr sz="16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55" dirty="0">
                <a:solidFill>
                  <a:srgbClr val="ED7D31"/>
                </a:solidFill>
                <a:latin typeface="Verdana"/>
                <a:cs typeface="Verdana"/>
              </a:rPr>
              <a:t>F1</a:t>
            </a:r>
            <a:r>
              <a:rPr sz="1600" spc="-18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ED7D31"/>
                </a:solidFill>
                <a:latin typeface="Verdana"/>
                <a:cs typeface="Verdana"/>
              </a:rPr>
              <a:t>Score</a:t>
            </a:r>
            <a:r>
              <a:rPr sz="1600" spc="-18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-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6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harmonic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mean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precision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and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recall.</a:t>
            </a:r>
            <a:endParaRPr sz="1600">
              <a:latin typeface="Carlito"/>
              <a:cs typeface="Carlito"/>
            </a:endParaRPr>
          </a:p>
          <a:p>
            <a:pPr marL="240665" marR="25400" indent="-228600">
              <a:lnSpc>
                <a:spcPct val="79900"/>
              </a:lnSpc>
              <a:spcBef>
                <a:spcPts val="935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75" dirty="0">
                <a:solidFill>
                  <a:srgbClr val="ED7D31"/>
                </a:solidFill>
                <a:latin typeface="Verdana"/>
                <a:cs typeface="Verdana"/>
              </a:rPr>
              <a:t>Brier</a:t>
            </a:r>
            <a:r>
              <a:rPr sz="1600" spc="-190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ED7D31"/>
                </a:solidFill>
                <a:latin typeface="Verdana"/>
                <a:cs typeface="Verdana"/>
              </a:rPr>
              <a:t>Score</a:t>
            </a:r>
            <a:r>
              <a:rPr sz="1600" spc="-18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-</a:t>
            </a:r>
            <a:r>
              <a:rPr sz="1600" spc="-6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measure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error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between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two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probability distributions.</a:t>
            </a:r>
            <a:endParaRPr sz="1600">
              <a:latin typeface="Carlito"/>
              <a:cs typeface="Carlito"/>
            </a:endParaRPr>
          </a:p>
          <a:p>
            <a:pPr marL="240665" marR="204470" indent="-228600" algn="just">
              <a:lnSpc>
                <a:spcPct val="78100"/>
              </a:lnSpc>
              <a:spcBef>
                <a:spcPts val="1100"/>
              </a:spcBef>
              <a:buFont typeface="Arial"/>
              <a:buChar char="•"/>
              <a:tabLst>
                <a:tab pos="240665" algn="l"/>
                <a:tab pos="242570" algn="l"/>
              </a:tabLst>
            </a:pPr>
            <a:r>
              <a:rPr sz="1600" dirty="0">
                <a:solidFill>
                  <a:srgbClr val="ED7D31"/>
                </a:solidFill>
                <a:latin typeface="Verdana"/>
                <a:cs typeface="Verdana"/>
              </a:rPr>
              <a:t>	</a:t>
            </a:r>
            <a:r>
              <a:rPr sz="1600" spc="-100" dirty="0">
                <a:solidFill>
                  <a:srgbClr val="ED7D31"/>
                </a:solidFill>
                <a:latin typeface="Verdana"/>
                <a:cs typeface="Verdana"/>
              </a:rPr>
              <a:t>GLUE</a:t>
            </a:r>
            <a:r>
              <a:rPr sz="1600" spc="-19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ED7D31"/>
                </a:solidFill>
                <a:latin typeface="Verdana"/>
                <a:cs typeface="Verdana"/>
              </a:rPr>
              <a:t>metrics</a:t>
            </a:r>
            <a:r>
              <a:rPr sz="1600" spc="-18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latin typeface="Verdana"/>
                <a:cs typeface="Verdana"/>
              </a:rPr>
              <a:t>-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spc="-15" dirty="0">
                <a:latin typeface="Carlito"/>
                <a:cs typeface="Carlito"/>
              </a:rPr>
              <a:t>General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Language</a:t>
            </a:r>
            <a:r>
              <a:rPr sz="16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Understanding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Evaluation</a:t>
            </a:r>
            <a:r>
              <a:rPr sz="160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benchmark is</a:t>
            </a:r>
            <a:r>
              <a:rPr sz="1600" dirty="0">
                <a:latin typeface="Carlito"/>
                <a:cs typeface="Carlito"/>
              </a:rPr>
              <a:t> a</a:t>
            </a:r>
            <a:r>
              <a:rPr sz="1600" spc="-5" dirty="0">
                <a:latin typeface="Carlito"/>
                <a:cs typeface="Carlito"/>
              </a:rPr>
              <a:t> collection of</a:t>
            </a:r>
            <a:r>
              <a:rPr sz="16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resources</a:t>
            </a:r>
            <a:r>
              <a:rPr sz="1600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for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training,</a:t>
            </a:r>
            <a:r>
              <a:rPr sz="16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evaluating,</a:t>
            </a:r>
            <a:r>
              <a:rPr sz="1600" spc="-5" dirty="0">
                <a:latin typeface="Carlito"/>
                <a:cs typeface="Carlito"/>
              </a:rPr>
              <a:t> an</a:t>
            </a:r>
            <a:r>
              <a:rPr sz="1600" dirty="0">
                <a:latin typeface="Carlito"/>
                <a:cs typeface="Carlito"/>
              </a:rPr>
              <a:t>d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analyzing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natural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language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understanding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systems.</a:t>
            </a:r>
            <a:endParaRPr sz="1600">
              <a:latin typeface="Carlito"/>
              <a:cs typeface="Carlito"/>
            </a:endParaRPr>
          </a:p>
          <a:p>
            <a:pPr marL="240665" marR="55244" indent="-228600">
              <a:lnSpc>
                <a:spcPct val="79900"/>
              </a:lnSpc>
              <a:spcBef>
                <a:spcPts val="1065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80" dirty="0">
                <a:solidFill>
                  <a:srgbClr val="ED7D31"/>
                </a:solidFill>
                <a:latin typeface="Verdana"/>
                <a:cs typeface="Verdana"/>
              </a:rPr>
              <a:t>Matthews</a:t>
            </a:r>
            <a:r>
              <a:rPr sz="1600" spc="-18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ED7D31"/>
                </a:solidFill>
                <a:latin typeface="Verdana"/>
                <a:cs typeface="Verdana"/>
              </a:rPr>
              <a:t>Correlation</a:t>
            </a:r>
            <a:r>
              <a:rPr sz="1600" spc="-19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ED7D31"/>
                </a:solidFill>
                <a:latin typeface="Verdana"/>
                <a:cs typeface="Verdana"/>
              </a:rPr>
              <a:t>Coefficient</a:t>
            </a:r>
            <a:r>
              <a:rPr sz="1600" spc="-180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latin typeface="Verdana"/>
                <a:cs typeface="Verdana"/>
              </a:rPr>
              <a:t>-</a:t>
            </a:r>
            <a:r>
              <a:rPr sz="1600" spc="-190" dirty="0"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It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takes into</a:t>
            </a:r>
            <a:r>
              <a:rPr sz="1600" spc="1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account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20" dirty="0">
                <a:latin typeface="Carlito"/>
                <a:cs typeface="Carlito"/>
              </a:rPr>
              <a:t>true </a:t>
            </a:r>
            <a:r>
              <a:rPr sz="1600" dirty="0">
                <a:latin typeface="Carlito"/>
                <a:cs typeface="Carlito"/>
              </a:rPr>
              <a:t>and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false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positives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and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negatives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and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generally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regarded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as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spc="-50" dirty="0">
                <a:latin typeface="Carlito"/>
                <a:cs typeface="Carlito"/>
              </a:rPr>
              <a:t>a </a:t>
            </a:r>
            <a:r>
              <a:rPr sz="1600" dirty="0">
                <a:latin typeface="Carlito"/>
                <a:cs typeface="Carlito"/>
              </a:rPr>
              <a:t>balanced</a:t>
            </a:r>
            <a:r>
              <a:rPr sz="1600" spc="-3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measure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which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can</a:t>
            </a:r>
            <a:r>
              <a:rPr sz="1600" spc="-3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be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used</a:t>
            </a:r>
            <a:r>
              <a:rPr sz="1600" spc="-3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even</a:t>
            </a:r>
            <a:r>
              <a:rPr sz="1600" spc="-3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if</a:t>
            </a:r>
            <a:r>
              <a:rPr sz="1600" spc="-3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classes</a:t>
            </a:r>
            <a:r>
              <a:rPr sz="1600" spc="-3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are</a:t>
            </a:r>
            <a:r>
              <a:rPr sz="1600" spc="-25" dirty="0">
                <a:latin typeface="Carlito"/>
                <a:cs typeface="Carlito"/>
              </a:rPr>
              <a:t> of </a:t>
            </a:r>
            <a:r>
              <a:rPr sz="1600" dirty="0">
                <a:latin typeface="Carlito"/>
                <a:cs typeface="Carlito"/>
              </a:rPr>
              <a:t>very</a:t>
            </a:r>
            <a:r>
              <a:rPr sz="1600" spc="-4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different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sizes.</a:t>
            </a:r>
            <a:endParaRPr sz="1600">
              <a:latin typeface="Carlito"/>
              <a:cs typeface="Carlito"/>
            </a:endParaRPr>
          </a:p>
          <a:p>
            <a:pPr marL="240665" marR="666750" indent="-228600">
              <a:lnSpc>
                <a:spcPts val="16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70" dirty="0">
                <a:solidFill>
                  <a:srgbClr val="ED7D31"/>
                </a:solidFill>
                <a:latin typeface="Verdana"/>
                <a:cs typeface="Verdana"/>
              </a:rPr>
              <a:t>Label</a:t>
            </a:r>
            <a:r>
              <a:rPr sz="1600" spc="-185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ED7D31"/>
                </a:solidFill>
                <a:latin typeface="Verdana"/>
                <a:cs typeface="Verdana"/>
              </a:rPr>
              <a:t>Skew</a:t>
            </a:r>
            <a:r>
              <a:rPr sz="1600" spc="-190" dirty="0">
                <a:solidFill>
                  <a:srgbClr val="ED7D31"/>
                </a:solidFill>
                <a:latin typeface="Verdana"/>
                <a:cs typeface="Verdana"/>
              </a:rPr>
              <a:t> </a:t>
            </a:r>
            <a:r>
              <a:rPr sz="1600" dirty="0">
                <a:latin typeface="Carlito"/>
                <a:cs typeface="Carlito"/>
              </a:rPr>
              <a:t>-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Measures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34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asymmetry</a:t>
            </a:r>
            <a:r>
              <a:rPr sz="1600" spc="-1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label distribution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2815" y="642196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rlito"/>
                <a:cs typeface="Carlito"/>
              </a:rPr>
              <a:t>43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Summarization:</a:t>
            </a:r>
            <a:r>
              <a:rPr sz="4400" spc="-140" dirty="0"/>
              <a:t> </a:t>
            </a:r>
            <a:r>
              <a:rPr sz="4400" dirty="0"/>
              <a:t>ROUGE</a:t>
            </a:r>
            <a:r>
              <a:rPr sz="4400" spc="-145" dirty="0"/>
              <a:t> </a:t>
            </a:r>
            <a:r>
              <a:rPr sz="1800" spc="-30" dirty="0"/>
              <a:t>(Recall-</a:t>
            </a:r>
            <a:r>
              <a:rPr sz="1800" spc="-20" dirty="0"/>
              <a:t>Oriented</a:t>
            </a:r>
            <a:r>
              <a:rPr sz="1800" spc="-50" dirty="0"/>
              <a:t> </a:t>
            </a:r>
            <a:r>
              <a:rPr sz="1800" spc="-20" dirty="0"/>
              <a:t>Understudy</a:t>
            </a:r>
            <a:r>
              <a:rPr sz="1800" spc="-60" dirty="0"/>
              <a:t> </a:t>
            </a:r>
            <a:r>
              <a:rPr sz="1800" dirty="0"/>
              <a:t>for</a:t>
            </a:r>
            <a:r>
              <a:rPr sz="1800" spc="-50" dirty="0"/>
              <a:t> </a:t>
            </a:r>
            <a:r>
              <a:rPr sz="1800" spc="-10" dirty="0"/>
              <a:t>Gisting</a:t>
            </a:r>
            <a:r>
              <a:rPr sz="1800" spc="-50" dirty="0"/>
              <a:t> </a:t>
            </a:r>
            <a:r>
              <a:rPr sz="1800" spc="-10" dirty="0"/>
              <a:t>Evaluation)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916939" y="1734828"/>
            <a:ext cx="5812155" cy="191388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800" b="1" dirty="0">
                <a:latin typeface="Lato"/>
                <a:cs typeface="Lato"/>
              </a:rPr>
              <a:t>System</a:t>
            </a:r>
            <a:r>
              <a:rPr sz="1800" b="1" spc="-3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Summary</a:t>
            </a:r>
            <a:r>
              <a:rPr sz="1800" b="1" spc="-40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(what</a:t>
            </a:r>
            <a:r>
              <a:rPr sz="1800" b="1" spc="-30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the</a:t>
            </a:r>
            <a:r>
              <a:rPr sz="1800" b="1" spc="-40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machine</a:t>
            </a:r>
            <a:r>
              <a:rPr sz="1800" b="1" spc="-35" dirty="0">
                <a:latin typeface="Lato"/>
                <a:cs typeface="Lato"/>
              </a:rPr>
              <a:t> </a:t>
            </a:r>
            <a:r>
              <a:rPr sz="1800" b="1" spc="-10" dirty="0">
                <a:latin typeface="Lato"/>
                <a:cs typeface="Lato"/>
              </a:rPr>
              <a:t>produced)</a:t>
            </a:r>
            <a:endParaRPr sz="180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cat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was</a:t>
            </a:r>
            <a:r>
              <a:rPr sz="1800" spc="5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C00000"/>
                </a:solidFill>
                <a:latin typeface="Courier New"/>
                <a:cs typeface="Courier New"/>
              </a:rPr>
              <a:t>found</a:t>
            </a:r>
            <a:r>
              <a:rPr sz="18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under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70AD47"/>
                </a:solidFill>
                <a:latin typeface="Courier New"/>
                <a:cs typeface="Courier New"/>
              </a:rPr>
              <a:t>bed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Lato"/>
                <a:cs typeface="Lato"/>
              </a:rPr>
              <a:t>Reference</a:t>
            </a:r>
            <a:r>
              <a:rPr sz="1800" b="1" spc="-4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Summary</a:t>
            </a:r>
            <a:r>
              <a:rPr sz="1800" b="1" spc="-4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(gold</a:t>
            </a:r>
            <a:r>
              <a:rPr sz="1800" b="1" spc="-4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standard</a:t>
            </a:r>
            <a:r>
              <a:rPr sz="1800" b="1" spc="-3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—</a:t>
            </a:r>
            <a:r>
              <a:rPr sz="1800" b="1" spc="-4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usually</a:t>
            </a:r>
            <a:r>
              <a:rPr sz="1800" b="1" spc="-4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by</a:t>
            </a:r>
            <a:r>
              <a:rPr sz="1800" b="1" spc="-45" dirty="0">
                <a:latin typeface="Lato"/>
                <a:cs typeface="Lato"/>
              </a:rPr>
              <a:t> </a:t>
            </a:r>
            <a:r>
              <a:rPr sz="1800" b="1" spc="-10" dirty="0">
                <a:latin typeface="Lato"/>
                <a:cs typeface="Lato"/>
              </a:rPr>
              <a:t>humans)</a:t>
            </a:r>
            <a:endParaRPr sz="180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cat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was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under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70AD47"/>
                </a:solidFill>
                <a:latin typeface="Courier New"/>
                <a:cs typeface="Courier New"/>
              </a:rPr>
              <a:t>bed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10829" y="4250105"/>
            <a:ext cx="2489200" cy="12700"/>
          </a:xfrm>
          <a:custGeom>
            <a:avLst/>
            <a:gdLst/>
            <a:ahLst/>
            <a:cxnLst/>
            <a:rect l="l" t="t" r="r" b="b"/>
            <a:pathLst>
              <a:path w="2489200" h="12700">
                <a:moveTo>
                  <a:pt x="2489200" y="0"/>
                </a:moveTo>
                <a:lnTo>
                  <a:pt x="0" y="0"/>
                </a:lnTo>
                <a:lnTo>
                  <a:pt x="0" y="12700"/>
                </a:lnTo>
                <a:lnTo>
                  <a:pt x="2489200" y="12700"/>
                </a:lnTo>
                <a:lnTo>
                  <a:pt x="2489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10180" y="3915825"/>
            <a:ext cx="189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60" dirty="0">
                <a:latin typeface="DejaVu Serif Condensed"/>
                <a:cs typeface="DejaVu Serif Condensed"/>
              </a:rPr>
              <a:t>#</a:t>
            </a:r>
            <a:r>
              <a:rPr sz="1800" spc="-114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𝑚𝑎𝑡𝑐ℎ𝑖𝑛𝑔</a:t>
            </a:r>
            <a:r>
              <a:rPr sz="1800" spc="-70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𝑤𝑜𝑟𝑑𝑠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80909" y="4238193"/>
            <a:ext cx="2870200" cy="12700"/>
          </a:xfrm>
          <a:custGeom>
            <a:avLst/>
            <a:gdLst/>
            <a:ahLst/>
            <a:cxnLst/>
            <a:rect l="l" t="t" r="r" b="b"/>
            <a:pathLst>
              <a:path w="2870200" h="12700">
                <a:moveTo>
                  <a:pt x="2870200" y="0"/>
                </a:moveTo>
                <a:lnTo>
                  <a:pt x="0" y="0"/>
                </a:lnTo>
                <a:lnTo>
                  <a:pt x="0" y="12700"/>
                </a:lnTo>
                <a:lnTo>
                  <a:pt x="2870200" y="12700"/>
                </a:lnTo>
                <a:lnTo>
                  <a:pt x="2870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12906" y="4237405"/>
            <a:ext cx="127000" cy="12700"/>
          </a:xfrm>
          <a:custGeom>
            <a:avLst/>
            <a:gdLst/>
            <a:ahLst/>
            <a:cxnLst/>
            <a:rect l="l" t="t" r="r" b="b"/>
            <a:pathLst>
              <a:path w="127000" h="12700">
                <a:moveTo>
                  <a:pt x="127000" y="0"/>
                </a:moveTo>
                <a:lnTo>
                  <a:pt x="0" y="0"/>
                </a:lnTo>
                <a:lnTo>
                  <a:pt x="0" y="1270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7952" y="4237567"/>
            <a:ext cx="4363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37037" dirty="0">
                <a:latin typeface="DejaVu Serif Condensed"/>
                <a:cs typeface="DejaVu Serif Condensed"/>
              </a:rPr>
              <a:t>𝑅𝑒𝑐𝑎𝑙𝑙</a:t>
            </a:r>
            <a:r>
              <a:rPr sz="2700" spc="52" baseline="37037" dirty="0">
                <a:latin typeface="DejaVu Serif Condensed"/>
                <a:cs typeface="DejaVu Serif Condensed"/>
              </a:rPr>
              <a:t> </a:t>
            </a:r>
            <a:r>
              <a:rPr sz="2700" baseline="37037" dirty="0">
                <a:latin typeface="DejaVu Serif Condensed"/>
                <a:cs typeface="DejaVu Serif Condensed"/>
              </a:rPr>
              <a:t>=</a:t>
            </a:r>
            <a:r>
              <a:rPr sz="2700" spc="-15" baseline="37037" dirty="0">
                <a:latin typeface="DejaVu Serif Condensed"/>
                <a:cs typeface="DejaVu Serif Condensed"/>
              </a:rPr>
              <a:t> </a:t>
            </a:r>
            <a:r>
              <a:rPr sz="1800" spc="-60" dirty="0">
                <a:latin typeface="DejaVu Serif Condensed"/>
                <a:cs typeface="DejaVu Serif Condensed"/>
              </a:rPr>
              <a:t>#𝑤𝑜𝑟𝑑𝑠</a:t>
            </a:r>
            <a:r>
              <a:rPr sz="1800" spc="-75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𝑖𝑛</a:t>
            </a:r>
            <a:r>
              <a:rPr sz="1800" spc="-80" dirty="0">
                <a:latin typeface="DejaVu Serif Condensed"/>
                <a:cs typeface="DejaVu Serif Condensed"/>
              </a:rPr>
              <a:t> </a:t>
            </a:r>
            <a:r>
              <a:rPr sz="1800" spc="120" dirty="0">
                <a:latin typeface="DejaVu Serif Condensed"/>
                <a:cs typeface="DejaVu Serif Condensed"/>
              </a:rPr>
              <a:t>𝑟𝑒𝑓</a:t>
            </a:r>
            <a:r>
              <a:rPr sz="1800" spc="-60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𝑠𝑢𝑚𝑚𝑎𝑟𝑦</a:t>
            </a:r>
            <a:r>
              <a:rPr sz="1800" spc="100" dirty="0">
                <a:latin typeface="DejaVu Serif Condensed"/>
                <a:cs typeface="DejaVu Serif Condensed"/>
              </a:rPr>
              <a:t> </a:t>
            </a:r>
            <a:r>
              <a:rPr sz="2700" baseline="41666" dirty="0">
                <a:latin typeface="DejaVu Serif Condensed"/>
                <a:cs typeface="DejaVu Serif Condensed"/>
              </a:rPr>
              <a:t>=</a:t>
            </a:r>
            <a:r>
              <a:rPr sz="2700" spc="-15" baseline="41666" dirty="0">
                <a:latin typeface="DejaVu Serif Condensed"/>
                <a:cs typeface="DejaVu Serif Condensed"/>
              </a:rPr>
              <a:t> </a:t>
            </a:r>
            <a:r>
              <a:rPr sz="2700" baseline="1543" dirty="0">
                <a:latin typeface="DejaVu Serif Condensed"/>
                <a:cs typeface="DejaVu Serif Condensed"/>
              </a:rPr>
              <a:t>6</a:t>
            </a:r>
            <a:r>
              <a:rPr sz="2700" spc="-22" baseline="1543" dirty="0">
                <a:latin typeface="DejaVu Serif Condensed"/>
                <a:cs typeface="DejaVu Serif Condensed"/>
              </a:rPr>
              <a:t> </a:t>
            </a:r>
            <a:r>
              <a:rPr sz="2700" baseline="41666" dirty="0">
                <a:latin typeface="DejaVu Serif Condensed"/>
                <a:cs typeface="DejaVu Serif Condensed"/>
              </a:rPr>
              <a:t>=</a:t>
            </a:r>
            <a:r>
              <a:rPr sz="2700" spc="-15" baseline="41666" dirty="0">
                <a:latin typeface="DejaVu Serif Condensed"/>
                <a:cs typeface="DejaVu Serif Condensed"/>
              </a:rPr>
              <a:t> </a:t>
            </a:r>
            <a:r>
              <a:rPr sz="2700" spc="-75" baseline="41666" dirty="0">
                <a:latin typeface="DejaVu Serif Condensed"/>
                <a:cs typeface="DejaVu Serif Condensed"/>
              </a:rPr>
              <a:t>1</a:t>
            </a:r>
            <a:endParaRPr sz="2700" baseline="41666">
              <a:latin typeface="DejaVu Serif Condensed"/>
              <a:cs typeface="DejaVu Serif Condense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8619" y="3898896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DejaVu Serif Condensed"/>
                <a:cs typeface="DejaVu Serif Condensed"/>
              </a:rPr>
              <a:t>6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71378" y="4237405"/>
            <a:ext cx="127000" cy="12700"/>
          </a:xfrm>
          <a:custGeom>
            <a:avLst/>
            <a:gdLst/>
            <a:ahLst/>
            <a:cxnLst/>
            <a:rect l="l" t="t" r="r" b="b"/>
            <a:pathLst>
              <a:path w="127000" h="12700">
                <a:moveTo>
                  <a:pt x="127000" y="0"/>
                </a:moveTo>
                <a:lnTo>
                  <a:pt x="0" y="0"/>
                </a:lnTo>
                <a:lnTo>
                  <a:pt x="0" y="1270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55410" y="3843016"/>
            <a:ext cx="4689475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785" marR="43180" indent="-1277620">
              <a:lnSpc>
                <a:spcPct val="120400"/>
              </a:lnSpc>
              <a:spcBef>
                <a:spcPts val="100"/>
              </a:spcBef>
              <a:tabLst>
                <a:tab pos="1827530" algn="l"/>
                <a:tab pos="4276725" algn="l"/>
                <a:tab pos="4511675" algn="l"/>
              </a:tabLst>
            </a:pPr>
            <a:r>
              <a:rPr sz="2700" baseline="-43209" dirty="0">
                <a:latin typeface="DejaVu Serif Condensed"/>
                <a:cs typeface="DejaVu Serif Condensed"/>
              </a:rPr>
              <a:t>𝑃𝑟𝑒𝑐𝑖𝑠𝑖𝑜𝑛</a:t>
            </a:r>
            <a:r>
              <a:rPr sz="2700" spc="30" baseline="-43209" dirty="0">
                <a:latin typeface="DejaVu Serif Condensed"/>
                <a:cs typeface="DejaVu Serif Condensed"/>
              </a:rPr>
              <a:t> </a:t>
            </a:r>
            <a:r>
              <a:rPr sz="2700" spc="-75" baseline="-43209" dirty="0">
                <a:latin typeface="DejaVu Serif Condensed"/>
                <a:cs typeface="DejaVu Serif Condensed"/>
              </a:rPr>
              <a:t>=</a:t>
            </a:r>
            <a:r>
              <a:rPr sz="2700" baseline="-43209" dirty="0">
                <a:latin typeface="DejaVu Serif Condensed"/>
                <a:cs typeface="DejaVu Serif Condensed"/>
              </a:rPr>
              <a:t>		</a:t>
            </a:r>
            <a:r>
              <a:rPr sz="1800" spc="-260" dirty="0">
                <a:latin typeface="DejaVu Serif Condensed"/>
                <a:cs typeface="DejaVu Serif Condensed"/>
              </a:rPr>
              <a:t>#</a:t>
            </a:r>
            <a:r>
              <a:rPr sz="1800" spc="-114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𝑚𝑎𝑡𝑐ℎ𝑖𝑛𝑔</a:t>
            </a:r>
            <a:r>
              <a:rPr sz="1800" spc="-70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𝑤𝑜𝑟𝑑𝑠</a:t>
            </a:r>
            <a:r>
              <a:rPr sz="1800" dirty="0">
                <a:latin typeface="DejaVu Serif Condensed"/>
                <a:cs typeface="DejaVu Serif Condensed"/>
              </a:rPr>
              <a:t>	</a:t>
            </a:r>
            <a:r>
              <a:rPr sz="2700" baseline="-41666" dirty="0">
                <a:latin typeface="DejaVu Serif Condensed"/>
                <a:cs typeface="DejaVu Serif Condensed"/>
              </a:rPr>
              <a:t>=</a:t>
            </a:r>
            <a:r>
              <a:rPr sz="2700" spc="-60" baseline="-41666" dirty="0">
                <a:latin typeface="DejaVu Serif Condensed"/>
                <a:cs typeface="DejaVu Serif Condensed"/>
              </a:rPr>
              <a:t> </a:t>
            </a:r>
            <a:r>
              <a:rPr sz="1800" spc="-60" dirty="0">
                <a:latin typeface="DejaVu Serif Condensed"/>
                <a:cs typeface="DejaVu Serif Condensed"/>
              </a:rPr>
              <a:t>6 #𝑤𝑜𝑟𝑑𝑠</a:t>
            </a:r>
            <a:r>
              <a:rPr sz="1800" spc="-30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𝑖𝑛</a:t>
            </a:r>
            <a:r>
              <a:rPr sz="1800" spc="-30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𝑠𝑦𝑠𝑡𝑒𝑚</a:t>
            </a:r>
            <a:r>
              <a:rPr sz="1800" spc="-40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𝑠𝑢𝑚𝑚𝑎𝑟𝑦</a:t>
            </a:r>
            <a:r>
              <a:rPr sz="1800" dirty="0">
                <a:latin typeface="DejaVu Serif Condensed"/>
                <a:cs typeface="DejaVu Serif Condensed"/>
              </a:rPr>
              <a:t>		</a:t>
            </a:r>
            <a:r>
              <a:rPr sz="1800" spc="-65" dirty="0">
                <a:latin typeface="DejaVu Serif Condensed"/>
                <a:cs typeface="DejaVu Serif Condensed"/>
              </a:rPr>
              <a:t>7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75370" y="5332526"/>
            <a:ext cx="1841500" cy="12700"/>
          </a:xfrm>
          <a:custGeom>
            <a:avLst/>
            <a:gdLst/>
            <a:ahLst/>
            <a:cxnLst/>
            <a:rect l="l" t="t" r="r" b="b"/>
            <a:pathLst>
              <a:path w="1841500" h="12700">
                <a:moveTo>
                  <a:pt x="1841500" y="0"/>
                </a:moveTo>
                <a:lnTo>
                  <a:pt x="0" y="0"/>
                </a:lnTo>
                <a:lnTo>
                  <a:pt x="0" y="12699"/>
                </a:lnTo>
                <a:lnTo>
                  <a:pt x="1841500" y="12699"/>
                </a:lnTo>
                <a:lnTo>
                  <a:pt x="184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4389" y="4935216"/>
            <a:ext cx="10173970" cy="16002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40"/>
              </a:spcBef>
            </a:pPr>
            <a:r>
              <a:rPr sz="2700" baseline="-43209" dirty="0">
                <a:latin typeface="DejaVu Serif Condensed"/>
                <a:cs typeface="DejaVu Serif Condensed"/>
              </a:rPr>
              <a:t>𝐹1</a:t>
            </a:r>
            <a:r>
              <a:rPr sz="2700" spc="-112" baseline="-43209" dirty="0">
                <a:latin typeface="DejaVu Serif Condensed"/>
                <a:cs typeface="DejaVu Serif Condensed"/>
              </a:rPr>
              <a:t> </a:t>
            </a:r>
            <a:r>
              <a:rPr sz="2700" baseline="-43209" dirty="0">
                <a:latin typeface="DejaVu Serif Condensed"/>
                <a:cs typeface="DejaVu Serif Condensed"/>
              </a:rPr>
              <a:t>=</a:t>
            </a:r>
            <a:r>
              <a:rPr sz="2700" spc="-104" baseline="-43209" dirty="0">
                <a:latin typeface="DejaVu Serif Condensed"/>
                <a:cs typeface="DejaVu Serif Condensed"/>
              </a:rPr>
              <a:t> </a:t>
            </a:r>
            <a:r>
              <a:rPr sz="2700" baseline="-43209" dirty="0">
                <a:latin typeface="DejaVu Serif Condensed"/>
                <a:cs typeface="DejaVu Serif Condensed"/>
              </a:rPr>
              <a:t>2×</a:t>
            </a:r>
            <a:r>
              <a:rPr sz="2700" spc="195" baseline="-43209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𝑝𝑟𝑒𝑐𝑖𝑠𝑖𝑜𝑛×𝑟𝑒𝑐𝑎𝑙𝑙</a:t>
            </a:r>
            <a:endParaRPr sz="1800">
              <a:latin typeface="DejaVu Serif Condensed"/>
              <a:cs typeface="DejaVu Serif Condensed"/>
            </a:endParaRPr>
          </a:p>
          <a:p>
            <a:pPr marL="956944">
              <a:lnSpc>
                <a:spcPct val="100000"/>
              </a:lnSpc>
              <a:spcBef>
                <a:spcPts val="440"/>
              </a:spcBef>
            </a:pPr>
            <a:r>
              <a:rPr sz="1800" spc="-10" dirty="0">
                <a:latin typeface="DejaVu Serif Condensed"/>
                <a:cs typeface="DejaVu Serif Condensed"/>
              </a:rPr>
              <a:t>𝑝𝑟𝑒𝑐𝑖𝑠𝑖𝑜𝑛</a:t>
            </a:r>
            <a:r>
              <a:rPr sz="1800" spc="-65" dirty="0">
                <a:latin typeface="DejaVu Serif Condensed"/>
                <a:cs typeface="DejaVu Serif Condensed"/>
              </a:rPr>
              <a:t> </a:t>
            </a:r>
            <a:r>
              <a:rPr sz="1800" spc="-30" dirty="0">
                <a:latin typeface="DejaVu Serif Condensed"/>
                <a:cs typeface="DejaVu Serif Condensed"/>
              </a:rPr>
              <a:t>+</a:t>
            </a:r>
            <a:r>
              <a:rPr sz="1800" spc="-95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𝑟𝑒𝑐𝑎𝑙𝑙</a:t>
            </a:r>
            <a:endParaRPr sz="1800">
              <a:latin typeface="DejaVu Serif Condensed"/>
              <a:cs typeface="DejaVu Serif Condensed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800">
              <a:latin typeface="DejaVu Serif Condensed"/>
              <a:cs typeface="DejaVu Serif Condensed"/>
            </a:endParaRPr>
          </a:p>
          <a:p>
            <a:pPr marL="3512820" marR="17780">
              <a:lnSpc>
                <a:spcPts val="2070"/>
              </a:lnSpc>
            </a:pPr>
            <a:r>
              <a:rPr sz="1800" dirty="0">
                <a:latin typeface="Lato"/>
                <a:cs typeface="Lato"/>
              </a:rPr>
              <a:t>These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metrics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are</a:t>
            </a:r>
            <a:r>
              <a:rPr sz="1800" spc="-15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called</a:t>
            </a:r>
            <a:r>
              <a:rPr sz="1800" spc="-35" dirty="0">
                <a:latin typeface="Lato"/>
                <a:cs typeface="Lato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Lato"/>
                <a:cs typeface="Lato"/>
              </a:rPr>
              <a:t>ROUGE-</a:t>
            </a:r>
            <a:r>
              <a:rPr sz="1800" b="1" dirty="0">
                <a:solidFill>
                  <a:srgbClr val="FF0000"/>
                </a:solidFill>
                <a:latin typeface="Lato"/>
                <a:cs typeface="Lato"/>
              </a:rPr>
              <a:t>1</a:t>
            </a:r>
            <a:r>
              <a:rPr sz="1800" b="1" spc="-10" dirty="0">
                <a:solidFill>
                  <a:srgbClr val="FF0000"/>
                </a:solidFill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since</a:t>
            </a:r>
            <a:r>
              <a:rPr sz="1800" spc="-15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they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rely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on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spc="-10" dirty="0">
                <a:latin typeface="Lato"/>
                <a:cs typeface="Lato"/>
              </a:rPr>
              <a:t>1-</a:t>
            </a:r>
            <a:r>
              <a:rPr sz="1800" dirty="0">
                <a:latin typeface="Lato"/>
                <a:cs typeface="Lato"/>
              </a:rPr>
              <a:t>grams,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spc="-10" dirty="0">
                <a:latin typeface="Lato"/>
                <a:cs typeface="Lato"/>
              </a:rPr>
              <a:t>i.e., </a:t>
            </a:r>
            <a:r>
              <a:rPr sz="1800" dirty="0">
                <a:latin typeface="Lato"/>
                <a:cs typeface="Lato"/>
              </a:rPr>
              <a:t>single</a:t>
            </a:r>
            <a:r>
              <a:rPr sz="1800" spc="-30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word</a:t>
            </a:r>
            <a:r>
              <a:rPr sz="1800" spc="-25" dirty="0">
                <a:latin typeface="Lato"/>
                <a:cs typeface="Lato"/>
              </a:rPr>
              <a:t> </a:t>
            </a:r>
            <a:r>
              <a:rPr sz="1800" spc="-10" dirty="0">
                <a:latin typeface="Lato"/>
                <a:cs typeface="Lato"/>
              </a:rPr>
              <a:t>matching</a:t>
            </a:r>
            <a:endParaRPr sz="1800"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3829"/>
            <a:ext cx="87922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Trebuchet MS"/>
                <a:cs typeface="Trebuchet MS"/>
              </a:rPr>
              <a:t>ROUGE-</a:t>
            </a:r>
            <a:r>
              <a:rPr sz="4400" spc="-275" dirty="0">
                <a:latin typeface="Trebuchet MS"/>
                <a:cs typeface="Trebuchet MS"/>
              </a:rPr>
              <a:t>2,</a:t>
            </a:r>
            <a:r>
              <a:rPr sz="4400" spc="-280" dirty="0">
                <a:latin typeface="Trebuchet MS"/>
                <a:cs typeface="Trebuchet MS"/>
              </a:rPr>
              <a:t> </a:t>
            </a:r>
            <a:r>
              <a:rPr sz="4400" dirty="0">
                <a:latin typeface="Trebuchet MS"/>
                <a:cs typeface="Trebuchet MS"/>
              </a:rPr>
              <a:t>ROUGE-</a:t>
            </a:r>
            <a:r>
              <a:rPr sz="4400" spc="-220" dirty="0">
                <a:latin typeface="Trebuchet MS"/>
                <a:cs typeface="Trebuchet MS"/>
              </a:rPr>
              <a:t>L,</a:t>
            </a:r>
            <a:r>
              <a:rPr sz="4400" spc="-280" dirty="0">
                <a:latin typeface="Trebuchet MS"/>
                <a:cs typeface="Trebuchet MS"/>
              </a:rPr>
              <a:t> </a:t>
            </a:r>
            <a:r>
              <a:rPr sz="4400" dirty="0">
                <a:latin typeface="Trebuchet MS"/>
                <a:cs typeface="Trebuchet MS"/>
              </a:rPr>
              <a:t>ROUGE-</a:t>
            </a:r>
            <a:r>
              <a:rPr sz="4400" spc="225" dirty="0">
                <a:latin typeface="Trebuchet MS"/>
                <a:cs typeface="Trebuchet MS"/>
              </a:rPr>
              <a:t>N</a:t>
            </a:r>
            <a:r>
              <a:rPr sz="4400" spc="-285" dirty="0">
                <a:latin typeface="Trebuchet MS"/>
                <a:cs typeface="Trebuchet MS"/>
              </a:rPr>
              <a:t> </a:t>
            </a:r>
            <a:r>
              <a:rPr sz="4400" spc="-60" dirty="0">
                <a:latin typeface="Trebuchet MS"/>
                <a:cs typeface="Trebuchet MS"/>
              </a:rPr>
              <a:t>score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34828"/>
            <a:ext cx="8312784" cy="191388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800" b="1" spc="-30" dirty="0">
                <a:latin typeface="Trebuchet MS"/>
                <a:cs typeface="Trebuchet MS"/>
              </a:rPr>
              <a:t>System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Summary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80" dirty="0">
                <a:latin typeface="Trebuchet MS"/>
                <a:cs typeface="Trebuchet MS"/>
              </a:rPr>
              <a:t>bi-</a:t>
            </a:r>
            <a:r>
              <a:rPr sz="1800" b="1" spc="-40" dirty="0">
                <a:latin typeface="Trebuchet MS"/>
                <a:cs typeface="Trebuchet MS"/>
              </a:rPr>
              <a:t>grams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75" dirty="0">
                <a:latin typeface="Trebuchet MS"/>
                <a:cs typeface="Trebuchet MS"/>
              </a:rPr>
              <a:t>(what</a:t>
            </a:r>
            <a:r>
              <a:rPr sz="1800" b="1" spc="-114" dirty="0">
                <a:latin typeface="Trebuchet MS"/>
                <a:cs typeface="Trebuchet MS"/>
              </a:rPr>
              <a:t> </a:t>
            </a:r>
            <a:r>
              <a:rPr sz="1800" b="1" spc="-80" dirty="0">
                <a:latin typeface="Trebuchet MS"/>
                <a:cs typeface="Trebuchet MS"/>
              </a:rPr>
              <a:t>the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machine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produced)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cat,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cat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was,</a:t>
            </a:r>
            <a:r>
              <a:rPr sz="1800" spc="5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was</a:t>
            </a:r>
            <a:r>
              <a:rPr sz="1800" spc="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found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,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found</a:t>
            </a:r>
            <a:r>
              <a:rPr sz="1800" spc="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under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,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under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the,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70AD47"/>
                </a:solidFill>
                <a:latin typeface="Courier New"/>
                <a:cs typeface="Courier New"/>
              </a:rPr>
              <a:t>bed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Lato"/>
                <a:cs typeface="Lato"/>
              </a:rPr>
              <a:t>Reference</a:t>
            </a:r>
            <a:r>
              <a:rPr sz="1800" b="1" spc="-4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Summary</a:t>
            </a:r>
            <a:r>
              <a:rPr sz="1800" b="1" spc="-40" dirty="0">
                <a:latin typeface="Lato"/>
                <a:cs typeface="Lato"/>
              </a:rPr>
              <a:t> </a:t>
            </a:r>
            <a:r>
              <a:rPr sz="1800" b="1" spc="-10" dirty="0">
                <a:latin typeface="Lato"/>
                <a:cs typeface="Lato"/>
              </a:rPr>
              <a:t>bi-</a:t>
            </a:r>
            <a:r>
              <a:rPr sz="1800" b="1" dirty="0">
                <a:latin typeface="Lato"/>
                <a:cs typeface="Lato"/>
              </a:rPr>
              <a:t>grams</a:t>
            </a:r>
            <a:r>
              <a:rPr sz="1800" b="1" spc="-45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(gold</a:t>
            </a:r>
            <a:r>
              <a:rPr sz="1800" b="1" spc="-40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standard</a:t>
            </a:r>
            <a:r>
              <a:rPr sz="1800" b="1" spc="-40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—</a:t>
            </a:r>
            <a:r>
              <a:rPr sz="1800" b="1" spc="-40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usually</a:t>
            </a:r>
            <a:r>
              <a:rPr sz="1800" b="1" spc="-40" dirty="0">
                <a:latin typeface="Lato"/>
                <a:cs typeface="Lato"/>
              </a:rPr>
              <a:t> </a:t>
            </a:r>
            <a:r>
              <a:rPr sz="1800" b="1" dirty="0">
                <a:latin typeface="Lato"/>
                <a:cs typeface="Lato"/>
              </a:rPr>
              <a:t>by</a:t>
            </a:r>
            <a:r>
              <a:rPr sz="1800" b="1" spc="-40" dirty="0">
                <a:latin typeface="Lato"/>
                <a:cs typeface="Lato"/>
              </a:rPr>
              <a:t> </a:t>
            </a:r>
            <a:r>
              <a:rPr sz="1800" b="1" spc="-10" dirty="0">
                <a:latin typeface="Lato"/>
                <a:cs typeface="Lato"/>
              </a:rPr>
              <a:t>humans)</a:t>
            </a:r>
            <a:endParaRPr sz="180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cat,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cat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was,</a:t>
            </a:r>
            <a:r>
              <a:rPr sz="1800" spc="5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was</a:t>
            </a:r>
            <a:r>
              <a:rPr sz="1800" spc="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under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,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under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the,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70AD47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70AD4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70AD47"/>
                </a:solidFill>
                <a:latin typeface="Courier New"/>
                <a:cs typeface="Courier New"/>
              </a:rPr>
              <a:t>bed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080" y="4237567"/>
            <a:ext cx="1030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latin typeface="DejaVu Serif Condensed"/>
                <a:cs typeface="DejaVu Serif Condensed"/>
              </a:rPr>
              <a:t>ROUGE−2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6968" y="4351867"/>
            <a:ext cx="5314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05" dirty="0">
                <a:latin typeface="Noto Sans Math"/>
                <a:cs typeface="Noto Sans Math"/>
              </a:rPr>
              <a:t>𝑅𝑒𝑐𝑎𝑙𝑙</a:t>
            </a:r>
            <a:endParaRPr sz="1300">
              <a:latin typeface="Noto Sans Math"/>
              <a:cs typeface="Noto Sans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2057" y="4237567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DejaVu Serif Condensed"/>
                <a:cs typeface="DejaVu Serif Condensed"/>
              </a:rPr>
              <a:t>=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43327" y="4406531"/>
            <a:ext cx="2717800" cy="12700"/>
          </a:xfrm>
          <a:custGeom>
            <a:avLst/>
            <a:gdLst/>
            <a:ahLst/>
            <a:cxnLst/>
            <a:rect l="l" t="t" r="r" b="b"/>
            <a:pathLst>
              <a:path w="2717800" h="12700">
                <a:moveTo>
                  <a:pt x="2717800" y="0"/>
                </a:moveTo>
                <a:lnTo>
                  <a:pt x="0" y="0"/>
                </a:lnTo>
                <a:lnTo>
                  <a:pt x="0" y="12700"/>
                </a:lnTo>
                <a:lnTo>
                  <a:pt x="2717800" y="12700"/>
                </a:lnTo>
                <a:lnTo>
                  <a:pt x="271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33141" y="4068225"/>
            <a:ext cx="2128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60" dirty="0">
                <a:latin typeface="DejaVu Serif Condensed"/>
                <a:cs typeface="DejaVu Serif Condensed"/>
              </a:rPr>
              <a:t>#</a:t>
            </a:r>
            <a:r>
              <a:rPr sz="1800" spc="-114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𝑚𝑎𝑡𝑐ℎ𝑖𝑛𝑔</a:t>
            </a:r>
            <a:r>
              <a:rPr sz="1800" spc="-70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𝑏𝑖𝑔𝑟𝑎𝑚𝑠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27007" y="4398425"/>
            <a:ext cx="2740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DejaVu Serif Condensed"/>
                <a:cs typeface="DejaVu Serif Condensed"/>
              </a:rPr>
              <a:t>#𝑏𝑖𝑔𝑟𝑎𝑚𝑠</a:t>
            </a:r>
            <a:r>
              <a:rPr sz="1800" spc="-50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𝑖𝑛</a:t>
            </a:r>
            <a:r>
              <a:rPr sz="1800" spc="-50" dirty="0">
                <a:latin typeface="DejaVu Serif Condensed"/>
                <a:cs typeface="DejaVu Serif Condensed"/>
              </a:rPr>
              <a:t> </a:t>
            </a:r>
            <a:r>
              <a:rPr sz="1800" spc="120" dirty="0">
                <a:latin typeface="DejaVu Serif Condensed"/>
                <a:cs typeface="DejaVu Serif Condensed"/>
              </a:rPr>
              <a:t>𝑟𝑒𝑓</a:t>
            </a:r>
            <a:r>
              <a:rPr sz="1800" spc="-35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𝑠𝑢𝑚𝑚𝑎𝑟𝑦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4526" y="4389967"/>
            <a:ext cx="2104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0802" dirty="0">
                <a:latin typeface="DejaVu Serif Condensed"/>
                <a:cs typeface="DejaVu Serif Condensed"/>
              </a:rPr>
              <a:t>ROUGE−2</a:t>
            </a:r>
            <a:r>
              <a:rPr sz="1300" dirty="0">
                <a:latin typeface="Noto Sans Math"/>
                <a:cs typeface="Noto Sans Math"/>
              </a:rPr>
              <a:t>𝑃𝑟𝑒𝑐𝑖𝑠𝑖𝑜𝑛</a:t>
            </a:r>
            <a:r>
              <a:rPr sz="1300" spc="85" dirty="0">
                <a:latin typeface="Noto Sans Math"/>
                <a:cs typeface="Noto Sans Math"/>
              </a:rPr>
              <a:t>  </a:t>
            </a:r>
            <a:r>
              <a:rPr sz="2700" spc="-75" baseline="10802" dirty="0">
                <a:latin typeface="DejaVu Serif Condensed"/>
                <a:cs typeface="DejaVu Serif Condensed"/>
              </a:rPr>
              <a:t>=</a:t>
            </a:r>
            <a:endParaRPr sz="2700" baseline="10802">
              <a:latin typeface="DejaVu Serif Condensed"/>
              <a:cs typeface="DejaVu Serif Condensed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27491" y="4510049"/>
            <a:ext cx="3111500" cy="12700"/>
          </a:xfrm>
          <a:custGeom>
            <a:avLst/>
            <a:gdLst/>
            <a:ahLst/>
            <a:cxnLst/>
            <a:rect l="l" t="t" r="r" b="b"/>
            <a:pathLst>
              <a:path w="3111500" h="12700">
                <a:moveTo>
                  <a:pt x="3111500" y="0"/>
                </a:moveTo>
                <a:lnTo>
                  <a:pt x="0" y="0"/>
                </a:lnTo>
                <a:lnTo>
                  <a:pt x="0" y="12700"/>
                </a:lnTo>
                <a:lnTo>
                  <a:pt x="3111500" y="12700"/>
                </a:lnTo>
                <a:lnTo>
                  <a:pt x="311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60822" y="4110567"/>
            <a:ext cx="438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41666" dirty="0">
                <a:latin typeface="DejaVu Serif Condensed"/>
                <a:cs typeface="DejaVu Serif Condensed"/>
              </a:rPr>
              <a:t>=</a:t>
            </a:r>
            <a:r>
              <a:rPr sz="2700" spc="-60" baseline="-41666" dirty="0">
                <a:latin typeface="DejaVu Serif Condensed"/>
                <a:cs typeface="DejaVu Serif Condensed"/>
              </a:rPr>
              <a:t> </a:t>
            </a:r>
            <a:r>
              <a:rPr sz="1800" spc="-60" dirty="0">
                <a:latin typeface="DejaVu Serif Condensed"/>
                <a:cs typeface="DejaVu Serif Condensed"/>
              </a:rPr>
              <a:t>4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7872" y="4447959"/>
            <a:ext cx="127000" cy="12700"/>
          </a:xfrm>
          <a:custGeom>
            <a:avLst/>
            <a:gdLst/>
            <a:ahLst/>
            <a:cxnLst/>
            <a:rect l="l" t="t" r="r" b="b"/>
            <a:pathLst>
              <a:path w="127000" h="12700">
                <a:moveTo>
                  <a:pt x="127000" y="0"/>
                </a:moveTo>
                <a:lnTo>
                  <a:pt x="0" y="0"/>
                </a:lnTo>
                <a:lnTo>
                  <a:pt x="0" y="1270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621172" y="4432296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DejaVu Serif Condensed"/>
                <a:cs typeface="DejaVu Serif Condensed"/>
              </a:rPr>
              <a:t>5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28170" y="4347625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DejaVu Serif Condensed"/>
                <a:cs typeface="DejaVu Serif Condensed"/>
              </a:rPr>
              <a:t>=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79821" y="4511560"/>
            <a:ext cx="127000" cy="12700"/>
          </a:xfrm>
          <a:custGeom>
            <a:avLst/>
            <a:gdLst/>
            <a:ahLst/>
            <a:cxnLst/>
            <a:rect l="l" t="t" r="r" b="b"/>
            <a:pathLst>
              <a:path w="127000" h="12700">
                <a:moveTo>
                  <a:pt x="127000" y="0"/>
                </a:moveTo>
                <a:lnTo>
                  <a:pt x="0" y="0"/>
                </a:lnTo>
                <a:lnTo>
                  <a:pt x="0" y="1270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011869" y="4169825"/>
            <a:ext cx="3003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0" algn="l"/>
              </a:tabLst>
            </a:pPr>
            <a:r>
              <a:rPr sz="1800" spc="-260" dirty="0">
                <a:latin typeface="DejaVu Serif Condensed"/>
                <a:cs typeface="DejaVu Serif Condensed"/>
              </a:rPr>
              <a:t>#</a:t>
            </a:r>
            <a:r>
              <a:rPr sz="1800" spc="-114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𝑚𝑎𝑡𝑐ℎ𝑖𝑛𝑔</a:t>
            </a:r>
            <a:r>
              <a:rPr sz="1800" spc="-70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𝑏𝑖𝑔𝑟𝑎𝑚𝑠</a:t>
            </a:r>
            <a:r>
              <a:rPr sz="1800" dirty="0">
                <a:latin typeface="DejaVu Serif Condensed"/>
                <a:cs typeface="DejaVu Serif Condensed"/>
              </a:rPr>
              <a:t>	</a:t>
            </a:r>
            <a:r>
              <a:rPr sz="1800" spc="-50" dirty="0">
                <a:latin typeface="DejaVu Serif Condensed"/>
                <a:cs typeface="DejaVu Serif Condensed"/>
              </a:rPr>
              <a:t>4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11870" y="4500025"/>
            <a:ext cx="3503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3595" algn="l"/>
              </a:tabLst>
            </a:pPr>
            <a:r>
              <a:rPr sz="1800" spc="-20" dirty="0">
                <a:latin typeface="DejaVu Serif Condensed"/>
                <a:cs typeface="DejaVu Serif Condensed"/>
              </a:rPr>
              <a:t>#𝑏𝑖𝑔𝑟𝑎𝑚𝑠</a:t>
            </a:r>
            <a:r>
              <a:rPr sz="1800" spc="-35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𝑖𝑛</a:t>
            </a:r>
            <a:r>
              <a:rPr sz="1800" spc="-40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𝑠𝑦𝑠𝑡𝑒𝑚</a:t>
            </a:r>
            <a:r>
              <a:rPr sz="1800" spc="-45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𝑠𝑢𝑚𝑚𝑎𝑟𝑦</a:t>
            </a:r>
            <a:r>
              <a:rPr sz="1800" dirty="0">
                <a:latin typeface="DejaVu Serif Condensed"/>
                <a:cs typeface="DejaVu Serif Condensed"/>
              </a:rPr>
              <a:t>	</a:t>
            </a:r>
            <a:r>
              <a:rPr sz="1800" spc="-50" dirty="0">
                <a:latin typeface="DejaVu Serif Condensed"/>
                <a:cs typeface="DejaVu Serif Condensed"/>
              </a:rPr>
              <a:t>6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3266" y="5304367"/>
            <a:ext cx="7247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Lato"/>
                <a:cs typeface="Lato"/>
              </a:rPr>
              <a:t>ROUGE-</a:t>
            </a:r>
            <a:r>
              <a:rPr sz="1800" b="1" dirty="0">
                <a:solidFill>
                  <a:srgbClr val="FF0000"/>
                </a:solidFill>
                <a:latin typeface="Lato"/>
                <a:cs typeface="Lato"/>
              </a:rPr>
              <a:t>L</a:t>
            </a:r>
            <a:r>
              <a:rPr sz="1800" b="1" spc="-15" dirty="0">
                <a:solidFill>
                  <a:srgbClr val="FF0000"/>
                </a:solidFill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uses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L</a:t>
            </a:r>
            <a:r>
              <a:rPr sz="1800" spc="-15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as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the</a:t>
            </a:r>
            <a:r>
              <a:rPr sz="1800" spc="-15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longest</a:t>
            </a:r>
            <a:r>
              <a:rPr sz="1800" spc="-5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matching</a:t>
            </a:r>
            <a:r>
              <a:rPr sz="1800" spc="-15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subsequence</a:t>
            </a:r>
            <a:r>
              <a:rPr sz="1800" spc="-15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in</a:t>
            </a:r>
            <a:r>
              <a:rPr sz="1800" spc="-20" dirty="0">
                <a:latin typeface="Lato"/>
                <a:cs typeface="Lato"/>
              </a:rPr>
              <a:t> </a:t>
            </a:r>
            <a:r>
              <a:rPr sz="1800" dirty="0">
                <a:latin typeface="Lato"/>
                <a:cs typeface="Lato"/>
              </a:rPr>
              <a:t>the</a:t>
            </a:r>
            <a:r>
              <a:rPr sz="1800" spc="-15" dirty="0">
                <a:latin typeface="Lato"/>
                <a:cs typeface="Lato"/>
              </a:rPr>
              <a:t> </a:t>
            </a:r>
            <a:r>
              <a:rPr sz="1800" spc="-10" dirty="0">
                <a:latin typeface="Lato"/>
                <a:cs typeface="Lato"/>
              </a:rPr>
              <a:t>numerator</a:t>
            </a:r>
            <a:endParaRPr sz="1800">
              <a:latin typeface="Lato"/>
              <a:cs typeface="La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5500" y="6032496"/>
            <a:ext cx="1024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latin typeface="DejaVu Serif Condensed"/>
                <a:cs typeface="DejaVu Serif Condensed"/>
              </a:rPr>
              <a:t>ROUGE−𝐿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25625" y="6146796"/>
            <a:ext cx="5314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90" dirty="0">
                <a:latin typeface="Noto Sans Math"/>
                <a:cs typeface="Noto Sans Math"/>
              </a:rPr>
              <a:t>𝑅𝑒𝑐𝑎𝑙𝑙</a:t>
            </a:r>
            <a:endParaRPr sz="1300">
              <a:latin typeface="Noto Sans Math"/>
              <a:cs typeface="Noto Sans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10714" y="6032496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DejaVu Serif Condensed"/>
                <a:cs typeface="DejaVu Serif Condensed"/>
              </a:rPr>
              <a:t>=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4300" y="6197760"/>
            <a:ext cx="2489200" cy="12700"/>
          </a:xfrm>
          <a:custGeom>
            <a:avLst/>
            <a:gdLst/>
            <a:ahLst/>
            <a:cxnLst/>
            <a:rect l="l" t="t" r="r" b="b"/>
            <a:pathLst>
              <a:path w="2489200" h="12700">
                <a:moveTo>
                  <a:pt x="2489200" y="0"/>
                </a:moveTo>
                <a:lnTo>
                  <a:pt x="0" y="0"/>
                </a:lnTo>
                <a:lnTo>
                  <a:pt x="0" y="12699"/>
                </a:lnTo>
                <a:lnTo>
                  <a:pt x="2489200" y="12699"/>
                </a:lnTo>
                <a:lnTo>
                  <a:pt x="2489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96842" y="5863167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latin typeface="DejaVu Serif Condensed"/>
                <a:cs typeface="DejaVu Serif Condensed"/>
              </a:rPr>
              <a:t>𝐿𝐶𝑆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45664" y="6184896"/>
            <a:ext cx="2507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DejaVu Serif Condensed"/>
                <a:cs typeface="DejaVu Serif Condensed"/>
              </a:rPr>
              <a:t>#𝑤𝑜𝑟𝑑𝑠</a:t>
            </a:r>
            <a:r>
              <a:rPr sz="1800" spc="-45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𝑖𝑛</a:t>
            </a:r>
            <a:r>
              <a:rPr sz="1800" spc="-45" dirty="0">
                <a:latin typeface="DejaVu Serif Condensed"/>
                <a:cs typeface="DejaVu Serif Condensed"/>
              </a:rPr>
              <a:t> </a:t>
            </a:r>
            <a:r>
              <a:rPr sz="1800" spc="120" dirty="0">
                <a:latin typeface="DejaVu Serif Condensed"/>
                <a:cs typeface="DejaVu Serif Condensed"/>
              </a:rPr>
              <a:t>𝑟𝑒𝑓</a:t>
            </a:r>
            <a:r>
              <a:rPr sz="1800" spc="-30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𝑠𝑢𝑚𝑚𝑎𝑟𝑦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85522" y="6015567"/>
            <a:ext cx="1024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latin typeface="DejaVu Serif Condensed"/>
                <a:cs typeface="DejaVu Serif Condensed"/>
              </a:rPr>
              <a:t>ROUGE−𝐿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85647" y="6129867"/>
            <a:ext cx="80137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20" dirty="0">
                <a:latin typeface="Noto Sans Math"/>
                <a:cs typeface="Noto Sans Math"/>
              </a:rPr>
              <a:t>𝑃𝑟𝑒𝑐𝑖𝑠𝑖𝑜𝑛</a:t>
            </a:r>
            <a:endParaRPr sz="1300">
              <a:latin typeface="Noto Sans Math"/>
              <a:cs typeface="Noto Sans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37754" y="6015567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DejaVu Serif Condensed"/>
                <a:cs typeface="DejaVu Serif Condensed"/>
              </a:rPr>
              <a:t>=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191500" y="6183807"/>
            <a:ext cx="2870200" cy="12700"/>
          </a:xfrm>
          <a:custGeom>
            <a:avLst/>
            <a:gdLst/>
            <a:ahLst/>
            <a:cxnLst/>
            <a:rect l="l" t="t" r="r" b="b"/>
            <a:pathLst>
              <a:path w="2870200" h="12700">
                <a:moveTo>
                  <a:pt x="2870200" y="0"/>
                </a:moveTo>
                <a:lnTo>
                  <a:pt x="0" y="0"/>
                </a:lnTo>
                <a:lnTo>
                  <a:pt x="0" y="12698"/>
                </a:lnTo>
                <a:lnTo>
                  <a:pt x="2870200" y="12698"/>
                </a:lnTo>
                <a:lnTo>
                  <a:pt x="2870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417748" y="5846225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latin typeface="DejaVu Serif Condensed"/>
                <a:cs typeface="DejaVu Serif Condensed"/>
              </a:rPr>
              <a:t>𝐿𝐶𝑆</a:t>
            </a:r>
            <a:endParaRPr sz="1800">
              <a:latin typeface="DejaVu Serif Condensed"/>
              <a:cs typeface="DejaVu Serif Condensed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72704" y="6167967"/>
            <a:ext cx="289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DejaVu Serif Condensed"/>
                <a:cs typeface="DejaVu Serif Condensed"/>
              </a:rPr>
              <a:t>#𝑤𝑜𝑟𝑑𝑠</a:t>
            </a:r>
            <a:r>
              <a:rPr sz="1800" spc="-30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𝑖𝑛</a:t>
            </a:r>
            <a:r>
              <a:rPr sz="1800" spc="-30" dirty="0">
                <a:latin typeface="DejaVu Serif Condensed"/>
                <a:cs typeface="DejaVu Serif Condensed"/>
              </a:rPr>
              <a:t> </a:t>
            </a:r>
            <a:r>
              <a:rPr sz="1800" dirty="0">
                <a:latin typeface="DejaVu Serif Condensed"/>
                <a:cs typeface="DejaVu Serif Condensed"/>
              </a:rPr>
              <a:t>𝑠𝑦𝑠𝑡𝑒𝑚</a:t>
            </a:r>
            <a:r>
              <a:rPr sz="1800" spc="-40" dirty="0">
                <a:latin typeface="DejaVu Serif Condensed"/>
                <a:cs typeface="DejaVu Serif Condensed"/>
              </a:rPr>
              <a:t> </a:t>
            </a:r>
            <a:r>
              <a:rPr sz="1800" spc="-10" dirty="0">
                <a:latin typeface="DejaVu Serif Condensed"/>
                <a:cs typeface="DejaVu Serif Condensed"/>
              </a:rPr>
              <a:t>𝑠𝑢𝑚𝑚𝑎𝑟𝑦</a:t>
            </a:r>
            <a:endParaRPr sz="1800">
              <a:latin typeface="DejaVu Serif Condensed"/>
              <a:cs typeface="DejaVu Serif Condense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1139" y="2747425"/>
            <a:ext cx="64160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Is</a:t>
            </a:r>
            <a:r>
              <a:rPr sz="4400" spc="-100" dirty="0"/>
              <a:t> </a:t>
            </a:r>
            <a:r>
              <a:rPr sz="4400" dirty="0"/>
              <a:t>ROUGE</a:t>
            </a:r>
            <a:r>
              <a:rPr sz="4400" spc="-95" dirty="0"/>
              <a:t> </a:t>
            </a:r>
            <a:r>
              <a:rPr sz="4300" spc="65" dirty="0">
                <a:solidFill>
                  <a:srgbClr val="FF0000"/>
                </a:solidFill>
              </a:rPr>
              <a:t>useful</a:t>
            </a:r>
            <a:r>
              <a:rPr sz="4300" spc="15" dirty="0">
                <a:solidFill>
                  <a:srgbClr val="FF0000"/>
                </a:solidFill>
              </a:rPr>
              <a:t> </a:t>
            </a:r>
            <a:r>
              <a:rPr sz="4400" dirty="0"/>
              <a:t>in</a:t>
            </a:r>
            <a:r>
              <a:rPr sz="4400" spc="-95" dirty="0"/>
              <a:t> </a:t>
            </a:r>
            <a:r>
              <a:rPr sz="4400" spc="-10" dirty="0"/>
              <a:t>practice?</a:t>
            </a:r>
            <a:endParaRPr sz="4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4400" spc="-270" dirty="0">
                <a:latin typeface="Trebuchet MS"/>
                <a:cs typeface="Trebuchet MS"/>
              </a:rPr>
              <a:t>Text</a:t>
            </a:r>
            <a:r>
              <a:rPr sz="4400" spc="-450" dirty="0">
                <a:latin typeface="Trebuchet MS"/>
                <a:cs typeface="Trebuchet MS"/>
              </a:rPr>
              <a:t> </a:t>
            </a:r>
            <a:r>
              <a:rPr sz="4400" spc="-160" dirty="0">
                <a:latin typeface="Trebuchet MS"/>
                <a:cs typeface="Trebuchet MS"/>
              </a:rPr>
              <a:t>similarity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7887"/>
            <a:ext cx="8152130" cy="1939289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35" dirty="0">
                <a:latin typeface="Trebuchet MS"/>
                <a:cs typeface="Trebuchet MS"/>
              </a:rPr>
              <a:t>Goal: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take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into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account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rebuchet MS"/>
                <a:cs typeface="Trebuchet MS"/>
              </a:rPr>
              <a:t>semantics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Trebuchet MS"/>
                <a:cs typeface="Trebuchet MS"/>
              </a:rPr>
              <a:t>Embeddings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Trebuchet MS"/>
                <a:cs typeface="Trebuchet MS"/>
              </a:rPr>
              <a:t>Map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text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into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vector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0" dirty="0">
                <a:latin typeface="Trebuchet MS"/>
                <a:cs typeface="Trebuchet MS"/>
              </a:rPr>
              <a:t>You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can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compare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two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vectors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using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distance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368" y="252759"/>
            <a:ext cx="8737312" cy="652163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2815" y="642196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rlito"/>
                <a:cs typeface="Carlito"/>
              </a:rPr>
              <a:t>49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944" y="190496"/>
            <a:ext cx="26015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solidFill>
                  <a:srgbClr val="0043CE"/>
                </a:solidFill>
                <a:latin typeface="Verdana"/>
                <a:cs typeface="Verdana"/>
              </a:rPr>
              <a:t>Text</a:t>
            </a:r>
            <a:r>
              <a:rPr sz="1600" spc="-12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0043CE"/>
                </a:solidFill>
                <a:latin typeface="Verdana"/>
                <a:cs typeface="Verdana"/>
              </a:rPr>
              <a:t>Summarization</a:t>
            </a:r>
            <a:r>
              <a:rPr sz="1600" spc="-13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0043CE"/>
                </a:solidFill>
                <a:latin typeface="Verdana"/>
                <a:cs typeface="Verdana"/>
              </a:rPr>
              <a:t>Metrics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944" y="634996"/>
            <a:ext cx="5861050" cy="183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001141"/>
              </a:buClr>
              <a:buSzPct val="92307"/>
              <a:buFont typeface="Arial"/>
              <a:buChar char="•"/>
              <a:tabLst>
                <a:tab pos="240665" algn="l"/>
              </a:tabLst>
            </a:pPr>
            <a:r>
              <a:rPr sz="1300" spc="-70" dirty="0">
                <a:solidFill>
                  <a:srgbClr val="0043CE"/>
                </a:solidFill>
                <a:latin typeface="Verdana"/>
                <a:cs typeface="Verdana"/>
              </a:rPr>
              <a:t>ROUGE</a:t>
            </a:r>
            <a:r>
              <a:rPr sz="1300" spc="-8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-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Recall-</a:t>
            </a:r>
            <a:r>
              <a:rPr sz="1300" spc="-80" dirty="0">
                <a:latin typeface="Verdana"/>
                <a:cs typeface="Verdana"/>
              </a:rPr>
              <a:t>Oriented</a:t>
            </a:r>
            <a:r>
              <a:rPr sz="1300" spc="-85" dirty="0">
                <a:latin typeface="Verdana"/>
                <a:cs typeface="Verdana"/>
              </a:rPr>
              <a:t> Understudy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for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Gisting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Evaluation,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is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a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set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of</a:t>
            </a:r>
            <a:endParaRPr sz="1300">
              <a:latin typeface="Verdana"/>
              <a:cs typeface="Verdana"/>
            </a:endParaRPr>
          </a:p>
          <a:p>
            <a:pPr marL="240665" marR="5080">
              <a:lnSpc>
                <a:spcPct val="102600"/>
              </a:lnSpc>
            </a:pPr>
            <a:r>
              <a:rPr sz="1300" spc="-70" dirty="0">
                <a:latin typeface="Verdana"/>
                <a:cs typeface="Verdana"/>
              </a:rPr>
              <a:t>metrics</a:t>
            </a:r>
            <a:r>
              <a:rPr sz="1300" spc="-75" dirty="0">
                <a:latin typeface="Verdana"/>
                <a:cs typeface="Verdana"/>
              </a:rPr>
              <a:t> for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evaluating</a:t>
            </a:r>
            <a:r>
              <a:rPr sz="1300" spc="-80" dirty="0">
                <a:latin typeface="Verdana"/>
                <a:cs typeface="Verdana"/>
              </a:rPr>
              <a:t> automatic</a:t>
            </a:r>
            <a:r>
              <a:rPr sz="1300" spc="-7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summarization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and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machine</a:t>
            </a:r>
            <a:r>
              <a:rPr sz="1300" spc="-7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translation </a:t>
            </a:r>
            <a:r>
              <a:rPr sz="1300" spc="-70" dirty="0">
                <a:latin typeface="Verdana"/>
                <a:cs typeface="Verdana"/>
              </a:rPr>
              <a:t>software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in natural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language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processing.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The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metrics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compare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an </a:t>
            </a:r>
            <a:r>
              <a:rPr sz="1300" spc="-75" dirty="0">
                <a:latin typeface="Verdana"/>
                <a:cs typeface="Verdana"/>
              </a:rPr>
              <a:t>automatically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produced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summary</a:t>
            </a:r>
            <a:r>
              <a:rPr sz="1300" spc="-80" dirty="0">
                <a:latin typeface="Verdana"/>
                <a:cs typeface="Verdana"/>
              </a:rPr>
              <a:t> or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translation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against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a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reference</a:t>
            </a:r>
            <a:r>
              <a:rPr sz="1300" spc="-80" dirty="0">
                <a:latin typeface="Verdana"/>
                <a:cs typeface="Verdana"/>
              </a:rPr>
              <a:t> or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a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set </a:t>
            </a:r>
            <a:r>
              <a:rPr sz="1300" spc="-65" dirty="0">
                <a:latin typeface="Verdana"/>
                <a:cs typeface="Verdana"/>
              </a:rPr>
              <a:t>of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references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(human-</a:t>
            </a:r>
            <a:r>
              <a:rPr sz="1300" spc="-75" dirty="0">
                <a:latin typeface="Verdana"/>
                <a:cs typeface="Verdana"/>
              </a:rPr>
              <a:t>produced)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summary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or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translation.</a:t>
            </a:r>
            <a:endParaRPr sz="1300">
              <a:latin typeface="Verdana"/>
              <a:cs typeface="Verdana"/>
            </a:endParaRPr>
          </a:p>
          <a:p>
            <a:pPr marL="240665" marR="140970" indent="-228600" algn="just">
              <a:lnSpc>
                <a:spcPct val="102600"/>
              </a:lnSpc>
              <a:spcBef>
                <a:spcPts val="1465"/>
              </a:spcBef>
              <a:buSzPct val="92307"/>
              <a:buFont typeface="Arial"/>
              <a:buChar char="•"/>
              <a:tabLst>
                <a:tab pos="240665" algn="l"/>
                <a:tab pos="242570" algn="l"/>
              </a:tabLst>
            </a:pPr>
            <a:r>
              <a:rPr sz="1300" dirty="0">
                <a:solidFill>
                  <a:srgbClr val="001141"/>
                </a:solidFill>
                <a:latin typeface="Verdana"/>
                <a:cs typeface="Verdana"/>
              </a:rPr>
              <a:t>	</a:t>
            </a:r>
            <a:r>
              <a:rPr sz="1300" spc="-45" dirty="0">
                <a:solidFill>
                  <a:srgbClr val="0043CE"/>
                </a:solidFill>
                <a:latin typeface="Verdana"/>
                <a:cs typeface="Verdana"/>
              </a:rPr>
              <a:t>bleurt</a:t>
            </a:r>
            <a:r>
              <a:rPr sz="1300" spc="-135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-</a:t>
            </a:r>
            <a:r>
              <a:rPr sz="1300" spc="-14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It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takes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a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pair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of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sentences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as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input,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a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reference</a:t>
            </a:r>
            <a:r>
              <a:rPr sz="1300" spc="-12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and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a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candidate,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and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it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returns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a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score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that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indicates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to</a:t>
            </a:r>
            <a:r>
              <a:rPr sz="1300" spc="-12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what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extent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the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candidate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is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fluent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and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conveys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the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meaning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of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the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reference.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944" y="2641596"/>
            <a:ext cx="5706745" cy="162941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0665" marR="42545" indent="-228600">
              <a:lnSpc>
                <a:spcPct val="102600"/>
              </a:lnSpc>
              <a:spcBef>
                <a:spcPts val="60"/>
              </a:spcBef>
              <a:buClr>
                <a:srgbClr val="001141"/>
              </a:buClr>
              <a:buSzPct val="92307"/>
              <a:buFont typeface="Arial"/>
              <a:buChar char="•"/>
              <a:tabLst>
                <a:tab pos="240665" algn="l"/>
              </a:tabLst>
            </a:pPr>
            <a:r>
              <a:rPr sz="1300" spc="-50" dirty="0">
                <a:solidFill>
                  <a:srgbClr val="0043CE"/>
                </a:solidFill>
                <a:latin typeface="Verdana"/>
                <a:cs typeface="Verdana"/>
              </a:rPr>
              <a:t>bertscore</a:t>
            </a:r>
            <a:r>
              <a:rPr sz="1300" spc="-75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-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leverages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75" dirty="0">
                <a:latin typeface="Verdana"/>
                <a:cs typeface="Verdana"/>
              </a:rPr>
              <a:t> pre-trained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contextual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embeddings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from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BERT </a:t>
            </a:r>
            <a:r>
              <a:rPr sz="1300" spc="-90" dirty="0">
                <a:latin typeface="Verdana"/>
                <a:cs typeface="Verdana"/>
              </a:rPr>
              <a:t>and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matches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words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in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candidate</a:t>
            </a:r>
            <a:r>
              <a:rPr sz="1300" spc="-90" dirty="0">
                <a:latin typeface="Verdana"/>
                <a:cs typeface="Verdana"/>
              </a:rPr>
              <a:t> and </a:t>
            </a:r>
            <a:r>
              <a:rPr sz="1300" spc="-70" dirty="0">
                <a:latin typeface="Verdana"/>
                <a:cs typeface="Verdana"/>
              </a:rPr>
              <a:t>reference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sentences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114" dirty="0">
                <a:latin typeface="Verdana"/>
                <a:cs typeface="Verdana"/>
              </a:rPr>
              <a:t>by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cosine similarity.</a:t>
            </a:r>
            <a:endParaRPr sz="1300">
              <a:latin typeface="Verdana"/>
              <a:cs typeface="Verdana"/>
            </a:endParaRPr>
          </a:p>
          <a:p>
            <a:pPr marL="240665" marR="5080" indent="-228600">
              <a:lnSpc>
                <a:spcPct val="102600"/>
              </a:lnSpc>
              <a:spcBef>
                <a:spcPts val="1465"/>
              </a:spcBef>
              <a:buClr>
                <a:srgbClr val="001141"/>
              </a:buClr>
              <a:buSzPct val="92307"/>
              <a:buFont typeface="Arial"/>
              <a:buChar char="•"/>
              <a:tabLst>
                <a:tab pos="240665" algn="l"/>
              </a:tabLst>
            </a:pPr>
            <a:r>
              <a:rPr sz="1300" spc="-55" dirty="0">
                <a:solidFill>
                  <a:srgbClr val="0043CE"/>
                </a:solidFill>
                <a:latin typeface="Verdana"/>
                <a:cs typeface="Verdana"/>
              </a:rPr>
              <a:t>frugalscore</a:t>
            </a:r>
            <a:r>
              <a:rPr sz="1300" spc="-85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-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is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a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reference-based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metric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for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NLG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models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evaluation.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It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is </a:t>
            </a:r>
            <a:r>
              <a:rPr sz="1300" spc="-70" dirty="0">
                <a:latin typeface="Verdana"/>
                <a:cs typeface="Verdana"/>
              </a:rPr>
              <a:t>based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on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a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distillation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approach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that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allows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to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learn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a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fixed,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low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cost </a:t>
            </a:r>
            <a:r>
              <a:rPr sz="1300" spc="-80" dirty="0">
                <a:latin typeface="Verdana"/>
                <a:cs typeface="Verdana"/>
              </a:rPr>
              <a:t>version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114" dirty="0">
                <a:latin typeface="Verdana"/>
                <a:cs typeface="Verdana"/>
              </a:rPr>
              <a:t>any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expensive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NLG </a:t>
            </a:r>
            <a:r>
              <a:rPr sz="1300" spc="-80" dirty="0">
                <a:latin typeface="Verdana"/>
                <a:cs typeface="Verdana"/>
              </a:rPr>
              <a:t>metric,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while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retaining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most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its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original performance.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944" y="4444996"/>
            <a:ext cx="5866130" cy="142621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0665" marR="8255" indent="-228600">
              <a:lnSpc>
                <a:spcPct val="102600"/>
              </a:lnSpc>
              <a:spcBef>
                <a:spcPts val="60"/>
              </a:spcBef>
              <a:buClr>
                <a:srgbClr val="001141"/>
              </a:buClr>
              <a:buSzPct val="92307"/>
              <a:buFont typeface="Arial"/>
              <a:buChar char="•"/>
              <a:tabLst>
                <a:tab pos="240665" algn="l"/>
              </a:tabLst>
            </a:pPr>
            <a:r>
              <a:rPr sz="1300" spc="-60" dirty="0">
                <a:solidFill>
                  <a:srgbClr val="0043CE"/>
                </a:solidFill>
                <a:latin typeface="Verdana"/>
                <a:cs typeface="Verdana"/>
              </a:rPr>
              <a:t>METEOR</a:t>
            </a:r>
            <a:r>
              <a:rPr sz="1300" spc="-9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-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is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based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on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a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generalized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concept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unigram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matching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30" dirty="0">
                <a:latin typeface="Verdana"/>
                <a:cs typeface="Verdana"/>
              </a:rPr>
              <a:t>between </a:t>
            </a:r>
            <a:r>
              <a:rPr sz="1300" spc="-80" dirty="0">
                <a:latin typeface="Verdana"/>
                <a:cs typeface="Verdana"/>
              </a:rPr>
              <a:t>the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machine-</a:t>
            </a:r>
            <a:r>
              <a:rPr sz="1300" spc="-65" dirty="0">
                <a:latin typeface="Verdana"/>
                <a:cs typeface="Verdana"/>
              </a:rPr>
              <a:t>produced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translation</a:t>
            </a:r>
            <a:r>
              <a:rPr sz="1300" spc="-65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and</a:t>
            </a:r>
            <a:r>
              <a:rPr sz="1300" spc="-65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human-</a:t>
            </a:r>
            <a:r>
              <a:rPr sz="1300" spc="-65" dirty="0">
                <a:latin typeface="Verdana"/>
                <a:cs typeface="Verdana"/>
              </a:rPr>
              <a:t>produced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reference translations.</a:t>
            </a:r>
            <a:endParaRPr sz="1300">
              <a:latin typeface="Verdana"/>
              <a:cs typeface="Verdana"/>
            </a:endParaRPr>
          </a:p>
          <a:p>
            <a:pPr marL="240665" marR="5080" indent="-228600" algn="just">
              <a:lnSpc>
                <a:spcPct val="102600"/>
              </a:lnSpc>
              <a:spcBef>
                <a:spcPts val="1465"/>
              </a:spcBef>
              <a:buSzPct val="92307"/>
              <a:buFont typeface="Arial"/>
              <a:buChar char="•"/>
              <a:tabLst>
                <a:tab pos="240665" algn="l"/>
                <a:tab pos="242570" algn="l"/>
              </a:tabLst>
            </a:pPr>
            <a:r>
              <a:rPr sz="1300" dirty="0">
                <a:solidFill>
                  <a:srgbClr val="001141"/>
                </a:solidFill>
                <a:latin typeface="Verdana"/>
                <a:cs typeface="Verdana"/>
              </a:rPr>
              <a:t>	</a:t>
            </a:r>
            <a:r>
              <a:rPr sz="1300" spc="-55" dirty="0">
                <a:solidFill>
                  <a:srgbClr val="0043CE"/>
                </a:solidFill>
                <a:latin typeface="Verdana"/>
                <a:cs typeface="Verdana"/>
              </a:rPr>
              <a:t>SARI</a:t>
            </a:r>
            <a:r>
              <a:rPr sz="1300" spc="-14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-</a:t>
            </a:r>
            <a:r>
              <a:rPr sz="1300" spc="-14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The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metric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compares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the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predicted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simplified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sentences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against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the</a:t>
            </a:r>
            <a:r>
              <a:rPr sz="1300" spc="-45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reference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and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the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source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sentences.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It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explicitly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measures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the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goodness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of </a:t>
            </a:r>
            <a:r>
              <a:rPr sz="1300" spc="-70" dirty="0">
                <a:latin typeface="Verdana"/>
                <a:cs typeface="Verdana"/>
              </a:rPr>
              <a:t>words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that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are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added,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deleted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and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kept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110" dirty="0">
                <a:latin typeface="Verdana"/>
                <a:cs typeface="Verdana"/>
              </a:rPr>
              <a:t>by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the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system.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944" y="6045196"/>
            <a:ext cx="5668645" cy="62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001141"/>
              </a:buClr>
              <a:buSzPct val="92307"/>
              <a:buFont typeface="Arial"/>
              <a:buChar char="•"/>
              <a:tabLst>
                <a:tab pos="240665" algn="l"/>
              </a:tabLst>
            </a:pPr>
            <a:r>
              <a:rPr sz="1300" spc="-55" dirty="0">
                <a:solidFill>
                  <a:srgbClr val="0043CE"/>
                </a:solidFill>
                <a:latin typeface="Verdana"/>
                <a:cs typeface="Verdana"/>
              </a:rPr>
              <a:t>WIKI_SPLIT</a:t>
            </a:r>
            <a:r>
              <a:rPr sz="1300" spc="-10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-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is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combination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three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metrics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SARI,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EXACT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and</a:t>
            </a:r>
            <a:endParaRPr sz="1300">
              <a:latin typeface="Verdana"/>
              <a:cs typeface="Verdana"/>
            </a:endParaRPr>
          </a:p>
          <a:p>
            <a:pPr marL="240665" marR="5080">
              <a:lnSpc>
                <a:spcPct val="102600"/>
              </a:lnSpc>
            </a:pPr>
            <a:r>
              <a:rPr sz="1300" spc="-85" dirty="0">
                <a:latin typeface="Verdana"/>
                <a:cs typeface="Verdana"/>
              </a:rPr>
              <a:t>SACREBLEU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It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can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be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used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to evaluate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quality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machine-</a:t>
            </a:r>
            <a:r>
              <a:rPr sz="1300" spc="-45" dirty="0">
                <a:latin typeface="Verdana"/>
                <a:cs typeface="Verdana"/>
              </a:rPr>
              <a:t>generated </a:t>
            </a:r>
            <a:r>
              <a:rPr sz="1300" spc="-10" dirty="0">
                <a:latin typeface="Verdana"/>
                <a:cs typeface="Verdana"/>
              </a:rPr>
              <a:t>texts.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0114" y="232829"/>
            <a:ext cx="3337560" cy="66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solidFill>
                  <a:srgbClr val="0043CE"/>
                </a:solidFill>
                <a:latin typeface="Verdana"/>
                <a:cs typeface="Verdana"/>
              </a:rPr>
              <a:t>Text</a:t>
            </a:r>
            <a:r>
              <a:rPr sz="1600" spc="-135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0043CE"/>
                </a:solidFill>
                <a:latin typeface="Verdana"/>
                <a:cs typeface="Verdana"/>
              </a:rPr>
              <a:t>Summarization</a:t>
            </a:r>
            <a:r>
              <a:rPr sz="1600" spc="-15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0043CE"/>
                </a:solidFill>
                <a:latin typeface="Verdana"/>
                <a:cs typeface="Verdana"/>
              </a:rPr>
              <a:t>Metrics</a:t>
            </a:r>
            <a:r>
              <a:rPr sz="1600" spc="-135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600" spc="-150" dirty="0">
                <a:solidFill>
                  <a:srgbClr val="0043CE"/>
                </a:solidFill>
                <a:latin typeface="Verdana"/>
                <a:cs typeface="Verdana"/>
              </a:rPr>
              <a:t>..</a:t>
            </a:r>
            <a:r>
              <a:rPr sz="1600" spc="-135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0043CE"/>
                </a:solidFill>
                <a:latin typeface="Verdana"/>
                <a:cs typeface="Verdana"/>
              </a:rPr>
              <a:t>contd</a:t>
            </a:r>
            <a:endParaRPr sz="1600">
              <a:latin typeface="Verdana"/>
              <a:cs typeface="Verdan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Clr>
                <a:srgbClr val="001141"/>
              </a:buClr>
              <a:buSzPct val="92307"/>
              <a:buFont typeface="Arial"/>
              <a:buChar char="•"/>
              <a:tabLst>
                <a:tab pos="240665" algn="l"/>
              </a:tabLst>
            </a:pPr>
            <a:r>
              <a:rPr sz="1300" spc="-60" dirty="0">
                <a:solidFill>
                  <a:srgbClr val="0043CE"/>
                </a:solidFill>
                <a:latin typeface="Verdana"/>
                <a:cs typeface="Verdana"/>
              </a:rPr>
              <a:t>Sentence</a:t>
            </a:r>
            <a:r>
              <a:rPr sz="1300" spc="-85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0043CE"/>
                </a:solidFill>
                <a:latin typeface="Verdana"/>
                <a:cs typeface="Verdana"/>
              </a:rPr>
              <a:t>Similarity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8714" y="1058329"/>
            <a:ext cx="5510530" cy="20612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665" marR="23495" indent="-228600">
              <a:lnSpc>
                <a:spcPct val="101299"/>
              </a:lnSpc>
              <a:spcBef>
                <a:spcPts val="75"/>
              </a:spcBef>
              <a:buClr>
                <a:srgbClr val="001141"/>
              </a:buClr>
              <a:buFont typeface="Arial"/>
              <a:buChar char="•"/>
              <a:tabLst>
                <a:tab pos="240665" algn="l"/>
              </a:tabLst>
            </a:pPr>
            <a:r>
              <a:rPr sz="1300" spc="-25" dirty="0">
                <a:solidFill>
                  <a:srgbClr val="0043CE"/>
                </a:solidFill>
                <a:latin typeface="Verdana"/>
                <a:cs typeface="Verdana"/>
              </a:rPr>
              <a:t>Jaccard</a:t>
            </a:r>
            <a:r>
              <a:rPr sz="1300" spc="-105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0043CE"/>
                </a:solidFill>
                <a:latin typeface="Verdana"/>
                <a:cs typeface="Verdana"/>
              </a:rPr>
              <a:t>Similarity</a:t>
            </a:r>
            <a:r>
              <a:rPr sz="1500" spc="-40" dirty="0">
                <a:latin typeface="Liberation Sans Narrow"/>
                <a:cs typeface="Liberation Sans Narrow"/>
              </a:rPr>
              <a:t>:</a:t>
            </a:r>
            <a:r>
              <a:rPr sz="1500" spc="20" dirty="0">
                <a:latin typeface="Liberation Sans Narrow"/>
                <a:cs typeface="Liberation Sans Narrow"/>
              </a:rPr>
              <a:t> </a:t>
            </a:r>
            <a:r>
              <a:rPr sz="1300" spc="-65" dirty="0">
                <a:latin typeface="Verdana"/>
                <a:cs typeface="Verdana"/>
              </a:rPr>
              <a:t>It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is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calculated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as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ratio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size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the </a:t>
            </a:r>
            <a:r>
              <a:rPr sz="1300" spc="-65" dirty="0">
                <a:latin typeface="Verdana"/>
                <a:cs typeface="Verdana"/>
              </a:rPr>
              <a:t>intersection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two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sets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tokens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from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machine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generated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and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40" dirty="0">
                <a:latin typeface="Verdana"/>
                <a:cs typeface="Verdana"/>
              </a:rPr>
              <a:t>human </a:t>
            </a:r>
            <a:r>
              <a:rPr sz="1300" spc="-75" dirty="0">
                <a:latin typeface="Verdana"/>
                <a:cs typeface="Verdana"/>
              </a:rPr>
              <a:t>reference,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to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size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their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union.</a:t>
            </a:r>
            <a:endParaRPr sz="1300">
              <a:latin typeface="Verdana"/>
              <a:cs typeface="Verdana"/>
            </a:endParaRPr>
          </a:p>
          <a:p>
            <a:pPr marL="240665" marR="5080" indent="-228600">
              <a:lnSpc>
                <a:spcPct val="102600"/>
              </a:lnSpc>
              <a:spcBef>
                <a:spcPts val="1465"/>
              </a:spcBef>
              <a:buClr>
                <a:srgbClr val="001141"/>
              </a:buClr>
              <a:buFont typeface="Arial"/>
              <a:buChar char="•"/>
              <a:tabLst>
                <a:tab pos="240665" algn="l"/>
              </a:tabLst>
            </a:pPr>
            <a:r>
              <a:rPr sz="1300" spc="-60" dirty="0">
                <a:solidFill>
                  <a:srgbClr val="0043CE"/>
                </a:solidFill>
                <a:latin typeface="Verdana"/>
                <a:cs typeface="Verdana"/>
              </a:rPr>
              <a:t>Cosine</a:t>
            </a:r>
            <a:r>
              <a:rPr sz="1300" spc="-9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0043CE"/>
                </a:solidFill>
                <a:latin typeface="Verdana"/>
                <a:cs typeface="Verdana"/>
              </a:rPr>
              <a:t>Similarity:</a:t>
            </a:r>
            <a:r>
              <a:rPr sz="1300" spc="-90" dirty="0">
                <a:solidFill>
                  <a:srgbClr val="0043CE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It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calculates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cosine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 </a:t>
            </a:r>
            <a:r>
              <a:rPr sz="1300" spc="-80" dirty="0">
                <a:latin typeface="Verdana"/>
                <a:cs typeface="Verdana"/>
              </a:rPr>
              <a:t>angle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between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two </a:t>
            </a:r>
            <a:r>
              <a:rPr sz="1300" spc="-85" dirty="0">
                <a:latin typeface="Verdana"/>
                <a:cs typeface="Verdana"/>
              </a:rPr>
              <a:t>vectors.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In</a:t>
            </a:r>
            <a:r>
              <a:rPr sz="1300" spc="-85" dirty="0">
                <a:latin typeface="Verdana"/>
                <a:cs typeface="Verdana"/>
              </a:rPr>
              <a:t> the </a:t>
            </a:r>
            <a:r>
              <a:rPr sz="1300" spc="-80" dirty="0">
                <a:latin typeface="Verdana"/>
                <a:cs typeface="Verdana"/>
              </a:rPr>
              <a:t>context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90" dirty="0">
                <a:latin typeface="Verdana"/>
                <a:cs typeface="Verdana"/>
              </a:rPr>
              <a:t> text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similarity,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 </a:t>
            </a:r>
            <a:r>
              <a:rPr sz="1300" spc="-80" dirty="0">
                <a:latin typeface="Verdana"/>
                <a:cs typeface="Verdana"/>
              </a:rPr>
              <a:t>vectors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represent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the </a:t>
            </a:r>
            <a:r>
              <a:rPr sz="1300" spc="-80" dirty="0">
                <a:latin typeface="Verdana"/>
                <a:cs typeface="Verdana"/>
              </a:rPr>
              <a:t>frequency or </a:t>
            </a:r>
            <a:r>
              <a:rPr sz="1300" spc="-50" dirty="0">
                <a:latin typeface="Verdana"/>
                <a:cs typeface="Verdana"/>
              </a:rPr>
              <a:t>TF-</a:t>
            </a:r>
            <a:r>
              <a:rPr sz="1300" spc="-70" dirty="0">
                <a:latin typeface="Verdana"/>
                <a:cs typeface="Verdana"/>
              </a:rPr>
              <a:t>IDF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(Term</a:t>
            </a:r>
            <a:r>
              <a:rPr sz="1300" spc="-7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Frequency-</a:t>
            </a:r>
            <a:r>
              <a:rPr sz="1300" spc="-80" dirty="0">
                <a:latin typeface="Verdana"/>
                <a:cs typeface="Verdana"/>
              </a:rPr>
              <a:t>Inverse</a:t>
            </a:r>
            <a:r>
              <a:rPr sz="1300" spc="-7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Document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Frequency) </a:t>
            </a:r>
            <a:r>
              <a:rPr sz="1300" spc="-80" dirty="0">
                <a:latin typeface="Verdana"/>
                <a:cs typeface="Verdana"/>
              </a:rPr>
              <a:t>weights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of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 </a:t>
            </a:r>
            <a:r>
              <a:rPr sz="1300" spc="-75" dirty="0">
                <a:latin typeface="Verdana"/>
                <a:cs typeface="Verdana"/>
              </a:rPr>
              <a:t>words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in</a:t>
            </a:r>
            <a:r>
              <a:rPr sz="1300" spc="-85" dirty="0">
                <a:latin typeface="Verdana"/>
                <a:cs typeface="Verdana"/>
              </a:rPr>
              <a:t> the </a:t>
            </a:r>
            <a:r>
              <a:rPr sz="1300" spc="-80" dirty="0">
                <a:latin typeface="Verdana"/>
                <a:cs typeface="Verdana"/>
              </a:rPr>
              <a:t>documents.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Cosine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similarity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considers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the </a:t>
            </a:r>
            <a:r>
              <a:rPr sz="1300" spc="-90" dirty="0">
                <a:latin typeface="Verdana"/>
                <a:cs typeface="Verdana"/>
              </a:rPr>
              <a:t>magnitude </a:t>
            </a:r>
            <a:r>
              <a:rPr sz="1300" spc="-80" dirty="0">
                <a:latin typeface="Verdana"/>
                <a:cs typeface="Verdana"/>
              </a:rPr>
              <a:t>or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weight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individual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elements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in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addition</a:t>
            </a:r>
            <a:r>
              <a:rPr sz="1300" spc="-85" dirty="0">
                <a:latin typeface="Verdana"/>
                <a:cs typeface="Verdana"/>
              </a:rPr>
              <a:t> to </a:t>
            </a:r>
            <a:r>
              <a:rPr sz="1300" spc="-10" dirty="0">
                <a:latin typeface="Verdana"/>
                <a:cs typeface="Verdana"/>
              </a:rPr>
              <a:t>their presence.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0114" y="3293525"/>
            <a:ext cx="5595620" cy="14770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1300" marR="5080" indent="-228600">
              <a:lnSpc>
                <a:spcPct val="101299"/>
              </a:lnSpc>
              <a:spcBef>
                <a:spcPts val="75"/>
              </a:spcBef>
              <a:buClr>
                <a:srgbClr val="001141"/>
              </a:buClr>
              <a:buSzPct val="86666"/>
              <a:buFont typeface="Arial"/>
              <a:buChar char="•"/>
              <a:tabLst>
                <a:tab pos="241300" algn="l"/>
              </a:tabLst>
            </a:pPr>
            <a:r>
              <a:rPr sz="1500" spc="120" dirty="0">
                <a:solidFill>
                  <a:srgbClr val="0043CE"/>
                </a:solidFill>
                <a:latin typeface="Liberation Sans Narrow"/>
                <a:cs typeface="Liberation Sans Narrow"/>
              </a:rPr>
              <a:t>Toxicity</a:t>
            </a:r>
            <a:r>
              <a:rPr sz="1500" spc="15" dirty="0">
                <a:solidFill>
                  <a:srgbClr val="0043CE"/>
                </a:solidFill>
                <a:latin typeface="Liberation Sans Narrow"/>
                <a:cs typeface="Liberation Sans Narrow"/>
              </a:rPr>
              <a:t> </a:t>
            </a:r>
            <a:r>
              <a:rPr sz="1500" spc="185" dirty="0">
                <a:solidFill>
                  <a:srgbClr val="0043CE"/>
                </a:solidFill>
                <a:latin typeface="Liberation Sans Narrow"/>
                <a:cs typeface="Liberation Sans Narrow"/>
              </a:rPr>
              <a:t>-</a:t>
            </a:r>
            <a:r>
              <a:rPr sz="1500" spc="30" dirty="0">
                <a:solidFill>
                  <a:srgbClr val="0043CE"/>
                </a:solidFill>
                <a:latin typeface="Liberation Sans Narrow"/>
                <a:cs typeface="Liberation Sans Narrow"/>
              </a:rPr>
              <a:t> </a:t>
            </a:r>
            <a:r>
              <a:rPr sz="1300" spc="-75" dirty="0">
                <a:latin typeface="Verdana"/>
                <a:cs typeface="Verdana"/>
              </a:rPr>
              <a:t>The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toxicity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measurement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aims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to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quantify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toxicity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the </a:t>
            </a:r>
            <a:r>
              <a:rPr sz="1300" spc="-80" dirty="0">
                <a:latin typeface="Verdana"/>
                <a:cs typeface="Verdana"/>
              </a:rPr>
              <a:t>prompt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input</a:t>
            </a:r>
            <a:r>
              <a:rPr sz="1300" spc="-90" dirty="0">
                <a:latin typeface="Verdana"/>
                <a:cs typeface="Verdana"/>
              </a:rPr>
              <a:t> and </a:t>
            </a:r>
            <a:r>
              <a:rPr sz="1300" spc="-80" dirty="0">
                <a:latin typeface="Verdana"/>
                <a:cs typeface="Verdana"/>
              </a:rPr>
              <a:t>output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texts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using</a:t>
            </a:r>
            <a:r>
              <a:rPr sz="1300" spc="-100" dirty="0">
                <a:latin typeface="Verdana"/>
                <a:cs typeface="Verdana"/>
              </a:rPr>
              <a:t> a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pretrained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hate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speech </a:t>
            </a:r>
            <a:r>
              <a:rPr sz="1300" spc="-60" dirty="0">
                <a:latin typeface="Verdana"/>
                <a:cs typeface="Verdana"/>
              </a:rPr>
              <a:t>classification</a:t>
            </a:r>
            <a:r>
              <a:rPr sz="1300" spc="-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model.</a:t>
            </a:r>
            <a:endParaRPr sz="1300">
              <a:latin typeface="Verdana"/>
              <a:cs typeface="Verdana"/>
            </a:endParaRPr>
          </a:p>
          <a:p>
            <a:pPr marL="241300" marR="99060" indent="-228600">
              <a:lnSpc>
                <a:spcPct val="103099"/>
              </a:lnSpc>
              <a:spcBef>
                <a:spcPts val="1385"/>
              </a:spcBef>
              <a:buClr>
                <a:srgbClr val="001141"/>
              </a:buClr>
              <a:buSzPct val="86666"/>
              <a:buFont typeface="Arial"/>
              <a:buChar char="•"/>
              <a:tabLst>
                <a:tab pos="241300" algn="l"/>
              </a:tabLst>
            </a:pPr>
            <a:r>
              <a:rPr sz="1500" spc="110" dirty="0">
                <a:solidFill>
                  <a:srgbClr val="0043CE"/>
                </a:solidFill>
                <a:latin typeface="Liberation Sans Narrow"/>
                <a:cs typeface="Liberation Sans Narrow"/>
              </a:rPr>
              <a:t>Regard</a:t>
            </a:r>
            <a:r>
              <a:rPr sz="1500" spc="30" dirty="0">
                <a:solidFill>
                  <a:srgbClr val="0043CE"/>
                </a:solidFill>
                <a:latin typeface="Liberation Sans Narrow"/>
                <a:cs typeface="Liberation Sans Narrow"/>
              </a:rPr>
              <a:t> </a:t>
            </a:r>
            <a:r>
              <a:rPr sz="1500" spc="185" dirty="0">
                <a:solidFill>
                  <a:srgbClr val="0043CE"/>
                </a:solidFill>
                <a:latin typeface="Liberation Sans Narrow"/>
                <a:cs typeface="Liberation Sans Narrow"/>
              </a:rPr>
              <a:t>-</a:t>
            </a:r>
            <a:r>
              <a:rPr sz="1500" spc="35" dirty="0">
                <a:solidFill>
                  <a:srgbClr val="0043CE"/>
                </a:solidFill>
                <a:latin typeface="Liberation Sans Narrow"/>
                <a:cs typeface="Liberation Sans Narrow"/>
              </a:rPr>
              <a:t> </a:t>
            </a:r>
            <a:r>
              <a:rPr sz="1300" spc="-75" dirty="0">
                <a:latin typeface="Verdana"/>
                <a:cs typeface="Verdana"/>
              </a:rPr>
              <a:t>The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spc="-90" dirty="0">
                <a:latin typeface="Verdana"/>
                <a:cs typeface="Verdana"/>
              </a:rPr>
              <a:t>regard </a:t>
            </a:r>
            <a:r>
              <a:rPr sz="1300" spc="-85" dirty="0">
                <a:latin typeface="Verdana"/>
                <a:cs typeface="Verdana"/>
              </a:rPr>
              <a:t>measurement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0" dirty="0">
                <a:latin typeface="Verdana"/>
                <a:cs typeface="Verdana"/>
              </a:rPr>
              <a:t>returns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the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estimated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language </a:t>
            </a:r>
            <a:r>
              <a:rPr sz="1300" spc="-75" dirty="0">
                <a:latin typeface="Verdana"/>
                <a:cs typeface="Verdana"/>
              </a:rPr>
              <a:t>polarity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towards</a:t>
            </a:r>
            <a:r>
              <a:rPr sz="1300" spc="-90" dirty="0">
                <a:latin typeface="Verdana"/>
                <a:cs typeface="Verdana"/>
              </a:rPr>
              <a:t> and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social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perceptions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of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100" dirty="0">
                <a:latin typeface="Verdana"/>
                <a:cs typeface="Verdana"/>
              </a:rPr>
              <a:t>a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demographic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25" dirty="0">
                <a:latin typeface="Verdana"/>
                <a:cs typeface="Verdana"/>
              </a:rPr>
              <a:t>(e.g.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gender, </a:t>
            </a:r>
            <a:r>
              <a:rPr sz="1300" spc="-85" dirty="0">
                <a:latin typeface="Verdana"/>
                <a:cs typeface="Verdana"/>
              </a:rPr>
              <a:t>race,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sexual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orientation).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129" y="351363"/>
            <a:ext cx="5772785" cy="411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dirty="0">
                <a:solidFill>
                  <a:srgbClr val="ED7D31"/>
                </a:solidFill>
                <a:latin typeface="Carlito"/>
                <a:cs typeface="Carlito"/>
              </a:rPr>
              <a:t>Entity</a:t>
            </a:r>
            <a:r>
              <a:rPr sz="1600" b="1" spc="-30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600" b="1" spc="-10" dirty="0">
                <a:solidFill>
                  <a:srgbClr val="ED7D31"/>
                </a:solidFill>
                <a:latin typeface="Carlito"/>
                <a:cs typeface="Carlito"/>
              </a:rPr>
              <a:t>Extraction</a:t>
            </a:r>
            <a:r>
              <a:rPr sz="1600" b="1" spc="-20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600" b="1" spc="-10" dirty="0">
                <a:solidFill>
                  <a:srgbClr val="ED7D31"/>
                </a:solidFill>
                <a:latin typeface="Carlito"/>
                <a:cs typeface="Carlito"/>
              </a:rPr>
              <a:t>Metrics</a:t>
            </a:r>
            <a:endParaRPr sz="1600">
              <a:latin typeface="Carlito"/>
              <a:cs typeface="Carlito"/>
            </a:endParaRPr>
          </a:p>
          <a:p>
            <a:pPr marL="241300" marR="27940" indent="-228600">
              <a:lnSpc>
                <a:spcPts val="1530"/>
              </a:lnSpc>
              <a:spcBef>
                <a:spcPts val="1455"/>
              </a:spcBef>
              <a:buFont typeface="Arial"/>
              <a:buChar char="•"/>
              <a:tabLst>
                <a:tab pos="241300" algn="l"/>
              </a:tabLst>
            </a:pPr>
            <a:r>
              <a:rPr sz="1300" b="1" dirty="0">
                <a:solidFill>
                  <a:srgbClr val="ED7D31"/>
                </a:solidFill>
                <a:latin typeface="Carlito"/>
                <a:cs typeface="Carlito"/>
              </a:rPr>
              <a:t>Seq</a:t>
            </a:r>
            <a:r>
              <a:rPr sz="1300" b="1" spc="30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300" b="1" dirty="0">
                <a:solidFill>
                  <a:srgbClr val="ED7D31"/>
                </a:solidFill>
                <a:latin typeface="Carlito"/>
                <a:cs typeface="Carlito"/>
              </a:rPr>
              <a:t>eval</a:t>
            </a:r>
            <a:r>
              <a:rPr sz="1300" b="1" spc="20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300" b="1" dirty="0">
                <a:latin typeface="Carlito"/>
                <a:cs typeface="Carlito"/>
              </a:rPr>
              <a:t>-</a:t>
            </a:r>
            <a:r>
              <a:rPr sz="1300" b="1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can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evaluate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the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performance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of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chunking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tasks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such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as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named-</a:t>
            </a:r>
            <a:r>
              <a:rPr sz="1300" spc="-10" dirty="0">
                <a:latin typeface="Carlito"/>
                <a:cs typeface="Carlito"/>
              </a:rPr>
              <a:t>entity </a:t>
            </a:r>
            <a:r>
              <a:rPr sz="1300" dirty="0">
                <a:latin typeface="Carlito"/>
                <a:cs typeface="Carlito"/>
              </a:rPr>
              <a:t>recognition,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spc="-10" dirty="0">
                <a:latin typeface="Carlito"/>
                <a:cs typeface="Carlito"/>
              </a:rPr>
              <a:t>part-of-</a:t>
            </a:r>
            <a:r>
              <a:rPr sz="1300" dirty="0">
                <a:latin typeface="Carlito"/>
                <a:cs typeface="Carlito"/>
              </a:rPr>
              <a:t>speech</a:t>
            </a:r>
            <a:r>
              <a:rPr sz="1300" spc="4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tagging,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semantic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role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labeling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and</a:t>
            </a:r>
            <a:r>
              <a:rPr sz="1300" spc="4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so</a:t>
            </a:r>
            <a:r>
              <a:rPr sz="1300" spc="45" dirty="0">
                <a:latin typeface="Carlito"/>
                <a:cs typeface="Carlito"/>
              </a:rPr>
              <a:t> </a:t>
            </a:r>
            <a:r>
              <a:rPr sz="1300" spc="-25" dirty="0">
                <a:latin typeface="Carlito"/>
                <a:cs typeface="Carlito"/>
              </a:rPr>
              <a:t>on.</a:t>
            </a:r>
            <a:endParaRPr sz="1300">
              <a:latin typeface="Carlito"/>
              <a:cs typeface="Carlito"/>
            </a:endParaRPr>
          </a:p>
          <a:p>
            <a:pPr marL="241300" marR="290195" indent="-228600">
              <a:lnSpc>
                <a:spcPct val="94000"/>
              </a:lnSpc>
              <a:spcBef>
                <a:spcPts val="1355"/>
              </a:spcBef>
              <a:buFont typeface="Arial"/>
              <a:buChar char="•"/>
              <a:tabLst>
                <a:tab pos="241300" algn="l"/>
              </a:tabLst>
            </a:pPr>
            <a:r>
              <a:rPr sz="1300" b="1" dirty="0">
                <a:solidFill>
                  <a:srgbClr val="ED7D31"/>
                </a:solidFill>
                <a:latin typeface="Carlito"/>
                <a:cs typeface="Carlito"/>
              </a:rPr>
              <a:t>Coval</a:t>
            </a:r>
            <a:r>
              <a:rPr sz="1300" b="1" spc="20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300" b="1" dirty="0">
                <a:latin typeface="Carlito"/>
                <a:cs typeface="Carlito"/>
              </a:rPr>
              <a:t>-</a:t>
            </a:r>
            <a:r>
              <a:rPr sz="1300" b="1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Named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entity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recognition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involves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identifying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and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classifying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spc="-10" dirty="0">
                <a:latin typeface="Carlito"/>
                <a:cs typeface="Carlito"/>
              </a:rPr>
              <a:t>named </a:t>
            </a:r>
            <a:r>
              <a:rPr sz="1300" dirty="0">
                <a:latin typeface="Carlito"/>
                <a:cs typeface="Carlito"/>
              </a:rPr>
              <a:t>entities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such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person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names,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locations,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organizations,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and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other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entities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spc="-25" dirty="0">
                <a:latin typeface="Carlito"/>
                <a:cs typeface="Carlito"/>
              </a:rPr>
              <a:t>of </a:t>
            </a:r>
            <a:r>
              <a:rPr sz="1300" dirty="0">
                <a:latin typeface="Carlito"/>
                <a:cs typeface="Carlito"/>
              </a:rPr>
              <a:t>interest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within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spc="-20" dirty="0">
                <a:latin typeface="Carlito"/>
                <a:cs typeface="Carlito"/>
              </a:rPr>
              <a:t>text.</a:t>
            </a:r>
            <a:endParaRPr sz="13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55"/>
              </a:spcBef>
              <a:buFont typeface="Arial"/>
              <a:buChar char="•"/>
            </a:pPr>
            <a:endParaRPr sz="13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600" b="1" spc="-10" dirty="0">
                <a:solidFill>
                  <a:srgbClr val="ED7D31"/>
                </a:solidFill>
                <a:latin typeface="Carlito"/>
                <a:cs typeface="Carlito"/>
              </a:rPr>
              <a:t>Content</a:t>
            </a:r>
            <a:r>
              <a:rPr sz="1600" b="1" spc="-25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600" b="1" spc="-10" dirty="0">
                <a:solidFill>
                  <a:srgbClr val="ED7D31"/>
                </a:solidFill>
                <a:latin typeface="Carlito"/>
                <a:cs typeface="Carlito"/>
              </a:rPr>
              <a:t>Generation,</a:t>
            </a:r>
            <a:r>
              <a:rPr sz="1600" b="1" spc="-25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600" b="1" dirty="0">
                <a:solidFill>
                  <a:srgbClr val="ED7D31"/>
                </a:solidFill>
                <a:latin typeface="Carlito"/>
                <a:cs typeface="Carlito"/>
              </a:rPr>
              <a:t>Q&amp;A</a:t>
            </a:r>
            <a:r>
              <a:rPr sz="1600" b="1" spc="-15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600" b="1" spc="-10" dirty="0">
                <a:solidFill>
                  <a:srgbClr val="ED7D31"/>
                </a:solidFill>
                <a:latin typeface="Carlito"/>
                <a:cs typeface="Carlito"/>
              </a:rPr>
              <a:t>Metrics</a:t>
            </a:r>
            <a:endParaRPr sz="1600">
              <a:latin typeface="Carlito"/>
              <a:cs typeface="Carlito"/>
            </a:endParaRPr>
          </a:p>
          <a:p>
            <a:pPr marL="241300" marR="5080" indent="-228600">
              <a:lnSpc>
                <a:spcPts val="14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1300" b="1" dirty="0">
                <a:solidFill>
                  <a:srgbClr val="ED7D31"/>
                </a:solidFill>
                <a:latin typeface="Carlito"/>
                <a:cs typeface="Carlito"/>
              </a:rPr>
              <a:t>Perplexity</a:t>
            </a:r>
            <a:r>
              <a:rPr sz="1300" b="1" spc="50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300" spc="-80" dirty="0">
                <a:latin typeface="Verdana"/>
                <a:cs typeface="Verdana"/>
              </a:rPr>
              <a:t>-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dirty="0">
                <a:latin typeface="Carlito"/>
                <a:cs typeface="Carlito"/>
              </a:rPr>
              <a:t>given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model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and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an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input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text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sequence,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perplexity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measures</a:t>
            </a:r>
            <a:r>
              <a:rPr sz="1300" spc="40" dirty="0">
                <a:latin typeface="Carlito"/>
                <a:cs typeface="Carlito"/>
              </a:rPr>
              <a:t> </a:t>
            </a:r>
            <a:r>
              <a:rPr sz="1300" spc="-25" dirty="0">
                <a:latin typeface="Carlito"/>
                <a:cs typeface="Carlito"/>
              </a:rPr>
              <a:t>how </a:t>
            </a:r>
            <a:r>
              <a:rPr sz="1300" dirty="0">
                <a:latin typeface="Carlito"/>
                <a:cs typeface="Carlito"/>
              </a:rPr>
              <a:t>likely the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model</a:t>
            </a:r>
            <a:r>
              <a:rPr sz="1300" spc="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is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to</a:t>
            </a:r>
            <a:r>
              <a:rPr sz="1300" spc="1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generate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the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input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text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spc="-10" dirty="0">
                <a:latin typeface="Carlito"/>
                <a:cs typeface="Carlito"/>
              </a:rPr>
              <a:t>sequence.</a:t>
            </a:r>
            <a:endParaRPr sz="1300">
              <a:latin typeface="Carlito"/>
              <a:cs typeface="Carlito"/>
            </a:endParaRPr>
          </a:p>
          <a:p>
            <a:pPr marL="469900" marR="194310" lvl="1" indent="-228600">
              <a:lnSpc>
                <a:spcPts val="1400"/>
              </a:lnSpc>
              <a:spcBef>
                <a:spcPts val="535"/>
              </a:spcBef>
              <a:buFont typeface="Arial"/>
              <a:buChar char="•"/>
              <a:tabLst>
                <a:tab pos="469900" algn="l"/>
              </a:tabLst>
            </a:pPr>
            <a:r>
              <a:rPr sz="1300" dirty="0">
                <a:latin typeface="Carlito"/>
                <a:cs typeface="Carlito"/>
              </a:rPr>
              <a:t>As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metric,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it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can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be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used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to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evaluate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how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well</a:t>
            </a:r>
            <a:r>
              <a:rPr sz="1300" spc="1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the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model</a:t>
            </a:r>
            <a:r>
              <a:rPr sz="1300" spc="1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has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learned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spc="-25" dirty="0">
                <a:latin typeface="Carlito"/>
                <a:cs typeface="Carlito"/>
              </a:rPr>
              <a:t>the </a:t>
            </a:r>
            <a:r>
              <a:rPr sz="1300" dirty="0">
                <a:latin typeface="Carlito"/>
                <a:cs typeface="Carlito"/>
              </a:rPr>
              <a:t>distribution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of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the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text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it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was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trained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spc="-25" dirty="0">
                <a:latin typeface="Carlito"/>
                <a:cs typeface="Carlito"/>
              </a:rPr>
              <a:t>on.</a:t>
            </a:r>
            <a:endParaRPr sz="1300">
              <a:latin typeface="Carlito"/>
              <a:cs typeface="Carlito"/>
            </a:endParaRPr>
          </a:p>
          <a:p>
            <a:pPr marL="469265" lvl="1" indent="-2279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469265" algn="l"/>
              </a:tabLst>
            </a:pPr>
            <a:r>
              <a:rPr sz="1300" dirty="0">
                <a:latin typeface="Carlito"/>
                <a:cs typeface="Carlito"/>
              </a:rPr>
              <a:t>Can</a:t>
            </a:r>
            <a:r>
              <a:rPr sz="1300" spc="1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be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used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for</a:t>
            </a:r>
            <a:r>
              <a:rPr sz="1300" spc="15" dirty="0">
                <a:latin typeface="Carlito"/>
                <a:cs typeface="Carlito"/>
              </a:rPr>
              <a:t> </a:t>
            </a:r>
            <a:r>
              <a:rPr sz="1300" spc="-10" dirty="0">
                <a:latin typeface="Carlito"/>
                <a:cs typeface="Carlito"/>
              </a:rPr>
              <a:t>Text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Summarisation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evaluation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as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spc="-10" dirty="0">
                <a:latin typeface="Carlito"/>
                <a:cs typeface="Carlito"/>
              </a:rPr>
              <a:t>well.</a:t>
            </a:r>
            <a:endParaRPr sz="1300">
              <a:latin typeface="Carlito"/>
              <a:cs typeface="Carlito"/>
            </a:endParaRPr>
          </a:p>
          <a:p>
            <a:pPr marL="241300" marR="379730" indent="-228600">
              <a:lnSpc>
                <a:spcPts val="14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1300" b="1" dirty="0">
                <a:solidFill>
                  <a:srgbClr val="ED7D31"/>
                </a:solidFill>
                <a:latin typeface="Carlito"/>
                <a:cs typeface="Carlito"/>
              </a:rPr>
              <a:t>rl_reliability</a:t>
            </a:r>
            <a:r>
              <a:rPr sz="1300" b="1" spc="30" dirty="0">
                <a:solidFill>
                  <a:srgbClr val="ED7D31"/>
                </a:solidFill>
                <a:latin typeface="Carlito"/>
                <a:cs typeface="Carlito"/>
              </a:rPr>
              <a:t> </a:t>
            </a:r>
            <a:r>
              <a:rPr sz="1300" spc="-80" dirty="0">
                <a:latin typeface="Verdana"/>
                <a:cs typeface="Verdana"/>
              </a:rPr>
              <a:t>-</a:t>
            </a:r>
            <a:r>
              <a:rPr sz="1300" spc="-120" dirty="0">
                <a:latin typeface="Verdana"/>
                <a:cs typeface="Verdana"/>
              </a:rPr>
              <a:t> </a:t>
            </a:r>
            <a:r>
              <a:rPr sz="1300" dirty="0">
                <a:latin typeface="Carlito"/>
                <a:cs typeface="Carlito"/>
              </a:rPr>
              <a:t>The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RL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Reliability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Metrics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library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provides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</a:t>
            </a:r>
            <a:r>
              <a:rPr sz="1300" spc="3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set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of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metrics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spc="-25" dirty="0">
                <a:latin typeface="Carlito"/>
                <a:cs typeface="Carlito"/>
              </a:rPr>
              <a:t>for </a:t>
            </a:r>
            <a:r>
              <a:rPr sz="1300" dirty="0">
                <a:latin typeface="Carlito"/>
                <a:cs typeface="Carlito"/>
              </a:rPr>
              <a:t>measuring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the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reliability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of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reinforcement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learning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(RL)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spc="-10" dirty="0">
                <a:latin typeface="Carlito"/>
                <a:cs typeface="Carlito"/>
              </a:rPr>
              <a:t>algorithms.</a:t>
            </a:r>
            <a:endParaRPr sz="1300">
              <a:latin typeface="Carlito"/>
              <a:cs typeface="Carlito"/>
            </a:endParaRPr>
          </a:p>
          <a:p>
            <a:pPr marL="469900" marR="177800" lvl="1" indent="-228600">
              <a:lnSpc>
                <a:spcPts val="1400"/>
              </a:lnSpc>
              <a:spcBef>
                <a:spcPts val="535"/>
              </a:spcBef>
              <a:buFont typeface="Arial"/>
              <a:buChar char="•"/>
              <a:tabLst>
                <a:tab pos="469900" algn="l"/>
              </a:tabLst>
            </a:pPr>
            <a:r>
              <a:rPr sz="1300" dirty="0">
                <a:latin typeface="Carlito"/>
                <a:cs typeface="Carlito"/>
              </a:rPr>
              <a:t>Can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be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used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for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text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summarisation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but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appears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to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be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that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it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is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not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spc="-10" dirty="0">
                <a:latin typeface="Carlito"/>
                <a:cs typeface="Carlito"/>
              </a:rPr>
              <a:t>straight </a:t>
            </a:r>
            <a:r>
              <a:rPr sz="1300" dirty="0">
                <a:latin typeface="Carlito"/>
                <a:cs typeface="Carlito"/>
              </a:rPr>
              <a:t>forward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to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use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dirty="0">
                <a:latin typeface="Carlito"/>
                <a:cs typeface="Carlito"/>
              </a:rPr>
              <a:t>this</a:t>
            </a:r>
            <a:r>
              <a:rPr sz="1300" spc="20" dirty="0">
                <a:latin typeface="Carlito"/>
                <a:cs typeface="Carlito"/>
              </a:rPr>
              <a:t> </a:t>
            </a:r>
            <a:r>
              <a:rPr sz="1300" spc="-10" dirty="0">
                <a:latin typeface="Carlito"/>
                <a:cs typeface="Carlito"/>
              </a:rPr>
              <a:t>metric.</a:t>
            </a:r>
            <a:endParaRPr sz="13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4400" spc="-200" dirty="0">
                <a:latin typeface="Trebuchet MS"/>
                <a:cs typeface="Trebuchet MS"/>
              </a:rPr>
              <a:t>Toxicity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321" y="2238739"/>
            <a:ext cx="3979100" cy="2389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7691" y="2184400"/>
            <a:ext cx="5353050" cy="2501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36470" y="4897967"/>
            <a:ext cx="2192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latin typeface="Liberation Sans Narrow"/>
                <a:cs typeface="Liberation Sans Narrow"/>
              </a:rPr>
              <a:t>Sanguinetti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135" dirty="0">
                <a:latin typeface="Liberation Sans Narrow"/>
                <a:cs typeface="Liberation Sans Narrow"/>
              </a:rPr>
              <a:t>et</a:t>
            </a:r>
            <a:r>
              <a:rPr sz="1800" spc="-30" dirty="0">
                <a:latin typeface="Liberation Sans Narrow"/>
                <a:cs typeface="Liberation Sans Narrow"/>
              </a:rPr>
              <a:t> </a:t>
            </a:r>
            <a:r>
              <a:rPr sz="1800" spc="60" dirty="0">
                <a:latin typeface="Liberation Sans Narrow"/>
                <a:cs typeface="Liberation Sans Narrow"/>
              </a:rPr>
              <a:t>al.,</a:t>
            </a:r>
            <a:r>
              <a:rPr sz="1800" spc="-30" dirty="0">
                <a:latin typeface="Liberation Sans Narrow"/>
                <a:cs typeface="Liberation Sans Narrow"/>
              </a:rPr>
              <a:t> </a:t>
            </a:r>
            <a:r>
              <a:rPr sz="1800" spc="35" dirty="0">
                <a:latin typeface="Liberation Sans Narrow"/>
                <a:cs typeface="Liberation Sans Narrow"/>
              </a:rPr>
              <a:t>2018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2942" y="4897967"/>
            <a:ext cx="3571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Caselli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et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al.,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2020;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Poletto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et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al.,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2021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4400" spc="-85" dirty="0">
                <a:latin typeface="Trebuchet MS"/>
                <a:cs typeface="Trebuchet MS"/>
              </a:rPr>
              <a:t>IBM’s</a:t>
            </a:r>
            <a:r>
              <a:rPr sz="4400" spc="-415" dirty="0">
                <a:latin typeface="Trebuchet MS"/>
                <a:cs typeface="Trebuchet MS"/>
              </a:rPr>
              <a:t> </a:t>
            </a:r>
            <a:r>
              <a:rPr sz="4400" spc="-155" dirty="0">
                <a:latin typeface="Trebuchet MS"/>
                <a:cs typeface="Trebuchet MS"/>
              </a:rPr>
              <a:t>Hate</a:t>
            </a:r>
            <a:r>
              <a:rPr sz="4400" spc="-605" dirty="0">
                <a:latin typeface="Trebuchet MS"/>
                <a:cs typeface="Trebuchet MS"/>
              </a:rPr>
              <a:t> </a:t>
            </a:r>
            <a:r>
              <a:rPr sz="4400" spc="-65" dirty="0">
                <a:latin typeface="Trebuchet MS"/>
                <a:cs typeface="Trebuchet MS"/>
              </a:rPr>
              <a:t>Abuse</a:t>
            </a:r>
            <a:r>
              <a:rPr sz="4400" spc="-405" dirty="0">
                <a:latin typeface="Trebuchet MS"/>
                <a:cs typeface="Trebuchet MS"/>
              </a:rPr>
              <a:t> </a:t>
            </a:r>
            <a:r>
              <a:rPr sz="4400" spc="-140" dirty="0">
                <a:latin typeface="Trebuchet MS"/>
                <a:cs typeface="Trebuchet MS"/>
              </a:rPr>
              <a:t>and</a:t>
            </a:r>
            <a:r>
              <a:rPr sz="4400" spc="-400" dirty="0">
                <a:latin typeface="Trebuchet MS"/>
                <a:cs typeface="Trebuchet MS"/>
              </a:rPr>
              <a:t> </a:t>
            </a:r>
            <a:r>
              <a:rPr sz="4400" spc="-150" dirty="0">
                <a:latin typeface="Trebuchet MS"/>
                <a:cs typeface="Trebuchet MS"/>
              </a:rPr>
              <a:t>Profanity</a:t>
            </a:r>
            <a:r>
              <a:rPr sz="4400" spc="-405" dirty="0">
                <a:latin typeface="Trebuchet MS"/>
                <a:cs typeface="Trebuchet MS"/>
              </a:rPr>
              <a:t> </a:t>
            </a:r>
            <a:r>
              <a:rPr sz="4400" spc="-10" dirty="0">
                <a:latin typeface="Trebuchet MS"/>
                <a:cs typeface="Trebuchet MS"/>
              </a:rPr>
              <a:t>(HAP</a:t>
            </a:r>
            <a:r>
              <a:rPr sz="4400" spc="-400" dirty="0">
                <a:latin typeface="Trebuchet MS"/>
                <a:cs typeface="Trebuchet MS"/>
              </a:rPr>
              <a:t> </a:t>
            </a:r>
            <a:r>
              <a:rPr sz="4400" spc="-185" dirty="0">
                <a:latin typeface="Trebuchet MS"/>
                <a:cs typeface="Trebuchet MS"/>
              </a:rPr>
              <a:t>filter)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3109" y="1892296"/>
            <a:ext cx="7273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rebuchet MS"/>
                <a:cs typeface="Trebuchet MS"/>
              </a:rPr>
              <a:t>Approach: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spc="114" dirty="0">
                <a:latin typeface="Liberation Sans Narrow"/>
                <a:cs typeface="Liberation Sans Narrow"/>
              </a:rPr>
              <a:t>train</a:t>
            </a:r>
            <a:r>
              <a:rPr sz="1800" spc="-20" dirty="0">
                <a:latin typeface="Liberation Sans Narrow"/>
                <a:cs typeface="Liberation Sans Narrow"/>
              </a:rPr>
              <a:t> </a:t>
            </a:r>
            <a:r>
              <a:rPr sz="1800" spc="105" dirty="0">
                <a:latin typeface="Liberation Sans Narrow"/>
                <a:cs typeface="Liberation Sans Narrow"/>
              </a:rPr>
              <a:t>models</a:t>
            </a:r>
            <a:r>
              <a:rPr sz="1800" spc="-30" dirty="0">
                <a:latin typeface="Liberation Sans Narrow"/>
                <a:cs typeface="Liberation Sans Narrow"/>
              </a:rPr>
              <a:t> </a:t>
            </a:r>
            <a:r>
              <a:rPr sz="1800" spc="155" dirty="0">
                <a:latin typeface="Liberation Sans Narrow"/>
                <a:cs typeface="Liberation Sans Narrow"/>
              </a:rPr>
              <a:t>with</a:t>
            </a:r>
            <a:r>
              <a:rPr sz="1800" spc="-15" dirty="0">
                <a:latin typeface="Liberation Sans Narrow"/>
                <a:cs typeface="Liberation Sans Narrow"/>
              </a:rPr>
              <a:t> </a:t>
            </a:r>
            <a:r>
              <a:rPr sz="1800" b="1" spc="-85" dirty="0">
                <a:solidFill>
                  <a:srgbClr val="FF0000"/>
                </a:solidFill>
                <a:latin typeface="Trebuchet MS"/>
                <a:cs typeface="Trebuchet MS"/>
              </a:rPr>
              <a:t>labeled</a:t>
            </a:r>
            <a:r>
              <a:rPr sz="1800" b="1" spc="-1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FF0000"/>
                </a:solidFill>
                <a:latin typeface="Trebuchet MS"/>
                <a:cs typeface="Trebuchet MS"/>
              </a:rPr>
              <a:t>hate</a:t>
            </a:r>
            <a:r>
              <a:rPr sz="1800" b="1" spc="-1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spc="-100" dirty="0">
                <a:solidFill>
                  <a:srgbClr val="FF0000"/>
                </a:solidFill>
                <a:latin typeface="Trebuchet MS"/>
                <a:cs typeface="Trebuchet MS"/>
              </a:rPr>
              <a:t>speech</a:t>
            </a:r>
            <a:r>
              <a:rPr sz="1800" b="1" spc="-1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FF0000"/>
                </a:solidFill>
                <a:latin typeface="Trebuchet MS"/>
                <a:cs typeface="Trebuchet MS"/>
              </a:rPr>
              <a:t>data</a:t>
            </a:r>
            <a:r>
              <a:rPr sz="1800" b="1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latin typeface="Liberation Sans Narrow"/>
                <a:cs typeface="Liberation Sans Narrow"/>
              </a:rPr>
              <a:t>(humanly</a:t>
            </a:r>
            <a:r>
              <a:rPr sz="1800" spc="-20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annotated)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6783" y="2628896"/>
            <a:ext cx="389509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sz="1800" b="1" spc="-65" dirty="0">
                <a:latin typeface="Trebuchet MS"/>
                <a:cs typeface="Trebuchet MS"/>
              </a:rPr>
              <a:t>Supported</a:t>
            </a:r>
            <a:r>
              <a:rPr sz="1800" b="1" spc="-10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languages: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115"/>
              </a:lnSpc>
            </a:pPr>
            <a:r>
              <a:rPr sz="1800" i="1" spc="60" dirty="0">
                <a:latin typeface="Liberation Sans Narrow"/>
                <a:cs typeface="Liberation Sans Narrow"/>
              </a:rPr>
              <a:t>Arabic,</a:t>
            </a:r>
            <a:r>
              <a:rPr sz="1800" i="1" spc="-75" dirty="0">
                <a:latin typeface="Liberation Sans Narrow"/>
                <a:cs typeface="Liberation Sans Narrow"/>
              </a:rPr>
              <a:t> </a:t>
            </a:r>
            <a:r>
              <a:rPr sz="1800" i="1" dirty="0">
                <a:latin typeface="Liberation Sans Narrow"/>
                <a:cs typeface="Liberation Sans Narrow"/>
              </a:rPr>
              <a:t>Chinese</a:t>
            </a:r>
            <a:r>
              <a:rPr sz="1800" i="1" spc="15" dirty="0">
                <a:latin typeface="Liberation Sans Narrow"/>
                <a:cs typeface="Liberation Sans Narrow"/>
              </a:rPr>
              <a:t> </a:t>
            </a:r>
            <a:r>
              <a:rPr sz="1800" i="1" spc="75" dirty="0">
                <a:latin typeface="Liberation Sans Narrow"/>
                <a:cs typeface="Liberation Sans Narrow"/>
              </a:rPr>
              <a:t>(standard</a:t>
            </a:r>
            <a:r>
              <a:rPr sz="1800" i="1" spc="15" dirty="0">
                <a:latin typeface="Liberation Sans Narrow"/>
                <a:cs typeface="Liberation Sans Narrow"/>
              </a:rPr>
              <a:t> </a:t>
            </a:r>
            <a:r>
              <a:rPr sz="1800" i="1" spc="90" dirty="0">
                <a:latin typeface="Liberation Sans Narrow"/>
                <a:cs typeface="Liberation Sans Narrow"/>
              </a:rPr>
              <a:t>and</a:t>
            </a:r>
            <a:r>
              <a:rPr sz="1800" i="1" spc="15" dirty="0">
                <a:latin typeface="Liberation Sans Narrow"/>
                <a:cs typeface="Liberation Sans Narrow"/>
              </a:rPr>
              <a:t> </a:t>
            </a:r>
            <a:r>
              <a:rPr sz="1800" i="1" spc="80" dirty="0">
                <a:latin typeface="Liberation Sans Narrow"/>
                <a:cs typeface="Liberation Sans Narrow"/>
              </a:rPr>
              <a:t>traditional),</a:t>
            </a:r>
            <a:endParaRPr sz="1800">
              <a:latin typeface="Liberation Sans Narrow"/>
              <a:cs typeface="Liberation Sans Narrow"/>
            </a:endParaRPr>
          </a:p>
          <a:p>
            <a:pPr marL="12700" marR="325120">
              <a:lnSpc>
                <a:spcPts val="2200"/>
              </a:lnSpc>
              <a:spcBef>
                <a:spcPts val="80"/>
              </a:spcBef>
            </a:pPr>
            <a:r>
              <a:rPr sz="1800" i="1" spc="85" dirty="0">
                <a:latin typeface="Liberation Sans Narrow"/>
                <a:cs typeface="Liberation Sans Narrow"/>
              </a:rPr>
              <a:t>Dutch,</a:t>
            </a:r>
            <a:r>
              <a:rPr sz="1800" i="1" spc="30" dirty="0">
                <a:latin typeface="Liberation Sans Narrow"/>
                <a:cs typeface="Liberation Sans Narrow"/>
              </a:rPr>
              <a:t> </a:t>
            </a:r>
            <a:r>
              <a:rPr sz="1800" i="1" spc="50" dirty="0">
                <a:latin typeface="Liberation Sans Narrow"/>
                <a:cs typeface="Liberation Sans Narrow"/>
              </a:rPr>
              <a:t>English,</a:t>
            </a:r>
            <a:r>
              <a:rPr sz="1800" i="1" spc="30" dirty="0">
                <a:latin typeface="Liberation Sans Narrow"/>
                <a:cs typeface="Liberation Sans Narrow"/>
              </a:rPr>
              <a:t> </a:t>
            </a:r>
            <a:r>
              <a:rPr sz="1800" i="1" spc="10" dirty="0">
                <a:latin typeface="Liberation Sans Narrow"/>
                <a:cs typeface="Liberation Sans Narrow"/>
              </a:rPr>
              <a:t>French,</a:t>
            </a:r>
            <a:r>
              <a:rPr sz="1800" i="1" spc="-60" dirty="0">
                <a:latin typeface="Liberation Sans Narrow"/>
                <a:cs typeface="Liberation Sans Narrow"/>
              </a:rPr>
              <a:t> </a:t>
            </a:r>
            <a:r>
              <a:rPr sz="1800" i="1" spc="75" dirty="0">
                <a:latin typeface="Liberation Sans Narrow"/>
                <a:cs typeface="Liberation Sans Narrow"/>
              </a:rPr>
              <a:t>German,</a:t>
            </a:r>
            <a:r>
              <a:rPr sz="1800" i="1" spc="30" dirty="0">
                <a:latin typeface="Liberation Sans Narrow"/>
                <a:cs typeface="Liberation Sans Narrow"/>
              </a:rPr>
              <a:t> </a:t>
            </a:r>
            <a:r>
              <a:rPr sz="1800" i="1" spc="70" dirty="0">
                <a:latin typeface="Liberation Sans Narrow"/>
                <a:cs typeface="Liberation Sans Narrow"/>
              </a:rPr>
              <a:t>Hindi, </a:t>
            </a:r>
            <a:r>
              <a:rPr sz="1800" i="1" spc="85" dirty="0">
                <a:latin typeface="Liberation Sans Narrow"/>
                <a:cs typeface="Liberation Sans Narrow"/>
              </a:rPr>
              <a:t>Italian,</a:t>
            </a:r>
            <a:r>
              <a:rPr sz="1800" i="1" spc="-45" dirty="0">
                <a:latin typeface="Liberation Sans Narrow"/>
                <a:cs typeface="Liberation Sans Narrow"/>
              </a:rPr>
              <a:t> </a:t>
            </a:r>
            <a:r>
              <a:rPr sz="1800" i="1" dirty="0">
                <a:latin typeface="Liberation Sans Narrow"/>
                <a:cs typeface="Liberation Sans Narrow"/>
              </a:rPr>
              <a:t>Japanese,</a:t>
            </a:r>
            <a:r>
              <a:rPr sz="1800" i="1" spc="80" dirty="0">
                <a:latin typeface="Liberation Sans Narrow"/>
                <a:cs typeface="Liberation Sans Narrow"/>
              </a:rPr>
              <a:t> </a:t>
            </a:r>
            <a:r>
              <a:rPr sz="1800" i="1" spc="45" dirty="0">
                <a:latin typeface="Liberation Sans Narrow"/>
                <a:cs typeface="Liberation Sans Narrow"/>
              </a:rPr>
              <a:t>Portuguese,</a:t>
            </a:r>
            <a:r>
              <a:rPr sz="1800" i="1" spc="-15" dirty="0">
                <a:latin typeface="Liberation Sans Narrow"/>
                <a:cs typeface="Liberation Sans Narrow"/>
              </a:rPr>
              <a:t> </a:t>
            </a:r>
            <a:r>
              <a:rPr sz="1800" i="1" spc="40" dirty="0">
                <a:latin typeface="Liberation Sans Narrow"/>
                <a:cs typeface="Liberation Sans Narrow"/>
              </a:rPr>
              <a:t>Spanish</a:t>
            </a:r>
            <a:endParaRPr sz="1800">
              <a:latin typeface="Liberation Sans Narrow"/>
              <a:cs typeface="Liberation Sans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3381" y="4652637"/>
            <a:ext cx="4573819" cy="12797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3109" y="3331625"/>
            <a:ext cx="479298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5"/>
              </a:lnSpc>
              <a:spcBef>
                <a:spcPts val="100"/>
              </a:spcBef>
            </a:pPr>
            <a:r>
              <a:rPr sz="1800" b="1" spc="-75" dirty="0">
                <a:latin typeface="Trebuchet MS"/>
                <a:cs typeface="Trebuchet MS"/>
              </a:rPr>
              <a:t>Which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models?</a:t>
            </a:r>
            <a:endParaRPr sz="1800">
              <a:latin typeface="Trebuchet MS"/>
              <a:cs typeface="Trebuchet MS"/>
            </a:endParaRPr>
          </a:p>
          <a:p>
            <a:pPr marL="12700" marR="108585">
              <a:lnSpc>
                <a:spcPts val="2070"/>
              </a:lnSpc>
              <a:spcBef>
                <a:spcPts val="30"/>
              </a:spcBef>
            </a:pPr>
            <a:r>
              <a:rPr sz="1800" spc="100" dirty="0">
                <a:latin typeface="Liberation Sans Narrow"/>
                <a:cs typeface="Liberation Sans Narrow"/>
              </a:rPr>
              <a:t>All</a:t>
            </a:r>
            <a:r>
              <a:rPr sz="1800" spc="-30" dirty="0">
                <a:latin typeface="Liberation Sans Narrow"/>
                <a:cs typeface="Liberation Sans Narrow"/>
              </a:rPr>
              <a:t> </a:t>
            </a:r>
            <a:r>
              <a:rPr sz="1800" spc="130" dirty="0">
                <a:latin typeface="Liberation Sans Narrow"/>
                <a:cs typeface="Liberation Sans Narrow"/>
              </a:rPr>
              <a:t>the</a:t>
            </a:r>
            <a:r>
              <a:rPr sz="1800" spc="-15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HAP</a:t>
            </a:r>
            <a:r>
              <a:rPr sz="1800" spc="-20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detectors</a:t>
            </a:r>
            <a:r>
              <a:rPr sz="1800" spc="-20" dirty="0">
                <a:latin typeface="Liberation Sans Narrow"/>
                <a:cs typeface="Liberation Sans Narrow"/>
              </a:rPr>
              <a:t> </a:t>
            </a:r>
            <a:r>
              <a:rPr sz="1800" spc="75" dirty="0">
                <a:latin typeface="Liberation Sans Narrow"/>
                <a:cs typeface="Liberation Sans Narrow"/>
              </a:rPr>
              <a:t>are</a:t>
            </a:r>
            <a:r>
              <a:rPr sz="1800" spc="-15" dirty="0">
                <a:latin typeface="Liberation Sans Narrow"/>
                <a:cs typeface="Liberation Sans Narrow"/>
              </a:rPr>
              <a:t> </a:t>
            </a:r>
            <a:r>
              <a:rPr sz="1800" dirty="0">
                <a:latin typeface="Liberation Sans Narrow"/>
                <a:cs typeface="Liberation Sans Narrow"/>
              </a:rPr>
              <a:t>BERT-</a:t>
            </a:r>
            <a:r>
              <a:rPr sz="1800" spc="80" dirty="0">
                <a:latin typeface="Liberation Sans Narrow"/>
                <a:cs typeface="Liberation Sans Narrow"/>
              </a:rPr>
              <a:t>like</a:t>
            </a:r>
            <a:r>
              <a:rPr sz="1800" spc="-20" dirty="0">
                <a:latin typeface="Liberation Sans Narrow"/>
                <a:cs typeface="Liberation Sans Narrow"/>
              </a:rPr>
              <a:t> </a:t>
            </a:r>
            <a:r>
              <a:rPr sz="1800" spc="90" dirty="0">
                <a:latin typeface="Liberation Sans Narrow"/>
                <a:cs typeface="Liberation Sans Narrow"/>
              </a:rPr>
              <a:t>(</a:t>
            </a:r>
            <a:r>
              <a:rPr sz="1800" spc="90" dirty="0">
                <a:solidFill>
                  <a:srgbClr val="000080"/>
                </a:solidFill>
                <a:latin typeface="Liberation Sans Narrow"/>
                <a:cs typeface="Liberation Sans Narrow"/>
              </a:rPr>
              <a:t>Devlin</a:t>
            </a:r>
            <a:r>
              <a:rPr sz="1800" spc="-20" dirty="0">
                <a:solidFill>
                  <a:srgbClr val="000080"/>
                </a:solidFill>
                <a:latin typeface="Liberation Sans Narrow"/>
                <a:cs typeface="Liberation Sans Narrow"/>
              </a:rPr>
              <a:t> </a:t>
            </a:r>
            <a:r>
              <a:rPr sz="1800" spc="135" dirty="0">
                <a:solidFill>
                  <a:srgbClr val="000080"/>
                </a:solidFill>
                <a:latin typeface="Liberation Sans Narrow"/>
                <a:cs typeface="Liberation Sans Narrow"/>
              </a:rPr>
              <a:t>et</a:t>
            </a:r>
            <a:r>
              <a:rPr sz="1800" spc="-20" dirty="0">
                <a:solidFill>
                  <a:srgbClr val="000080"/>
                </a:solidFill>
                <a:latin typeface="Liberation Sans Narrow"/>
                <a:cs typeface="Liberation Sans Narrow"/>
              </a:rPr>
              <a:t> </a:t>
            </a:r>
            <a:r>
              <a:rPr sz="1800" spc="40" dirty="0">
                <a:solidFill>
                  <a:srgbClr val="000080"/>
                </a:solidFill>
                <a:latin typeface="Liberation Sans Narrow"/>
                <a:cs typeface="Liberation Sans Narrow"/>
              </a:rPr>
              <a:t>al.</a:t>
            </a:r>
            <a:r>
              <a:rPr sz="1800" spc="40" dirty="0">
                <a:latin typeface="Liberation Sans Narrow"/>
                <a:cs typeface="Liberation Sans Narrow"/>
              </a:rPr>
              <a:t>, </a:t>
            </a:r>
            <a:r>
              <a:rPr sz="1800" spc="60" dirty="0">
                <a:solidFill>
                  <a:srgbClr val="000080"/>
                </a:solidFill>
                <a:latin typeface="Liberation Sans Narrow"/>
                <a:cs typeface="Liberation Sans Narrow"/>
              </a:rPr>
              <a:t>2019</a:t>
            </a:r>
            <a:r>
              <a:rPr sz="1800" spc="60" dirty="0">
                <a:latin typeface="Liberation Sans Narrow"/>
                <a:cs typeface="Liberation Sans Narrow"/>
              </a:rPr>
              <a:t>)</a:t>
            </a:r>
            <a:r>
              <a:rPr sz="1800" spc="-45" dirty="0">
                <a:latin typeface="Liberation Sans Narrow"/>
                <a:cs typeface="Liberation Sans Narrow"/>
              </a:rPr>
              <a:t> </a:t>
            </a:r>
            <a:r>
              <a:rPr sz="1800" spc="120" dirty="0">
                <a:latin typeface="Liberation Sans Narrow"/>
                <a:cs typeface="Liberation Sans Narrow"/>
              </a:rPr>
              <a:t>transformer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models,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120" dirty="0">
                <a:latin typeface="Liberation Sans Narrow"/>
                <a:cs typeface="Liberation Sans Narrow"/>
              </a:rPr>
              <a:t>which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114" dirty="0">
                <a:latin typeface="Liberation Sans Narrow"/>
                <a:cs typeface="Liberation Sans Narrow"/>
              </a:rPr>
              <a:t>were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95" dirty="0">
                <a:latin typeface="Liberation Sans Narrow"/>
                <a:cs typeface="Liberation Sans Narrow"/>
              </a:rPr>
              <a:t>created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95" dirty="0">
                <a:latin typeface="Liberation Sans Narrow"/>
                <a:cs typeface="Liberation Sans Narrow"/>
              </a:rPr>
              <a:t>by</a:t>
            </a:r>
            <a:endParaRPr sz="1800">
              <a:latin typeface="Liberation Sans Narrow"/>
              <a:cs typeface="Liberation Sans Narrow"/>
            </a:endParaRPr>
          </a:p>
          <a:p>
            <a:pPr marL="12700" marR="5080">
              <a:lnSpc>
                <a:spcPts val="2200"/>
              </a:lnSpc>
              <a:spcBef>
                <a:spcPts val="20"/>
              </a:spcBef>
            </a:pPr>
            <a:r>
              <a:rPr sz="1800" spc="120" dirty="0">
                <a:latin typeface="Liberation Sans Narrow"/>
                <a:cs typeface="Liberation Sans Narrow"/>
              </a:rPr>
              <a:t>finetuning</a:t>
            </a:r>
            <a:r>
              <a:rPr sz="1800" spc="-15" dirty="0">
                <a:latin typeface="Liberation Sans Narrow"/>
                <a:cs typeface="Liberation Sans Narrow"/>
              </a:rPr>
              <a:t> </a:t>
            </a:r>
            <a:r>
              <a:rPr sz="1800" spc="110" dirty="0">
                <a:latin typeface="Liberation Sans Narrow"/>
                <a:cs typeface="Liberation Sans Narrow"/>
              </a:rPr>
              <a:t>open-</a:t>
            </a:r>
            <a:r>
              <a:rPr sz="1800" spc="70" dirty="0">
                <a:latin typeface="Liberation Sans Narrow"/>
                <a:cs typeface="Liberation Sans Narrow"/>
              </a:rPr>
              <a:t>source</a:t>
            </a:r>
            <a:r>
              <a:rPr sz="1800" spc="-5" dirty="0">
                <a:latin typeface="Liberation Sans Narrow"/>
                <a:cs typeface="Liberation Sans Narrow"/>
              </a:rPr>
              <a:t> </a:t>
            </a:r>
            <a:r>
              <a:rPr sz="1800" dirty="0">
                <a:latin typeface="Liberation Sans Narrow"/>
                <a:cs typeface="Liberation Sans Narrow"/>
              </a:rPr>
              <a:t>BERT-</a:t>
            </a:r>
            <a:r>
              <a:rPr sz="1800" spc="55" dirty="0">
                <a:latin typeface="Liberation Sans Narrow"/>
                <a:cs typeface="Liberation Sans Narrow"/>
              </a:rPr>
              <a:t>base</a:t>
            </a:r>
            <a:r>
              <a:rPr sz="1800" dirty="0">
                <a:latin typeface="Liberation Sans Narrow"/>
                <a:cs typeface="Liberation Sans Narrow"/>
              </a:rPr>
              <a:t> </a:t>
            </a:r>
            <a:r>
              <a:rPr sz="1800" spc="105" dirty="0">
                <a:latin typeface="Liberation Sans Narrow"/>
                <a:cs typeface="Liberation Sans Narrow"/>
              </a:rPr>
              <a:t>models</a:t>
            </a:r>
            <a:r>
              <a:rPr sz="1800" spc="-15" dirty="0">
                <a:latin typeface="Liberation Sans Narrow"/>
                <a:cs typeface="Liberation Sans Narrow"/>
              </a:rPr>
              <a:t> </a:t>
            </a:r>
            <a:r>
              <a:rPr sz="1800" spc="125" dirty="0">
                <a:latin typeface="Liberation Sans Narrow"/>
                <a:cs typeface="Liberation Sans Narrow"/>
              </a:rPr>
              <a:t>on</a:t>
            </a:r>
            <a:r>
              <a:rPr sz="1800" spc="-10" dirty="0">
                <a:latin typeface="Liberation Sans Narrow"/>
                <a:cs typeface="Liberation Sans Narrow"/>
              </a:rPr>
              <a:t> </a:t>
            </a:r>
            <a:r>
              <a:rPr sz="1800" spc="90" dirty="0">
                <a:latin typeface="Liberation Sans Narrow"/>
                <a:cs typeface="Liberation Sans Narrow"/>
              </a:rPr>
              <a:t>data </a:t>
            </a:r>
            <a:r>
              <a:rPr sz="1800" spc="85" dirty="0">
                <a:latin typeface="Liberation Sans Narrow"/>
                <a:cs typeface="Liberation Sans Narrow"/>
              </a:rPr>
              <a:t>labeled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130" dirty="0">
                <a:latin typeface="Liberation Sans Narrow"/>
                <a:cs typeface="Liberation Sans Narrow"/>
              </a:rPr>
              <a:t>for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-20" dirty="0">
                <a:latin typeface="Liberation Sans Narrow"/>
                <a:cs typeface="Liberation Sans Narrow"/>
              </a:rPr>
              <a:t>HAP.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3109" y="4948767"/>
            <a:ext cx="451739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sz="1800" spc="80" dirty="0">
                <a:latin typeface="Liberation Sans Narrow"/>
                <a:cs typeface="Liberation Sans Narrow"/>
              </a:rPr>
              <a:t>For</a:t>
            </a:r>
            <a:r>
              <a:rPr sz="1800" spc="-50" dirty="0">
                <a:latin typeface="Liberation Sans Narrow"/>
                <a:cs typeface="Liberation Sans Narrow"/>
              </a:rPr>
              <a:t> </a:t>
            </a:r>
            <a:r>
              <a:rPr sz="1800" spc="70" dirty="0">
                <a:latin typeface="Liberation Sans Narrow"/>
                <a:cs typeface="Liberation Sans Narrow"/>
              </a:rPr>
              <a:t>English,</a:t>
            </a:r>
            <a:r>
              <a:rPr sz="1800" spc="-45" dirty="0">
                <a:latin typeface="Liberation Sans Narrow"/>
                <a:cs typeface="Liberation Sans Narrow"/>
              </a:rPr>
              <a:t> </a:t>
            </a:r>
            <a:r>
              <a:rPr sz="1800" spc="140" dirty="0">
                <a:latin typeface="Liberation Sans Narrow"/>
                <a:cs typeface="Liberation Sans Narrow"/>
              </a:rPr>
              <a:t>we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60" dirty="0">
                <a:latin typeface="Liberation Sans Narrow"/>
                <a:cs typeface="Liberation Sans Narrow"/>
              </a:rPr>
              <a:t>also</a:t>
            </a:r>
            <a:r>
              <a:rPr sz="1800" spc="-45" dirty="0">
                <a:latin typeface="Liberation Sans Narrow"/>
                <a:cs typeface="Liberation Sans Narrow"/>
              </a:rPr>
              <a:t> </a:t>
            </a:r>
            <a:r>
              <a:rPr sz="1800" spc="90" dirty="0">
                <a:latin typeface="Liberation Sans Narrow"/>
                <a:cs typeface="Liberation Sans Narrow"/>
              </a:rPr>
              <a:t>have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-50" dirty="0">
                <a:latin typeface="Liberation Sans Narrow"/>
                <a:cs typeface="Liberation Sans Narrow"/>
              </a:rPr>
              <a:t>a</a:t>
            </a:r>
            <a:endParaRPr sz="1800">
              <a:latin typeface="Liberation Sans Narrow"/>
              <a:cs typeface="Liberation Sans Narrow"/>
            </a:endParaRPr>
          </a:p>
          <a:p>
            <a:pPr marL="12700">
              <a:lnSpc>
                <a:spcPts val="2115"/>
              </a:lnSpc>
            </a:pPr>
            <a:r>
              <a:rPr sz="1800" spc="90" dirty="0">
                <a:latin typeface="Liberation Sans Narrow"/>
                <a:cs typeface="Liberation Sans Narrow"/>
              </a:rPr>
              <a:t>small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and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105" dirty="0">
                <a:latin typeface="Liberation Sans Narrow"/>
                <a:cs typeface="Liberation Sans Narrow"/>
              </a:rPr>
              <a:t>efficient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HAP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114" dirty="0">
                <a:latin typeface="Liberation Sans Narrow"/>
                <a:cs typeface="Liberation Sans Narrow"/>
              </a:rPr>
              <a:t>detection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120" dirty="0">
                <a:latin typeface="Liberation Sans Narrow"/>
                <a:cs typeface="Liberation Sans Narrow"/>
              </a:rPr>
              <a:t>model,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which</a:t>
            </a:r>
            <a:endParaRPr sz="1800">
              <a:latin typeface="Liberation Sans Narrow"/>
              <a:cs typeface="Liberation Sans Narrow"/>
            </a:endParaRPr>
          </a:p>
          <a:p>
            <a:pPr marL="12700" marR="5080">
              <a:lnSpc>
                <a:spcPts val="2200"/>
              </a:lnSpc>
              <a:spcBef>
                <a:spcPts val="80"/>
              </a:spcBef>
            </a:pPr>
            <a:r>
              <a:rPr sz="1800" spc="140" dirty="0">
                <a:latin typeface="Liberation Sans Narrow"/>
                <a:cs typeface="Liberation Sans Narrow"/>
              </a:rPr>
              <a:t>we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refer</a:t>
            </a:r>
            <a:r>
              <a:rPr sz="1800" spc="-45" dirty="0">
                <a:latin typeface="Liberation Sans Narrow"/>
                <a:cs typeface="Liberation Sans Narrow"/>
              </a:rPr>
              <a:t> </a:t>
            </a:r>
            <a:r>
              <a:rPr sz="1800" spc="170" dirty="0">
                <a:latin typeface="Liberation Sans Narrow"/>
                <a:cs typeface="Liberation Sans Narrow"/>
              </a:rPr>
              <a:t>to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dirty="0">
                <a:latin typeface="Liberation Sans Narrow"/>
                <a:cs typeface="Liberation Sans Narrow"/>
              </a:rPr>
              <a:t>as</a:t>
            </a:r>
            <a:r>
              <a:rPr sz="1800" spc="-45" dirty="0">
                <a:latin typeface="Liberation Sans Narrow"/>
                <a:cs typeface="Liberation Sans Narrow"/>
              </a:rPr>
              <a:t> </a:t>
            </a:r>
            <a:r>
              <a:rPr sz="1800" spc="85" dirty="0">
                <a:latin typeface="Liberation Sans Narrow"/>
                <a:cs typeface="Liberation Sans Narrow"/>
              </a:rPr>
              <a:t>IBM_HAP_Distilled_4L_En,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which </a:t>
            </a:r>
            <a:r>
              <a:rPr sz="1800" spc="110" dirty="0">
                <a:latin typeface="Liberation Sans Narrow"/>
                <a:cs typeface="Liberation Sans Narrow"/>
              </a:rPr>
              <a:t>follows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135" dirty="0">
                <a:latin typeface="Liberation Sans Narrow"/>
                <a:cs typeface="Liberation Sans Narrow"/>
              </a:rPr>
              <a:t>the</a:t>
            </a:r>
            <a:r>
              <a:rPr sz="1800" spc="-30" dirty="0">
                <a:latin typeface="Liberation Sans Narrow"/>
                <a:cs typeface="Liberation Sans Narrow"/>
              </a:rPr>
              <a:t> </a:t>
            </a:r>
            <a:r>
              <a:rPr sz="1800" spc="110" dirty="0">
                <a:latin typeface="Liberation Sans Narrow"/>
                <a:cs typeface="Liberation Sans Narrow"/>
              </a:rPr>
              <a:t>IBM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spc="70" dirty="0">
                <a:latin typeface="Liberation Sans Narrow"/>
                <a:cs typeface="Liberation Sans Narrow"/>
              </a:rPr>
              <a:t>Piccolo</a:t>
            </a:r>
            <a:r>
              <a:rPr sz="1800" spc="-110" dirty="0">
                <a:latin typeface="Liberation Sans Narrow"/>
                <a:cs typeface="Liberation Sans Narrow"/>
              </a:rPr>
              <a:t> </a:t>
            </a:r>
            <a:r>
              <a:rPr sz="1800" spc="100" dirty="0">
                <a:latin typeface="Liberation Sans Narrow"/>
                <a:cs typeface="Liberation Sans Narrow"/>
              </a:rPr>
              <a:t>Architecture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73489" y="1892296"/>
            <a:ext cx="162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latin typeface="Liberation Sans Narrow"/>
                <a:cs typeface="Liberation Sans Narrow"/>
              </a:rPr>
              <a:t>Link</a:t>
            </a:r>
            <a:r>
              <a:rPr sz="1800" spc="-45" dirty="0">
                <a:latin typeface="Liberation Sans Narrow"/>
                <a:cs typeface="Liberation Sans Narrow"/>
              </a:rPr>
              <a:t> </a:t>
            </a:r>
            <a:r>
              <a:rPr sz="1800" spc="170" dirty="0">
                <a:latin typeface="Liberation Sans Narrow"/>
                <a:cs typeface="Liberation Sans Narrow"/>
              </a:rPr>
              <a:t>to</a:t>
            </a:r>
            <a:r>
              <a:rPr sz="1800" spc="-35" dirty="0">
                <a:latin typeface="Liberation Sans Narrow"/>
                <a:cs typeface="Liberation Sans Narrow"/>
              </a:rPr>
              <a:t> </a:t>
            </a:r>
            <a:r>
              <a:rPr sz="1800" spc="130" dirty="0">
                <a:latin typeface="Liberation Sans Narrow"/>
                <a:cs typeface="Liberation Sans Narrow"/>
              </a:rPr>
              <a:t>the</a:t>
            </a:r>
            <a:r>
              <a:rPr sz="1800" spc="-40" dirty="0">
                <a:latin typeface="Liberation Sans Narrow"/>
                <a:cs typeface="Liberation Sans Narrow"/>
              </a:rPr>
              <a:t> </a:t>
            </a:r>
            <a:r>
              <a:rPr sz="1800" u="sng" spc="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iberation Sans Narrow"/>
                <a:cs typeface="Liberation Sans Narrow"/>
              </a:rPr>
              <a:t>paper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3109" y="2510367"/>
            <a:ext cx="1534160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sz="1800" b="1" spc="-75" dirty="0">
                <a:latin typeface="Trebuchet MS"/>
                <a:cs typeface="Trebuchet MS"/>
              </a:rPr>
              <a:t>Which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data?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115"/>
              </a:lnSpc>
            </a:pPr>
            <a:r>
              <a:rPr sz="1800" dirty="0">
                <a:latin typeface="Carlito"/>
                <a:cs typeface="Carlito"/>
              </a:rPr>
              <a:t>Link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u="sng" spc="-10" dirty="0">
                <a:solidFill>
                  <a:srgbClr val="954F72"/>
                </a:solidFill>
                <a:uFill>
                  <a:solidFill>
                    <a:srgbClr val="954F72"/>
                  </a:solidFill>
                </a:uFill>
                <a:latin typeface="Carlito"/>
                <a:cs typeface="Carlito"/>
              </a:rPr>
              <a:t>datasets</a:t>
            </a:r>
            <a:r>
              <a:rPr sz="1800" u="none" spc="-10" dirty="0">
                <a:latin typeface="Carlito"/>
                <a:cs typeface="Carlito"/>
              </a:rPr>
              <a:t>.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35" dirty="0"/>
              <a:t>Fairness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916939" y="6421967"/>
            <a:ext cx="11493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February</a:t>
            </a:r>
            <a:r>
              <a:rPr sz="1200" spc="-4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21,</a:t>
            </a:r>
            <a:r>
              <a:rPr sz="1200" spc="-30" dirty="0">
                <a:latin typeface="Carlito"/>
                <a:cs typeface="Carlito"/>
              </a:rPr>
              <a:t> </a:t>
            </a:r>
            <a:r>
              <a:rPr sz="1200" spc="-20" dirty="0">
                <a:latin typeface="Carlito"/>
                <a:cs typeface="Carlito"/>
              </a:rPr>
              <a:t>2024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2815" y="642196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rlito"/>
                <a:cs typeface="Carlito"/>
              </a:rPr>
              <a:t>53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1008" y="1587508"/>
            <a:ext cx="8357870" cy="24320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54200"/>
              </a:lnSpc>
              <a:spcBef>
                <a:spcPts val="65"/>
              </a:spcBef>
            </a:pPr>
            <a:r>
              <a:rPr sz="2000" spc="-150" dirty="0">
                <a:latin typeface="Verdana"/>
                <a:cs typeface="Verdana"/>
              </a:rPr>
              <a:t>When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120" dirty="0">
                <a:latin typeface="Verdana"/>
                <a:cs typeface="Verdana"/>
              </a:rPr>
              <a:t>creating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AI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assets,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we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have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140" dirty="0">
                <a:latin typeface="Verdana"/>
                <a:cs typeface="Verdana"/>
              </a:rPr>
              <a:t>a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b="1" spc="114" dirty="0">
                <a:solidFill>
                  <a:srgbClr val="FF0000"/>
                </a:solidFill>
                <a:latin typeface="Liberation Sans Narrow"/>
                <a:cs typeface="Liberation Sans Narrow"/>
              </a:rPr>
              <a:t>societal</a:t>
            </a:r>
            <a:r>
              <a:rPr sz="2000" spc="114" dirty="0">
                <a:latin typeface="Verdana"/>
                <a:cs typeface="Verdana"/>
              </a:rPr>
              <a:t>,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b="1" spc="10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legal</a:t>
            </a:r>
            <a:r>
              <a:rPr sz="2000" spc="100" dirty="0">
                <a:latin typeface="Verdana"/>
                <a:cs typeface="Verdana"/>
              </a:rPr>
              <a:t>,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and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b="1" spc="13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business </a:t>
            </a:r>
            <a:r>
              <a:rPr sz="2000" spc="-105" dirty="0">
                <a:latin typeface="Verdana"/>
                <a:cs typeface="Verdana"/>
              </a:rPr>
              <a:t>obligation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00" dirty="0">
                <a:latin typeface="Verdana"/>
                <a:cs typeface="Verdana"/>
              </a:rPr>
              <a:t>to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ensure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10" dirty="0">
                <a:latin typeface="Verdana"/>
                <a:cs typeface="Verdana"/>
              </a:rPr>
              <a:t>we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are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not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treating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65" dirty="0">
                <a:latin typeface="Verdana"/>
                <a:cs typeface="Verdana"/>
              </a:rPr>
              <a:t>any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45" dirty="0">
                <a:latin typeface="Verdana"/>
                <a:cs typeface="Verdana"/>
              </a:rPr>
              <a:t>member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of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40" dirty="0">
                <a:latin typeface="Verdana"/>
                <a:cs typeface="Verdana"/>
              </a:rPr>
              <a:t>a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particular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group </a:t>
            </a:r>
            <a:r>
              <a:rPr sz="2000" spc="-70" dirty="0">
                <a:latin typeface="Verdana"/>
                <a:cs typeface="Verdana"/>
              </a:rPr>
              <a:t>less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favorably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than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other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members.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85" dirty="0">
                <a:latin typeface="Trebuchet MS"/>
                <a:cs typeface="Trebuchet MS"/>
              </a:rPr>
              <a:t>We</a:t>
            </a:r>
            <a:r>
              <a:rPr sz="2400" b="1" spc="-1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do</a:t>
            </a:r>
            <a:r>
              <a:rPr sz="2400" b="1" spc="-125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not</a:t>
            </a:r>
            <a:r>
              <a:rPr sz="2400" b="1" spc="-11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want</a:t>
            </a:r>
            <a:r>
              <a:rPr sz="2400" b="1" spc="-114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to</a:t>
            </a:r>
            <a:r>
              <a:rPr sz="2400" b="1" spc="-1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enable</a:t>
            </a:r>
            <a:r>
              <a:rPr sz="2400" b="1" spc="-1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any</a:t>
            </a:r>
            <a:r>
              <a:rPr sz="2400" b="1" spc="-105" dirty="0">
                <a:latin typeface="Trebuchet MS"/>
                <a:cs typeface="Trebuchet MS"/>
              </a:rPr>
              <a:t> </a:t>
            </a:r>
            <a:r>
              <a:rPr sz="2400" b="1" spc="60" dirty="0">
                <a:latin typeface="Trebuchet MS"/>
                <a:cs typeface="Trebuchet MS"/>
              </a:rPr>
              <a:t>system</a:t>
            </a:r>
            <a:r>
              <a:rPr sz="2400" b="1" spc="-114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that</a:t>
            </a:r>
            <a:r>
              <a:rPr sz="2400" b="1" spc="-11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contributes</a:t>
            </a:r>
            <a:r>
              <a:rPr sz="2400" b="1" spc="-114" dirty="0">
                <a:latin typeface="Trebuchet MS"/>
                <a:cs typeface="Trebuchet MS"/>
              </a:rPr>
              <a:t> </a:t>
            </a:r>
            <a:r>
              <a:rPr sz="2400" b="1" spc="-25" dirty="0">
                <a:latin typeface="Trebuchet MS"/>
                <a:cs typeface="Trebuchet MS"/>
              </a:rPr>
              <a:t>to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008" y="3992025"/>
            <a:ext cx="1315720" cy="9906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00"/>
              </a:spcBef>
              <a:buFont typeface="Arial"/>
              <a:buChar char="•"/>
              <a:tabLst>
                <a:tab pos="469265" algn="l"/>
              </a:tabLst>
            </a:pPr>
            <a:r>
              <a:rPr sz="2000" spc="-100" dirty="0">
                <a:latin typeface="Verdana"/>
                <a:cs typeface="Verdana"/>
              </a:rPr>
              <a:t>Racism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400"/>
              </a:spcBef>
              <a:buFont typeface="Arial"/>
              <a:buChar char="•"/>
              <a:tabLst>
                <a:tab pos="469265" algn="l"/>
              </a:tabLst>
            </a:pPr>
            <a:r>
              <a:rPr sz="2000" spc="-120" dirty="0">
                <a:latin typeface="Verdana"/>
                <a:cs typeface="Verdana"/>
              </a:rPr>
              <a:t>Sexism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1901" y="3992025"/>
            <a:ext cx="1501775" cy="9906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00"/>
              </a:spcBef>
              <a:buFont typeface="Arial"/>
              <a:buChar char="•"/>
              <a:tabLst>
                <a:tab pos="469265" algn="l"/>
              </a:tabLst>
            </a:pPr>
            <a:r>
              <a:rPr sz="2000" spc="-95" dirty="0">
                <a:latin typeface="Verdana"/>
                <a:cs typeface="Verdana"/>
              </a:rPr>
              <a:t>Classism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400"/>
              </a:spcBef>
              <a:buFont typeface="Arial"/>
              <a:buChar char="•"/>
              <a:tabLst>
                <a:tab pos="469265" algn="l"/>
              </a:tabLst>
            </a:pPr>
            <a:r>
              <a:rPr sz="2000" spc="-10" dirty="0">
                <a:latin typeface="Verdana"/>
                <a:cs typeface="Verdana"/>
              </a:rPr>
              <a:t>Ageism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20114" y="3992025"/>
            <a:ext cx="2139950" cy="131254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00"/>
              </a:spcBef>
              <a:buFont typeface="Arial"/>
              <a:buChar char="•"/>
              <a:tabLst>
                <a:tab pos="469265" algn="l"/>
              </a:tabLst>
            </a:pPr>
            <a:r>
              <a:rPr sz="2000" spc="-10" dirty="0">
                <a:latin typeface="Verdana"/>
                <a:cs typeface="Verdana"/>
              </a:rPr>
              <a:t>Ableism</a:t>
            </a:r>
            <a:endParaRPr sz="2000">
              <a:latin typeface="Verdana"/>
              <a:cs typeface="Verdana"/>
            </a:endParaRPr>
          </a:p>
          <a:p>
            <a:pPr marL="469265" marR="5080" indent="-457200">
              <a:lnSpc>
                <a:spcPct val="105600"/>
              </a:lnSpc>
              <a:spcBef>
                <a:spcPts val="1265"/>
              </a:spcBef>
              <a:buFont typeface="Arial"/>
              <a:buChar char="•"/>
              <a:tabLst>
                <a:tab pos="469265" algn="l"/>
              </a:tabLst>
            </a:pPr>
            <a:r>
              <a:rPr sz="2000" spc="-130" dirty="0">
                <a:latin typeface="Verdana"/>
                <a:cs typeface="Verdana"/>
              </a:rPr>
              <a:t>Other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20" dirty="0">
                <a:latin typeface="Verdana"/>
                <a:cs typeface="Verdana"/>
              </a:rPr>
              <a:t>forms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of </a:t>
            </a:r>
            <a:r>
              <a:rPr sz="2000" spc="-80" dirty="0">
                <a:latin typeface="Verdana"/>
                <a:cs typeface="Verdana"/>
              </a:rPr>
              <a:t>discrimination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324" y="910167"/>
            <a:ext cx="40189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5" dirty="0"/>
              <a:t>Where’s</a:t>
            </a:r>
            <a:r>
              <a:rPr sz="4400" spc="-130" dirty="0"/>
              <a:t> </a:t>
            </a:r>
            <a:r>
              <a:rPr sz="4400" dirty="0"/>
              <a:t>the</a:t>
            </a:r>
            <a:r>
              <a:rPr sz="4400" spc="-130" dirty="0"/>
              <a:t> </a:t>
            </a:r>
            <a:r>
              <a:rPr sz="4400" spc="-10" dirty="0"/>
              <a:t>bias?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200105" y="2904261"/>
            <a:ext cx="10457815" cy="1113155"/>
            <a:chOff x="1200105" y="2904261"/>
            <a:chExt cx="10457815" cy="1113155"/>
          </a:xfrm>
        </p:grpSpPr>
        <p:sp>
          <p:nvSpPr>
            <p:cNvPr id="4" name="object 4"/>
            <p:cNvSpPr/>
            <p:nvPr/>
          </p:nvSpPr>
          <p:spPr>
            <a:xfrm>
              <a:off x="1200105" y="2904261"/>
              <a:ext cx="10457815" cy="1113155"/>
            </a:xfrm>
            <a:custGeom>
              <a:avLst/>
              <a:gdLst/>
              <a:ahLst/>
              <a:cxnLst/>
              <a:rect l="l" t="t" r="r" b="b"/>
              <a:pathLst>
                <a:path w="10457815" h="1113154">
                  <a:moveTo>
                    <a:pt x="10345985" y="0"/>
                  </a:moveTo>
                  <a:lnTo>
                    <a:pt x="111258" y="0"/>
                  </a:lnTo>
                  <a:lnTo>
                    <a:pt x="67952" y="8744"/>
                  </a:lnTo>
                  <a:lnTo>
                    <a:pt x="32587" y="32591"/>
                  </a:lnTo>
                  <a:lnTo>
                    <a:pt x="8743" y="67958"/>
                  </a:lnTo>
                  <a:lnTo>
                    <a:pt x="0" y="111264"/>
                  </a:lnTo>
                  <a:lnTo>
                    <a:pt x="0" y="1001356"/>
                  </a:lnTo>
                  <a:lnTo>
                    <a:pt x="8743" y="1044661"/>
                  </a:lnTo>
                  <a:lnTo>
                    <a:pt x="32587" y="1080023"/>
                  </a:lnTo>
                  <a:lnTo>
                    <a:pt x="67952" y="1103866"/>
                  </a:lnTo>
                  <a:lnTo>
                    <a:pt x="111258" y="1112608"/>
                  </a:lnTo>
                  <a:lnTo>
                    <a:pt x="10345985" y="1112608"/>
                  </a:lnTo>
                  <a:lnTo>
                    <a:pt x="10389291" y="1103866"/>
                  </a:lnTo>
                  <a:lnTo>
                    <a:pt x="10424658" y="1080023"/>
                  </a:lnTo>
                  <a:lnTo>
                    <a:pt x="10448505" y="1044661"/>
                  </a:lnTo>
                  <a:lnTo>
                    <a:pt x="10457249" y="1001356"/>
                  </a:lnTo>
                  <a:lnTo>
                    <a:pt x="10457249" y="111264"/>
                  </a:lnTo>
                  <a:lnTo>
                    <a:pt x="10448505" y="67958"/>
                  </a:lnTo>
                  <a:lnTo>
                    <a:pt x="10424658" y="32591"/>
                  </a:lnTo>
                  <a:lnTo>
                    <a:pt x="10389291" y="8744"/>
                  </a:lnTo>
                  <a:lnTo>
                    <a:pt x="1034598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470" y="3183467"/>
              <a:ext cx="618067" cy="62653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590215" y="3259667"/>
            <a:ext cx="19335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Carlito"/>
                <a:cs typeface="Carlito"/>
              </a:rPr>
              <a:t>Data</a:t>
            </a:r>
            <a:r>
              <a:rPr sz="2500" spc="-65" dirty="0">
                <a:latin typeface="Carlito"/>
                <a:cs typeface="Carlito"/>
              </a:rPr>
              <a:t> </a:t>
            </a:r>
            <a:r>
              <a:rPr sz="2500" dirty="0">
                <a:latin typeface="Carlito"/>
                <a:cs typeface="Carlito"/>
              </a:rPr>
              <a:t>vs.</a:t>
            </a:r>
            <a:r>
              <a:rPr sz="2500" spc="-60" dirty="0">
                <a:latin typeface="Carlito"/>
                <a:cs typeface="Carlito"/>
              </a:rPr>
              <a:t> </a:t>
            </a:r>
            <a:r>
              <a:rPr sz="2500" spc="-20" dirty="0">
                <a:latin typeface="Carlito"/>
                <a:cs typeface="Carlito"/>
              </a:rPr>
              <a:t>model</a:t>
            </a:r>
            <a:endParaRPr sz="25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70880" y="3121656"/>
            <a:ext cx="5423535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100"/>
              </a:spcBef>
            </a:pPr>
            <a:r>
              <a:rPr sz="1400" dirty="0">
                <a:latin typeface="Lato"/>
                <a:cs typeface="Lato"/>
              </a:rPr>
              <a:t>Are</a:t>
            </a:r>
            <a:r>
              <a:rPr sz="1400" spc="-30" dirty="0"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C00000"/>
                </a:solidFill>
                <a:latin typeface="Lato"/>
                <a:cs typeface="Lato"/>
              </a:rPr>
              <a:t>predictions</a:t>
            </a:r>
            <a:r>
              <a:rPr sz="1400" b="1" spc="-10" dirty="0">
                <a:solidFill>
                  <a:srgbClr val="C00000"/>
                </a:solidFill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consistently</a:t>
            </a:r>
            <a:r>
              <a:rPr sz="1400" spc="-2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unfavorable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for</a:t>
            </a:r>
            <a:r>
              <a:rPr sz="1400" spc="-2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individuals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or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spc="-10" dirty="0">
                <a:latin typeface="Lato"/>
                <a:cs typeface="Lato"/>
              </a:rPr>
              <a:t>groups? </a:t>
            </a:r>
            <a:r>
              <a:rPr sz="1400" dirty="0">
                <a:latin typeface="Lato"/>
                <a:cs typeface="Lato"/>
              </a:rPr>
              <a:t>Are</a:t>
            </a:r>
            <a:r>
              <a:rPr sz="1400" spc="-35" dirty="0"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C00000"/>
                </a:solidFill>
                <a:latin typeface="Lato"/>
                <a:cs typeface="Lato"/>
              </a:rPr>
              <a:t>training</a:t>
            </a:r>
            <a:r>
              <a:rPr sz="1400" b="1" spc="-30" dirty="0">
                <a:solidFill>
                  <a:srgbClr val="C00000"/>
                </a:solidFill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C00000"/>
                </a:solidFill>
                <a:latin typeface="Lato"/>
                <a:cs typeface="Lato"/>
              </a:rPr>
              <a:t>labels</a:t>
            </a:r>
            <a:r>
              <a:rPr sz="1400" b="1" spc="-10" dirty="0">
                <a:solidFill>
                  <a:srgbClr val="C00000"/>
                </a:solidFill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consistently</a:t>
            </a:r>
            <a:r>
              <a:rPr sz="1400" spc="-3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unfavorable</a:t>
            </a:r>
            <a:r>
              <a:rPr sz="1400" spc="-3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for</a:t>
            </a:r>
            <a:r>
              <a:rPr sz="1400" spc="-2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individuals</a:t>
            </a:r>
            <a:r>
              <a:rPr sz="1400" spc="-3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or</a:t>
            </a:r>
            <a:r>
              <a:rPr sz="1400" spc="-30" dirty="0">
                <a:latin typeface="Lato"/>
                <a:cs typeface="Lato"/>
              </a:rPr>
              <a:t> </a:t>
            </a:r>
            <a:r>
              <a:rPr sz="1400" spc="-10" dirty="0">
                <a:latin typeface="Lato"/>
                <a:cs typeface="Lato"/>
              </a:rPr>
              <a:t>groups?</a:t>
            </a:r>
            <a:endParaRPr sz="1400">
              <a:latin typeface="Lato"/>
              <a:cs typeface="La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00105" y="4330941"/>
            <a:ext cx="10457815" cy="1113155"/>
            <a:chOff x="1200105" y="4330941"/>
            <a:chExt cx="10457815" cy="1113155"/>
          </a:xfrm>
        </p:grpSpPr>
        <p:sp>
          <p:nvSpPr>
            <p:cNvPr id="9" name="object 9"/>
            <p:cNvSpPr/>
            <p:nvPr/>
          </p:nvSpPr>
          <p:spPr>
            <a:xfrm>
              <a:off x="1200105" y="4330941"/>
              <a:ext cx="10457815" cy="1113155"/>
            </a:xfrm>
            <a:custGeom>
              <a:avLst/>
              <a:gdLst/>
              <a:ahLst/>
              <a:cxnLst/>
              <a:rect l="l" t="t" r="r" b="b"/>
              <a:pathLst>
                <a:path w="10457815" h="1113154">
                  <a:moveTo>
                    <a:pt x="10345985" y="0"/>
                  </a:moveTo>
                  <a:lnTo>
                    <a:pt x="111258" y="0"/>
                  </a:lnTo>
                  <a:lnTo>
                    <a:pt x="67952" y="8742"/>
                  </a:lnTo>
                  <a:lnTo>
                    <a:pt x="32587" y="32586"/>
                  </a:lnTo>
                  <a:lnTo>
                    <a:pt x="8743" y="67953"/>
                  </a:lnTo>
                  <a:lnTo>
                    <a:pt x="0" y="111264"/>
                  </a:lnTo>
                  <a:lnTo>
                    <a:pt x="0" y="1001344"/>
                  </a:lnTo>
                  <a:lnTo>
                    <a:pt x="8743" y="1044655"/>
                  </a:lnTo>
                  <a:lnTo>
                    <a:pt x="32587" y="1080022"/>
                  </a:lnTo>
                  <a:lnTo>
                    <a:pt x="67952" y="1103865"/>
                  </a:lnTo>
                  <a:lnTo>
                    <a:pt x="111258" y="1112608"/>
                  </a:lnTo>
                  <a:lnTo>
                    <a:pt x="10345985" y="1112608"/>
                  </a:lnTo>
                  <a:lnTo>
                    <a:pt x="10389291" y="1103865"/>
                  </a:lnTo>
                  <a:lnTo>
                    <a:pt x="10424658" y="1080022"/>
                  </a:lnTo>
                  <a:lnTo>
                    <a:pt x="10448505" y="1044655"/>
                  </a:lnTo>
                  <a:lnTo>
                    <a:pt x="10457249" y="1001344"/>
                  </a:lnTo>
                  <a:lnTo>
                    <a:pt x="10457249" y="111264"/>
                  </a:lnTo>
                  <a:lnTo>
                    <a:pt x="10448505" y="67953"/>
                  </a:lnTo>
                  <a:lnTo>
                    <a:pt x="10424658" y="32586"/>
                  </a:lnTo>
                  <a:lnTo>
                    <a:pt x="10389291" y="8742"/>
                  </a:lnTo>
                  <a:lnTo>
                    <a:pt x="1034598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2470" y="4580462"/>
              <a:ext cx="618067" cy="61806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590215" y="4648196"/>
            <a:ext cx="25761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Carlito"/>
                <a:cs typeface="Carlito"/>
              </a:rPr>
              <a:t>Group</a:t>
            </a:r>
            <a:r>
              <a:rPr sz="2500" spc="-45" dirty="0">
                <a:latin typeface="Carlito"/>
                <a:cs typeface="Carlito"/>
              </a:rPr>
              <a:t> </a:t>
            </a:r>
            <a:r>
              <a:rPr sz="2500" dirty="0">
                <a:latin typeface="Carlito"/>
                <a:cs typeface="Carlito"/>
              </a:rPr>
              <a:t>vs.</a:t>
            </a:r>
            <a:r>
              <a:rPr sz="2500" spc="-4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individual</a:t>
            </a:r>
            <a:endParaRPr sz="25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6077" y="4533896"/>
            <a:ext cx="5913755" cy="6959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470"/>
              </a:lnSpc>
              <a:spcBef>
                <a:spcPts val="325"/>
              </a:spcBef>
            </a:pPr>
            <a:r>
              <a:rPr sz="1400" dirty="0">
                <a:latin typeface="Lato"/>
                <a:cs typeface="Lato"/>
              </a:rPr>
              <a:t>Is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there</a:t>
            </a:r>
            <a:r>
              <a:rPr sz="1400" spc="-1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a</a:t>
            </a:r>
            <a:r>
              <a:rPr sz="1400" spc="-1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statistical</a:t>
            </a:r>
            <a:r>
              <a:rPr sz="1400" spc="-1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difference</a:t>
            </a:r>
            <a:r>
              <a:rPr sz="1400" spc="-1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in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outcomes</a:t>
            </a:r>
            <a:r>
              <a:rPr sz="1400" spc="-1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for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C00000"/>
                </a:solidFill>
                <a:latin typeface="Lato"/>
                <a:cs typeface="Lato"/>
              </a:rPr>
              <a:t>groups </a:t>
            </a:r>
            <a:r>
              <a:rPr sz="1400" dirty="0">
                <a:latin typeface="Lato"/>
                <a:cs typeface="Lato"/>
              </a:rPr>
              <a:t>defined</a:t>
            </a:r>
            <a:r>
              <a:rPr sz="1400" spc="-1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by</a:t>
            </a:r>
            <a:r>
              <a:rPr sz="1400" spc="-15" dirty="0">
                <a:latin typeface="Lato"/>
                <a:cs typeface="Lato"/>
              </a:rPr>
              <a:t> </a:t>
            </a:r>
            <a:r>
              <a:rPr sz="1400" spc="-10" dirty="0">
                <a:latin typeface="Lato"/>
                <a:cs typeface="Lato"/>
              </a:rPr>
              <a:t>protected </a:t>
            </a:r>
            <a:r>
              <a:rPr sz="1400" dirty="0">
                <a:latin typeface="Lato"/>
                <a:cs typeface="Lato"/>
              </a:rPr>
              <a:t>attributes?,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e.g</a:t>
            </a:r>
            <a:r>
              <a:rPr sz="1400" i="1" dirty="0">
                <a:latin typeface="Lato"/>
                <a:cs typeface="Lato"/>
              </a:rPr>
              <a:t>.,</a:t>
            </a:r>
            <a:r>
              <a:rPr sz="1400" i="1" spc="-15" dirty="0">
                <a:latin typeface="Lato"/>
                <a:cs typeface="Lato"/>
              </a:rPr>
              <a:t> </a:t>
            </a:r>
            <a:r>
              <a:rPr sz="1400" i="1" dirty="0">
                <a:latin typeface="Lato"/>
                <a:cs typeface="Lato"/>
              </a:rPr>
              <a:t>race,</a:t>
            </a:r>
            <a:r>
              <a:rPr sz="1400" i="1" spc="-20" dirty="0">
                <a:latin typeface="Lato"/>
                <a:cs typeface="Lato"/>
              </a:rPr>
              <a:t> </a:t>
            </a:r>
            <a:r>
              <a:rPr sz="1400" i="1" dirty="0">
                <a:latin typeface="Lato"/>
                <a:cs typeface="Lato"/>
              </a:rPr>
              <a:t>gender,</a:t>
            </a:r>
            <a:r>
              <a:rPr sz="1400" i="1" spc="-15" dirty="0">
                <a:latin typeface="Lato"/>
                <a:cs typeface="Lato"/>
              </a:rPr>
              <a:t> </a:t>
            </a:r>
            <a:r>
              <a:rPr sz="1400" i="1" spc="-10" dirty="0">
                <a:latin typeface="Lato"/>
                <a:cs typeface="Lato"/>
              </a:rPr>
              <a:t>zipcode</a:t>
            </a:r>
            <a:r>
              <a:rPr sz="1400" spc="-10" dirty="0">
                <a:latin typeface="Lato"/>
                <a:cs typeface="Lato"/>
              </a:rPr>
              <a:t>.</a:t>
            </a:r>
            <a:endParaRPr sz="140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latin typeface="Lato"/>
                <a:cs typeface="Lato"/>
              </a:rPr>
              <a:t>Are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similar</a:t>
            </a:r>
            <a:r>
              <a:rPr sz="1400" spc="-25" dirty="0"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C00000"/>
                </a:solidFill>
                <a:latin typeface="Lato"/>
                <a:cs typeface="Lato"/>
              </a:rPr>
              <a:t>individuals</a:t>
            </a:r>
            <a:r>
              <a:rPr sz="1400" b="1" spc="-5" dirty="0">
                <a:solidFill>
                  <a:srgbClr val="C00000"/>
                </a:solidFill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being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treated</a:t>
            </a:r>
            <a:r>
              <a:rPr sz="1400" spc="-20" dirty="0">
                <a:latin typeface="Lato"/>
                <a:cs typeface="Lato"/>
              </a:rPr>
              <a:t> </a:t>
            </a:r>
            <a:r>
              <a:rPr sz="1400" spc="-10" dirty="0">
                <a:latin typeface="Lato"/>
                <a:cs typeface="Lato"/>
              </a:rPr>
              <a:t>similarly?</a:t>
            </a:r>
            <a:endParaRPr sz="1400"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188" y="452963"/>
            <a:ext cx="39719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40" dirty="0">
                <a:latin typeface="Trebuchet MS"/>
                <a:cs typeface="Trebuchet MS"/>
              </a:rPr>
              <a:t>Disparate</a:t>
            </a:r>
            <a:r>
              <a:rPr sz="4400" spc="-375" dirty="0">
                <a:latin typeface="Trebuchet MS"/>
                <a:cs typeface="Trebuchet MS"/>
              </a:rPr>
              <a:t> </a:t>
            </a:r>
            <a:r>
              <a:rPr sz="4400" spc="-145" dirty="0">
                <a:latin typeface="Trebuchet MS"/>
                <a:cs typeface="Trebuchet MS"/>
              </a:rPr>
              <a:t>impact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5676" y="1587496"/>
            <a:ext cx="7879080" cy="25571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5080" indent="-228600">
              <a:lnSpc>
                <a:spcPts val="22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135" dirty="0">
                <a:latin typeface="Liberation Sans Narrow"/>
                <a:cs typeface="Liberation Sans Narrow"/>
              </a:rPr>
              <a:t>It</a:t>
            </a:r>
            <a:r>
              <a:rPr sz="2000" spc="-45" dirty="0">
                <a:latin typeface="Liberation Sans Narrow"/>
                <a:cs typeface="Liberation Sans Narrow"/>
              </a:rPr>
              <a:t> </a:t>
            </a:r>
            <a:r>
              <a:rPr sz="2000" spc="105" dirty="0">
                <a:latin typeface="Liberation Sans Narrow"/>
                <a:cs typeface="Liberation Sans Narrow"/>
              </a:rPr>
              <a:t>compares</a:t>
            </a:r>
            <a:r>
              <a:rPr sz="2000" spc="-45" dirty="0">
                <a:latin typeface="Liberation Sans Narrow"/>
                <a:cs typeface="Liberation Sans Narrow"/>
              </a:rPr>
              <a:t> </a:t>
            </a:r>
            <a:r>
              <a:rPr sz="2000" spc="155" dirty="0">
                <a:latin typeface="Liberation Sans Narrow"/>
                <a:cs typeface="Liberation Sans Narrow"/>
              </a:rPr>
              <a:t>the</a:t>
            </a:r>
            <a:r>
              <a:rPr sz="2000" spc="-40" dirty="0">
                <a:latin typeface="Liberation Sans Narrow"/>
                <a:cs typeface="Liberation Sans Narrow"/>
              </a:rPr>
              <a:t> </a:t>
            </a:r>
            <a:r>
              <a:rPr sz="2000" spc="140" dirty="0">
                <a:latin typeface="Liberation Sans Narrow"/>
                <a:cs typeface="Liberation Sans Narrow"/>
              </a:rPr>
              <a:t>proportion</a:t>
            </a:r>
            <a:r>
              <a:rPr sz="2000" spc="-55" dirty="0">
                <a:latin typeface="Liberation Sans Narrow"/>
                <a:cs typeface="Liberation Sans Narrow"/>
              </a:rPr>
              <a:t> </a:t>
            </a:r>
            <a:r>
              <a:rPr sz="2000" spc="160" dirty="0">
                <a:latin typeface="Liberation Sans Narrow"/>
                <a:cs typeface="Liberation Sans Narrow"/>
              </a:rPr>
              <a:t>of</a:t>
            </a:r>
            <a:r>
              <a:rPr sz="2000" spc="-40" dirty="0">
                <a:latin typeface="Liberation Sans Narrow"/>
                <a:cs typeface="Liberation Sans Narrow"/>
              </a:rPr>
              <a:t> </a:t>
            </a:r>
            <a:r>
              <a:rPr sz="2000" spc="95" dirty="0">
                <a:latin typeface="Liberation Sans Narrow"/>
                <a:cs typeface="Liberation Sans Narrow"/>
              </a:rPr>
              <a:t>individuals</a:t>
            </a:r>
            <a:r>
              <a:rPr sz="2000" spc="-45" dirty="0">
                <a:latin typeface="Liberation Sans Narrow"/>
                <a:cs typeface="Liberation Sans Narrow"/>
              </a:rPr>
              <a:t> </a:t>
            </a:r>
            <a:r>
              <a:rPr sz="2000" spc="170" dirty="0">
                <a:latin typeface="Liberation Sans Narrow"/>
                <a:cs typeface="Liberation Sans Narrow"/>
              </a:rPr>
              <a:t>that</a:t>
            </a:r>
            <a:r>
              <a:rPr sz="2000" spc="-45" dirty="0">
                <a:latin typeface="Liberation Sans Narrow"/>
                <a:cs typeface="Liberation Sans Narrow"/>
              </a:rPr>
              <a:t> </a:t>
            </a:r>
            <a:r>
              <a:rPr sz="2000" spc="85" dirty="0">
                <a:latin typeface="Liberation Sans Narrow"/>
                <a:cs typeface="Liberation Sans Narrow"/>
              </a:rPr>
              <a:t>receive</a:t>
            </a:r>
            <a:r>
              <a:rPr sz="2000" spc="-40" dirty="0">
                <a:latin typeface="Liberation Sans Narrow"/>
                <a:cs typeface="Liberation Sans Narrow"/>
              </a:rPr>
              <a:t> </a:t>
            </a:r>
            <a:r>
              <a:rPr sz="2000" spc="60" dirty="0">
                <a:latin typeface="Liberation Sans Narrow"/>
                <a:cs typeface="Liberation Sans Narrow"/>
              </a:rPr>
              <a:t>a</a:t>
            </a:r>
            <a:r>
              <a:rPr sz="2000" spc="-55" dirty="0">
                <a:latin typeface="Liberation Sans Narrow"/>
                <a:cs typeface="Liberation Sans Narrow"/>
              </a:rPr>
              <a:t> </a:t>
            </a:r>
            <a:r>
              <a:rPr sz="2000" b="1" spc="7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positive</a:t>
            </a:r>
            <a:r>
              <a:rPr sz="2000" b="1" spc="-4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000" spc="140" dirty="0">
                <a:latin typeface="Liberation Sans Narrow"/>
                <a:cs typeface="Liberation Sans Narrow"/>
              </a:rPr>
              <a:t>outcome </a:t>
            </a:r>
            <a:r>
              <a:rPr sz="2000" spc="145" dirty="0">
                <a:latin typeface="Liberation Sans Narrow"/>
                <a:cs typeface="Liberation Sans Narrow"/>
              </a:rPr>
              <a:t>for</a:t>
            </a:r>
            <a:r>
              <a:rPr sz="2000" spc="-40" dirty="0">
                <a:latin typeface="Liberation Sans Narrow"/>
                <a:cs typeface="Liberation Sans Narrow"/>
              </a:rPr>
              <a:t> </a:t>
            </a:r>
            <a:r>
              <a:rPr sz="2000" spc="204" dirty="0">
                <a:latin typeface="Liberation Sans Narrow"/>
                <a:cs typeface="Liberation Sans Narrow"/>
              </a:rPr>
              <a:t>two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100" dirty="0">
                <a:latin typeface="Liberation Sans Narrow"/>
                <a:cs typeface="Liberation Sans Narrow"/>
              </a:rPr>
              <a:t>groups:</a:t>
            </a:r>
            <a:r>
              <a:rPr sz="2000" spc="-45" dirty="0">
                <a:latin typeface="Liberation Sans Narrow"/>
                <a:cs typeface="Liberation Sans Narrow"/>
              </a:rPr>
              <a:t> </a:t>
            </a:r>
            <a:r>
              <a:rPr sz="2000" spc="95" dirty="0">
                <a:latin typeface="Liberation Sans Narrow"/>
                <a:cs typeface="Liberation Sans Narrow"/>
              </a:rPr>
              <a:t>an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b="1" spc="7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unprivileged</a:t>
            </a:r>
            <a:r>
              <a:rPr sz="2000" b="1" spc="-4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000" spc="130" dirty="0">
                <a:latin typeface="Liberation Sans Narrow"/>
                <a:cs typeface="Liberation Sans Narrow"/>
              </a:rPr>
              <a:t>group</a:t>
            </a:r>
            <a:r>
              <a:rPr sz="2000" spc="-40" dirty="0">
                <a:latin typeface="Liberation Sans Narrow"/>
                <a:cs typeface="Liberation Sans Narrow"/>
              </a:rPr>
              <a:t> </a:t>
            </a:r>
            <a:r>
              <a:rPr sz="2000" spc="114" dirty="0">
                <a:latin typeface="Liberation Sans Narrow"/>
                <a:cs typeface="Liberation Sans Narrow"/>
              </a:rPr>
              <a:t>and</a:t>
            </a:r>
            <a:r>
              <a:rPr sz="2000" spc="-35" dirty="0">
                <a:latin typeface="Liberation Sans Narrow"/>
                <a:cs typeface="Liberation Sans Narrow"/>
              </a:rPr>
              <a:t> </a:t>
            </a:r>
            <a:r>
              <a:rPr sz="2000" spc="60" dirty="0">
                <a:latin typeface="Liberation Sans Narrow"/>
                <a:cs typeface="Liberation Sans Narrow"/>
              </a:rPr>
              <a:t>a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b="1" spc="7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privileged</a:t>
            </a:r>
            <a:r>
              <a:rPr sz="2000" b="1" spc="-4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000" spc="110" dirty="0">
                <a:latin typeface="Liberation Sans Narrow"/>
                <a:cs typeface="Liberation Sans Narrow"/>
              </a:rPr>
              <a:t>group.</a:t>
            </a:r>
            <a:endParaRPr sz="20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</a:pPr>
            <a:endParaRPr sz="20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000">
              <a:latin typeface="Liberation Sans Narrow"/>
              <a:cs typeface="Liberation Sans Narrow"/>
            </a:endParaRPr>
          </a:p>
          <a:p>
            <a:pPr marL="155575">
              <a:lnSpc>
                <a:spcPct val="100000"/>
              </a:lnSpc>
            </a:pPr>
            <a:r>
              <a:rPr sz="2000" spc="90" dirty="0">
                <a:latin typeface="Liberation Sans Narrow"/>
                <a:cs typeface="Liberation Sans Narrow"/>
              </a:rPr>
              <a:t>Example:</a:t>
            </a:r>
            <a:endParaRPr sz="2000">
              <a:latin typeface="Liberation Sans Narrow"/>
              <a:cs typeface="Liberation Sans Narrow"/>
            </a:endParaRPr>
          </a:p>
          <a:p>
            <a:pPr marL="612775" marR="3516629">
              <a:lnSpc>
                <a:spcPct val="100000"/>
              </a:lnSpc>
            </a:pPr>
            <a:r>
              <a:rPr sz="2000" spc="125" dirty="0">
                <a:latin typeface="Liberation Sans Narrow"/>
                <a:cs typeface="Liberation Sans Narrow"/>
              </a:rPr>
              <a:t>60%</a:t>
            </a:r>
            <a:r>
              <a:rPr sz="2000" spc="-55" dirty="0">
                <a:latin typeface="Liberation Sans Narrow"/>
                <a:cs typeface="Liberation Sans Narrow"/>
              </a:rPr>
              <a:t> </a:t>
            </a:r>
            <a:r>
              <a:rPr sz="2000" spc="160" dirty="0">
                <a:latin typeface="Liberation Sans Narrow"/>
                <a:cs typeface="Liberation Sans Narrow"/>
              </a:rPr>
              <a:t>of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b="1" spc="114" dirty="0">
                <a:solidFill>
                  <a:srgbClr val="FF0000"/>
                </a:solidFill>
                <a:latin typeface="Liberation Sans Narrow"/>
                <a:cs typeface="Liberation Sans Narrow"/>
              </a:rPr>
              <a:t>female</a:t>
            </a:r>
            <a:r>
              <a:rPr sz="2000" b="1" spc="-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000" spc="100" dirty="0">
                <a:latin typeface="Liberation Sans Narrow"/>
                <a:cs typeface="Liberation Sans Narrow"/>
              </a:rPr>
              <a:t>applicants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155" dirty="0">
                <a:latin typeface="Liberation Sans Narrow"/>
                <a:cs typeface="Liberation Sans Narrow"/>
              </a:rPr>
              <a:t>get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60" dirty="0">
                <a:latin typeface="Liberation Sans Narrow"/>
                <a:cs typeface="Liberation Sans Narrow"/>
              </a:rPr>
              <a:t>a</a:t>
            </a:r>
            <a:r>
              <a:rPr sz="2000" spc="-60" dirty="0">
                <a:latin typeface="Liberation Sans Narrow"/>
                <a:cs typeface="Liberation Sans Narrow"/>
              </a:rPr>
              <a:t> </a:t>
            </a:r>
            <a:r>
              <a:rPr sz="2000" spc="85" dirty="0">
                <a:latin typeface="Liberation Sans Narrow"/>
                <a:cs typeface="Liberation Sans Narrow"/>
              </a:rPr>
              <a:t>loan </a:t>
            </a:r>
            <a:r>
              <a:rPr sz="2000" spc="114" dirty="0">
                <a:latin typeface="Liberation Sans Narrow"/>
                <a:cs typeface="Liberation Sans Narrow"/>
              </a:rPr>
              <a:t>80%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160" dirty="0">
                <a:latin typeface="Liberation Sans Narrow"/>
                <a:cs typeface="Liberation Sans Narrow"/>
              </a:rPr>
              <a:t>of</a:t>
            </a:r>
            <a:r>
              <a:rPr sz="2000" spc="-45" dirty="0">
                <a:latin typeface="Liberation Sans Narrow"/>
                <a:cs typeface="Liberation Sans Narrow"/>
              </a:rPr>
              <a:t> </a:t>
            </a:r>
            <a:r>
              <a:rPr sz="2000" b="1" spc="120" dirty="0">
                <a:solidFill>
                  <a:srgbClr val="FF0000"/>
                </a:solidFill>
                <a:latin typeface="Liberation Sans Narrow"/>
                <a:cs typeface="Liberation Sans Narrow"/>
              </a:rPr>
              <a:t>male</a:t>
            </a:r>
            <a:r>
              <a:rPr sz="2000" b="1" spc="-55" dirty="0">
                <a:solidFill>
                  <a:srgbClr val="FF0000"/>
                </a:solidFill>
                <a:latin typeface="Liberation Sans Narrow"/>
                <a:cs typeface="Liberation Sans Narrow"/>
              </a:rPr>
              <a:t> </a:t>
            </a:r>
            <a:r>
              <a:rPr sz="2000" spc="100" dirty="0">
                <a:latin typeface="Liberation Sans Narrow"/>
                <a:cs typeface="Liberation Sans Narrow"/>
              </a:rPr>
              <a:t>applicants</a:t>
            </a:r>
            <a:r>
              <a:rPr sz="2000" spc="-45" dirty="0">
                <a:latin typeface="Liberation Sans Narrow"/>
                <a:cs typeface="Liberation Sans Narrow"/>
              </a:rPr>
              <a:t> </a:t>
            </a:r>
            <a:r>
              <a:rPr sz="2000" spc="155" dirty="0">
                <a:latin typeface="Liberation Sans Narrow"/>
                <a:cs typeface="Liberation Sans Narrow"/>
              </a:rPr>
              <a:t>get</a:t>
            </a:r>
            <a:r>
              <a:rPr sz="2000" spc="-45" dirty="0">
                <a:latin typeface="Liberation Sans Narrow"/>
                <a:cs typeface="Liberation Sans Narrow"/>
              </a:rPr>
              <a:t> </a:t>
            </a:r>
            <a:r>
              <a:rPr sz="2000" spc="60" dirty="0">
                <a:latin typeface="Liberation Sans Narrow"/>
                <a:cs typeface="Liberation Sans Narrow"/>
              </a:rPr>
              <a:t>a</a:t>
            </a:r>
            <a:r>
              <a:rPr sz="2000" spc="-60" dirty="0">
                <a:latin typeface="Liberation Sans Narrow"/>
                <a:cs typeface="Liberation Sans Narrow"/>
              </a:rPr>
              <a:t> </a:t>
            </a:r>
            <a:r>
              <a:rPr sz="2000" spc="85" dirty="0">
                <a:latin typeface="Liberation Sans Narrow"/>
                <a:cs typeface="Liberation Sans Narrow"/>
              </a:rPr>
              <a:t>loan </a:t>
            </a:r>
            <a:r>
              <a:rPr sz="2000" spc="100" dirty="0">
                <a:latin typeface="Liberation Sans Narrow"/>
                <a:cs typeface="Liberation Sans Narrow"/>
              </a:rPr>
              <a:t>Disparate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145" dirty="0">
                <a:latin typeface="Liberation Sans Narrow"/>
                <a:cs typeface="Liberation Sans Narrow"/>
              </a:rPr>
              <a:t>impact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55" dirty="0">
                <a:latin typeface="Liberation Sans Narrow"/>
                <a:cs typeface="Liberation Sans Narrow"/>
              </a:rPr>
              <a:t>=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100" dirty="0">
                <a:latin typeface="Liberation Sans Narrow"/>
                <a:cs typeface="Liberation Sans Narrow"/>
              </a:rPr>
              <a:t>0.6</a:t>
            </a:r>
            <a:r>
              <a:rPr sz="2000" spc="-50" dirty="0">
                <a:latin typeface="Liberation Sans Narrow"/>
                <a:cs typeface="Liberation Sans Narrow"/>
              </a:rPr>
              <a:t> </a:t>
            </a:r>
            <a:r>
              <a:rPr sz="2000" spc="95" dirty="0">
                <a:latin typeface="Liberation Sans Narrow"/>
                <a:cs typeface="Liberation Sans Narrow"/>
              </a:rPr>
              <a:t>/</a:t>
            </a:r>
            <a:r>
              <a:rPr sz="2000" spc="-55" dirty="0">
                <a:latin typeface="Liberation Sans Narrow"/>
                <a:cs typeface="Liberation Sans Narrow"/>
              </a:rPr>
              <a:t> </a:t>
            </a:r>
            <a:r>
              <a:rPr sz="2000" spc="95" dirty="0">
                <a:latin typeface="Liberation Sans Narrow"/>
                <a:cs typeface="Liberation Sans Narrow"/>
              </a:rPr>
              <a:t>0.8</a:t>
            </a:r>
            <a:r>
              <a:rPr sz="2000" spc="-55" dirty="0">
                <a:latin typeface="Liberation Sans Narrow"/>
                <a:cs typeface="Liberation Sans Narrow"/>
              </a:rPr>
              <a:t> </a:t>
            </a:r>
            <a:r>
              <a:rPr sz="2000" spc="55" dirty="0">
                <a:latin typeface="Liberation Sans Narrow"/>
                <a:cs typeface="Liberation Sans Narrow"/>
              </a:rPr>
              <a:t>=</a:t>
            </a:r>
            <a:r>
              <a:rPr sz="2000" spc="-55" dirty="0">
                <a:latin typeface="Liberation Sans Narrow"/>
                <a:cs typeface="Liberation Sans Narrow"/>
              </a:rPr>
              <a:t> </a:t>
            </a:r>
            <a:r>
              <a:rPr sz="2000" spc="-20" dirty="0">
                <a:latin typeface="Liberation Sans Narrow"/>
                <a:cs typeface="Liberation Sans Narrow"/>
              </a:rPr>
              <a:t>0.75</a:t>
            </a:r>
            <a:endParaRPr sz="2000">
              <a:latin typeface="Liberation Sans Narrow"/>
              <a:cs typeface="Liberation Sans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467" y="4301061"/>
            <a:ext cx="3437470" cy="8974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731000"/>
            <a:ext cx="12192000" cy="127000"/>
            <a:chOff x="0" y="6731000"/>
            <a:chExt cx="12192000" cy="127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737718"/>
              <a:ext cx="12191999" cy="1202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3799" y="6731000"/>
              <a:ext cx="5918200" cy="12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433" y="921028"/>
            <a:ext cx="515112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50" dirty="0"/>
              <a:t>Statistical</a:t>
            </a:r>
            <a:r>
              <a:rPr sz="3500" spc="215" dirty="0"/>
              <a:t> </a:t>
            </a:r>
            <a:r>
              <a:rPr sz="3500" dirty="0"/>
              <a:t>Parity</a:t>
            </a:r>
            <a:r>
              <a:rPr sz="3500" spc="225" dirty="0"/>
              <a:t> </a:t>
            </a:r>
            <a:r>
              <a:rPr sz="3500" spc="60" dirty="0"/>
              <a:t>Difference</a:t>
            </a:r>
            <a:endParaRPr sz="3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251" y="3920948"/>
            <a:ext cx="8243303" cy="6182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1516" y="1993896"/>
            <a:ext cx="9340850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arlito"/>
                <a:cs typeface="Carlito"/>
              </a:rPr>
              <a:t>The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difference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of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rate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of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favorable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outcomes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received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by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unprivileged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group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to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spc="-25" dirty="0">
                <a:latin typeface="Carlito"/>
                <a:cs typeface="Carlito"/>
              </a:rPr>
              <a:t>the </a:t>
            </a:r>
            <a:r>
              <a:rPr sz="2000" dirty="0">
                <a:latin typeface="Carlito"/>
                <a:cs typeface="Carlito"/>
              </a:rPr>
              <a:t>privileged</a:t>
            </a:r>
            <a:r>
              <a:rPr sz="2000" spc="-9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group.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6731000"/>
            <a:ext cx="12192000" cy="127000"/>
            <a:chOff x="0" y="6731000"/>
            <a:chExt cx="12192000" cy="127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737718"/>
              <a:ext cx="12191999" cy="1202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3799" y="6731000"/>
              <a:ext cx="5918200" cy="1269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02636" y="4745567"/>
            <a:ext cx="483298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Example:</a:t>
            </a:r>
            <a:endParaRPr sz="2000">
              <a:latin typeface="Carlito"/>
              <a:cs typeface="Carlito"/>
            </a:endParaRPr>
          </a:p>
          <a:p>
            <a:pPr marL="469900" marR="70358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60%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of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female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applicants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get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loan </a:t>
            </a:r>
            <a:r>
              <a:rPr sz="2000" dirty="0">
                <a:latin typeface="Carlito"/>
                <a:cs typeface="Carlito"/>
              </a:rPr>
              <a:t>80%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of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male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applicants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get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loan</a:t>
            </a:r>
            <a:endParaRPr sz="200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</a:pPr>
            <a:r>
              <a:rPr sz="2000" spc="-10" dirty="0">
                <a:latin typeface="Carlito"/>
                <a:cs typeface="Carlito"/>
              </a:rPr>
              <a:t>Statistical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Parity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difference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=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0.6-</a:t>
            </a:r>
            <a:r>
              <a:rPr sz="2000" dirty="0">
                <a:latin typeface="Carlito"/>
                <a:cs typeface="Carlito"/>
              </a:rPr>
              <a:t>0.8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=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-</a:t>
            </a:r>
            <a:r>
              <a:rPr sz="2000" spc="-25" dirty="0">
                <a:latin typeface="Carlito"/>
                <a:cs typeface="Carlito"/>
              </a:rPr>
              <a:t>0.2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3829"/>
            <a:ext cx="62134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0" dirty="0"/>
              <a:t>Example</a:t>
            </a:r>
            <a:r>
              <a:rPr sz="4400" spc="-145" dirty="0"/>
              <a:t> </a:t>
            </a:r>
            <a:r>
              <a:rPr sz="4400" dirty="0"/>
              <a:t>of</a:t>
            </a:r>
            <a:r>
              <a:rPr sz="4400" spc="-140" dirty="0"/>
              <a:t> </a:t>
            </a:r>
            <a:r>
              <a:rPr sz="4400" dirty="0"/>
              <a:t>bias</a:t>
            </a:r>
            <a:r>
              <a:rPr sz="4400" spc="-140" dirty="0"/>
              <a:t> </a:t>
            </a:r>
            <a:r>
              <a:rPr sz="4400" spc="-10" dirty="0"/>
              <a:t>correction?</a:t>
            </a:r>
            <a:endParaRPr sz="4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572534" cy="63087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2905" y="6328825"/>
            <a:ext cx="2163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Link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demo</a:t>
            </a:r>
            <a:r>
              <a:rPr sz="18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 </a:t>
            </a:r>
            <a:r>
              <a:rPr sz="18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video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915" y="304913"/>
            <a:ext cx="11139069" cy="601710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5410" y="6371167"/>
            <a:ext cx="3395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https://github.com/IBM/Dromedary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239" y="137071"/>
            <a:ext cx="9741636" cy="61339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07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spc="60" dirty="0"/>
              <a:t>Personal</a:t>
            </a:r>
            <a:r>
              <a:rPr spc="150" dirty="0"/>
              <a:t> </a:t>
            </a:r>
            <a:r>
              <a:rPr spc="75" dirty="0"/>
              <a:t>Identifiable</a:t>
            </a:r>
            <a:r>
              <a:rPr spc="145" dirty="0"/>
              <a:t> </a:t>
            </a:r>
            <a:r>
              <a:rPr spc="70" dirty="0"/>
              <a:t>Information</a:t>
            </a:r>
            <a:r>
              <a:rPr spc="145" dirty="0"/>
              <a:t> </a:t>
            </a:r>
            <a:r>
              <a:rPr spc="55" dirty="0"/>
              <a:t>(PII)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9748"/>
            <a:ext cx="10276205" cy="42589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Watson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NLP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Package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ct val="80100"/>
              </a:lnSpc>
              <a:spcBef>
                <a:spcPts val="970"/>
              </a:spcBef>
              <a:buClr>
                <a:srgbClr val="000000"/>
              </a:buClr>
              <a:buFont typeface="Arial"/>
              <a:buChar char="•"/>
              <a:tabLst>
                <a:tab pos="241300" algn="l"/>
              </a:tabLst>
            </a:pP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https://github.ibm.com/ravi-</a:t>
            </a:r>
            <a:r>
              <a:rPr sz="2600" u="none" spc="-10" dirty="0">
                <a:solidFill>
                  <a:srgbClr val="0563C1"/>
                </a:solidFill>
                <a:latin typeface="Carlito"/>
                <a:cs typeface="Carlito"/>
              </a:rPr>
              <a:t> 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chamarthy/aiexplorations/blob/main/HF%20Evaluate%20Metrics/hf_evalu</a:t>
            </a:r>
            <a:r>
              <a:rPr sz="2600" u="none" spc="-10" dirty="0">
                <a:solidFill>
                  <a:srgbClr val="0563C1"/>
                </a:solidFill>
                <a:latin typeface="Carlito"/>
                <a:cs typeface="Carlito"/>
              </a:rPr>
              <a:t> 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ate.ipynb</a:t>
            </a:r>
            <a:endParaRPr sz="2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425"/>
              </a:spcBef>
              <a:buFont typeface="Arial"/>
              <a:buChar char="•"/>
            </a:pPr>
            <a:endParaRPr sz="2600">
              <a:latin typeface="Carlito"/>
              <a:cs typeface="Carlito"/>
            </a:endParaRPr>
          </a:p>
          <a:p>
            <a:pPr marL="241300" marR="177165" indent="-228600">
              <a:lnSpc>
                <a:spcPct val="76900"/>
              </a:lnSpc>
              <a:buClr>
                <a:srgbClr val="000000"/>
              </a:buClr>
              <a:buFont typeface="Arial"/>
              <a:buChar char="•"/>
              <a:tabLst>
                <a:tab pos="241300" algn="l"/>
              </a:tabLst>
            </a:pPr>
            <a:r>
              <a:rPr sz="26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https://developer.ibm.com/tutorials/run-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pii-</a:t>
            </a:r>
            <a:r>
              <a:rPr sz="26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extraction-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using-</a:t>
            </a:r>
            <a:r>
              <a:rPr sz="26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pre-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trained-</a:t>
            </a:r>
            <a:r>
              <a:rPr sz="2600" u="none" spc="-10" dirty="0">
                <a:solidFill>
                  <a:srgbClr val="0563C1"/>
                </a:solidFill>
                <a:latin typeface="Carlito"/>
                <a:cs typeface="Carlito"/>
              </a:rPr>
              <a:t> 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models/</a:t>
            </a:r>
            <a:endParaRPr sz="2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Font typeface="Arial"/>
              <a:buChar char="•"/>
            </a:pPr>
            <a:endParaRPr sz="2600">
              <a:latin typeface="Carlito"/>
              <a:cs typeface="Carlito"/>
            </a:endParaRPr>
          </a:p>
          <a:p>
            <a:pPr marL="241300" marR="1351280" indent="-228600">
              <a:lnSpc>
                <a:spcPct val="80100"/>
              </a:lnSpc>
              <a:buClr>
                <a:srgbClr val="000000"/>
              </a:buClr>
              <a:buFont typeface="Arial"/>
              <a:buChar char="•"/>
              <a:tabLst>
                <a:tab pos="241300" algn="l"/>
              </a:tabLst>
            </a:pPr>
            <a:r>
              <a:rPr sz="2600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https://github.com/ibm-</a:t>
            </a:r>
            <a:r>
              <a:rPr sz="2600" u="heavy" spc="-3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ecosystem-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engineering/Watson-</a:t>
            </a:r>
            <a:r>
              <a:rPr sz="2600" u="none" spc="-10" dirty="0">
                <a:solidFill>
                  <a:srgbClr val="0563C1"/>
                </a:solidFill>
                <a:latin typeface="Carlito"/>
                <a:cs typeface="Carlito"/>
              </a:rPr>
              <a:t> </a:t>
            </a:r>
            <a:r>
              <a:rPr sz="2600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NLP/blob/main/ML/PII-Extraction/PII%20Extraction%20-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%20Pre-</a:t>
            </a:r>
            <a:r>
              <a:rPr sz="2600" u="none" spc="-10" dirty="0">
                <a:solidFill>
                  <a:srgbClr val="0563C1"/>
                </a:solidFill>
                <a:latin typeface="Carlito"/>
                <a:cs typeface="Carlito"/>
              </a:rPr>
              <a:t> </a:t>
            </a:r>
            <a:r>
              <a:rPr sz="26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Trained%20Models.ipynb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0926" y="3083852"/>
            <a:ext cx="1730133" cy="6903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2515</Words>
  <Application>Microsoft Macintosh PowerPoint</Application>
  <PresentationFormat>Widescreen</PresentationFormat>
  <Paragraphs>434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6" baseType="lpstr">
      <vt:lpstr>Arial</vt:lpstr>
      <vt:lpstr>BABEL Unicode</vt:lpstr>
      <vt:lpstr>Carlito</vt:lpstr>
      <vt:lpstr>Courier New</vt:lpstr>
      <vt:lpstr>DejaVu Serif Condensed</vt:lpstr>
      <vt:lpstr>Lato</vt:lpstr>
      <vt:lpstr>Liberation Sans Narrow</vt:lpstr>
      <vt:lpstr>LM Roman 10</vt:lpstr>
      <vt:lpstr>MathJax_Math</vt:lpstr>
      <vt:lpstr>Noto Sans Math</vt:lpstr>
      <vt:lpstr>Times New Roman</vt:lpstr>
      <vt:lpstr>Trebuchet MS</vt:lpstr>
      <vt:lpstr>Verdana</vt:lpstr>
      <vt:lpstr>Office Theme</vt:lpstr>
      <vt:lpstr>PowerPoint Presentation</vt:lpstr>
      <vt:lpstr>AI Governance</vt:lpstr>
      <vt:lpstr>Let me tell you the story of María…</vt:lpstr>
      <vt:lpstr>PowerPoint Presentation</vt:lpstr>
      <vt:lpstr>PowerPoint Presentation</vt:lpstr>
      <vt:lpstr>Management wants to go to market ASAP</vt:lpstr>
      <vt:lpstr>PowerPoint Presentation</vt:lpstr>
      <vt:lpstr>The AI landscape: lawsuits and regulations</vt:lpstr>
      <vt:lpstr>AI Governance</vt:lpstr>
      <vt:lpstr>Explainability</vt:lpstr>
      <vt:lpstr>PowerPoint Presentation</vt:lpstr>
      <vt:lpstr>PowerPoint Presentation</vt:lpstr>
      <vt:lpstr>Pillar 1</vt:lpstr>
      <vt:lpstr>Pillar 1</vt:lpstr>
      <vt:lpstr>PowerPoint Presentation</vt:lpstr>
      <vt:lpstr>Pillar 1</vt:lpstr>
      <vt:lpstr>Pillar 2</vt:lpstr>
      <vt:lpstr>Pillar 2</vt:lpstr>
      <vt:lpstr>Pillar 3</vt:lpstr>
      <vt:lpstr>How can we help María address all these issues?</vt:lpstr>
      <vt:lpstr>watsonx.governance</vt:lpstr>
      <vt:lpstr>FIVE important points</vt:lpstr>
      <vt:lpstr>1. Does the story of María ring a bell?</vt:lpstr>
      <vt:lpstr>2. AI Governance is not only for Gen AI</vt:lpstr>
      <vt:lpstr>3. IBM’s been leading AI Governance for a decade</vt:lpstr>
      <vt:lpstr>4. AI Governance is more than technology</vt:lpstr>
      <vt:lpstr>5. This is how we win</vt:lpstr>
      <vt:lpstr>In the next day and a half:</vt:lpstr>
      <vt:lpstr>PowerPoint Presentation</vt:lpstr>
      <vt:lpstr>AI Metrics and more</vt:lpstr>
      <vt:lpstr>What risks are we talking about?</vt:lpstr>
      <vt:lpstr>What is drift?</vt:lpstr>
      <vt:lpstr>PowerPoint Presentation</vt:lpstr>
      <vt:lpstr>PowerPoint Presentation</vt:lpstr>
      <vt:lpstr>Types of drift</vt:lpstr>
      <vt:lpstr>Distribution drift</vt:lpstr>
      <vt:lpstr>Model health</vt:lpstr>
      <vt:lpstr>Quality</vt:lpstr>
      <vt:lpstr>Classification basics</vt:lpstr>
      <vt:lpstr>Classification basics</vt:lpstr>
      <vt:lpstr>Which model’s better (1)?</vt:lpstr>
      <vt:lpstr>More metrics! Now which one’s better? Predictions</vt:lpstr>
      <vt:lpstr>PowerPoint Presentation</vt:lpstr>
      <vt:lpstr>Summarization: ROUGE (Recall-Oriented Understudy for Gisting Evaluation)</vt:lpstr>
      <vt:lpstr>ROUGE-2, ROUGE-L, ROUGE-N score</vt:lpstr>
      <vt:lpstr>Is ROUGE useful in practice?</vt:lpstr>
      <vt:lpstr>Text similarity</vt:lpstr>
      <vt:lpstr>PowerPoint Presentation</vt:lpstr>
      <vt:lpstr>Text Summarization Metrics</vt:lpstr>
      <vt:lpstr>PowerPoint Presentation</vt:lpstr>
      <vt:lpstr>Toxicity</vt:lpstr>
      <vt:lpstr>IBM’s Hate Abuse and Profanity (HAP filter)</vt:lpstr>
      <vt:lpstr>Fairness</vt:lpstr>
      <vt:lpstr>Where’s the bias?</vt:lpstr>
      <vt:lpstr>Disparate impact</vt:lpstr>
      <vt:lpstr>Statistical Parity Difference</vt:lpstr>
      <vt:lpstr>Example of bias correction?</vt:lpstr>
      <vt:lpstr>PowerPoint Presentation</vt:lpstr>
      <vt:lpstr>PowerPoint Presentation</vt:lpstr>
      <vt:lpstr>PowerPoint Presentation</vt:lpstr>
      <vt:lpstr>Personal Identifiable Information (PII)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Garrett Young</cp:lastModifiedBy>
  <cp:revision>2</cp:revision>
  <dcterms:created xsi:type="dcterms:W3CDTF">2024-04-01T13:55:07Z</dcterms:created>
  <dcterms:modified xsi:type="dcterms:W3CDTF">2024-07-10T16:27:22Z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2024-02-21T00:00:00Z</vt:filetime>
  </property>
  <property fmtid="{D5CDD505-2E9C-101B-9397-08002B2CF9AE}" pid="3" name="LastSaved">
    <vt:filetime>2024-04-01T00:00:00Z</vt:filetime>
  </property>
  <property fmtid="{D5CDD505-2E9C-101B-9397-08002B2CF9AE}" pid="4" name="Producer">
    <vt:lpwstr>3-Heights(TM) PDF Security Shell 4.8.25.2 (http://www.pdf-tools.com)</vt:lpwstr>
  </property>
</Properties>
</file>