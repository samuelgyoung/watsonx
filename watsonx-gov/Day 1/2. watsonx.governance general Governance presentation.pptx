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07" r:id="rId2"/>
  </p:sldMasterIdLst>
  <p:notesMasterIdLst>
    <p:notesMasterId r:id="rId35"/>
  </p:notesMasterIdLst>
  <p:sldIdLst>
    <p:sldId id="473" r:id="rId3"/>
    <p:sldId id="405" r:id="rId4"/>
    <p:sldId id="258" r:id="rId5"/>
    <p:sldId id="476" r:id="rId6"/>
    <p:sldId id="479" r:id="rId7"/>
    <p:sldId id="478" r:id="rId8"/>
    <p:sldId id="480" r:id="rId9"/>
    <p:sldId id="481" r:id="rId10"/>
    <p:sldId id="482" r:id="rId11"/>
    <p:sldId id="483" r:id="rId12"/>
    <p:sldId id="484" r:id="rId13"/>
    <p:sldId id="485" r:id="rId14"/>
    <p:sldId id="486" r:id="rId15"/>
    <p:sldId id="494" r:id="rId16"/>
    <p:sldId id="487" r:id="rId17"/>
    <p:sldId id="488" r:id="rId18"/>
    <p:sldId id="489" r:id="rId19"/>
    <p:sldId id="490" r:id="rId20"/>
    <p:sldId id="491" r:id="rId21"/>
    <p:sldId id="492" r:id="rId22"/>
    <p:sldId id="493" r:id="rId23"/>
    <p:sldId id="257" r:id="rId24"/>
    <p:sldId id="259" r:id="rId25"/>
    <p:sldId id="260" r:id="rId26"/>
    <p:sldId id="261" r:id="rId27"/>
    <p:sldId id="262" r:id="rId28"/>
    <p:sldId id="264" r:id="rId29"/>
    <p:sldId id="265" r:id="rId30"/>
    <p:sldId id="266" r:id="rId31"/>
    <p:sldId id="269" r:id="rId32"/>
    <p:sldId id="300" r:id="rId33"/>
    <p:sldId id="29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22021B04-3F4B-D242-95B2-2B944066E7E5}">
          <p14:sldIdLst>
            <p14:sldId id="473"/>
            <p14:sldId id="405"/>
            <p14:sldId id="258"/>
            <p14:sldId id="476"/>
            <p14:sldId id="479"/>
            <p14:sldId id="478"/>
            <p14:sldId id="480"/>
          </p14:sldIdLst>
        </p14:section>
        <p14:section name="GRC Overview" id="{2B169A0F-9BAB-9548-9FA4-12229574B4E7}">
          <p14:sldIdLst>
            <p14:sldId id="481"/>
            <p14:sldId id="482"/>
            <p14:sldId id="483"/>
            <p14:sldId id="484"/>
            <p14:sldId id="485"/>
            <p14:sldId id="486"/>
            <p14:sldId id="494"/>
          </p14:sldIdLst>
        </p14:section>
        <p14:section name="Backup Openpages" id="{17469FED-A977-B84B-A52C-C31E512E1A09}">
          <p14:sldIdLst>
            <p14:sldId id="487"/>
            <p14:sldId id="488"/>
            <p14:sldId id="489"/>
            <p14:sldId id="490"/>
            <p14:sldId id="491"/>
            <p14:sldId id="492"/>
            <p14:sldId id="493"/>
          </p14:sldIdLst>
        </p14:section>
        <p14:section name="Backup OpenScale" id="{593AF384-B3AD-9C46-9CFA-10B948451586}">
          <p14:sldIdLst>
            <p14:sldId id="257"/>
            <p14:sldId id="259"/>
            <p14:sldId id="260"/>
            <p14:sldId id="261"/>
            <p14:sldId id="262"/>
            <p14:sldId id="264"/>
            <p14:sldId id="265"/>
            <p14:sldId id="266"/>
          </p14:sldIdLst>
        </p14:section>
        <p14:section name="Supplementary" id="{B45A6CA6-9F8E-7541-B9EE-225E323A326B}">
          <p14:sldIdLst>
            <p14:sldId id="269"/>
            <p14:sldId id="300"/>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666"/>
    <p:restoredTop sz="77538"/>
  </p:normalViewPr>
  <p:slideViewPr>
    <p:cSldViewPr snapToGrid="0">
      <p:cViewPr varScale="1">
        <p:scale>
          <a:sx n="132" d="100"/>
          <a:sy n="132" d="100"/>
        </p:scale>
        <p:origin x="2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F2E92-BC3A-6742-A6F9-54CEF468BEB0}" type="datetimeFigureOut">
              <a:rPr lang="en-US" smtClean="0"/>
              <a:t>10/18/24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E69CD-F1E9-3448-9ED9-63D327A7DD0A}" type="slidenum">
              <a:rPr lang="en-US" smtClean="0"/>
              <a:t>‹#›</a:t>
            </a:fld>
            <a:endParaRPr lang="en-US"/>
          </a:p>
        </p:txBody>
      </p:sp>
    </p:spTree>
    <p:extLst>
      <p:ext uri="{BB962C8B-B14F-4D97-AF65-F5344CB8AC3E}">
        <p14:creationId xmlns:p14="http://schemas.microsoft.com/office/powerpoint/2010/main" val="209867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pd-cpd-watsonx.watsonxgov-product-918231-c97c2ce0266e6f32de317d52e2a84f46-0000.us-south.containers.appdomain.cloud/wx/home?context=wx"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Intro Name</a:t>
            </a:r>
          </a:p>
          <a:p>
            <a:endParaRPr lang="en-US" dirty="0"/>
          </a:p>
          <a:p>
            <a:r>
              <a:rPr lang="en-US" dirty="0"/>
              <a:t>ICA Link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servicesessentials.ibm.com</a:t>
            </a:r>
            <a:r>
              <a:rPr lang="en-US" dirty="0"/>
              <a:t>/launchpad/teams/669fad86b38b4d1c2dc2cdec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GRC Link:</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effectLst/>
                <a:latin typeface="Slack-Lato"/>
              </a:rPr>
              <a:t>https://cpd-cpd-watsonx.watsonxgov-product-918231-c97c2ce0266e6f32de317d52e2a84f46-0000.us-south.containers.appdomain.cloud/</a:t>
            </a:r>
            <a:r>
              <a:rPr lang="en-US" b="0" i="0" u="none" strike="noStrike" dirty="0" err="1">
                <a:effectLst/>
                <a:latin typeface="Slack-Lato"/>
              </a:rPr>
              <a:t>openpages</a:t>
            </a:r>
            <a:r>
              <a:rPr lang="en-US" b="0" i="0" u="none" strike="noStrike" dirty="0">
                <a:effectLst/>
                <a:latin typeface="Slack-Lato"/>
              </a:rPr>
              <a:t>-op-</a:t>
            </a:r>
            <a:r>
              <a:rPr lang="en-US" b="0" i="0" u="none" strike="noStrike" dirty="0" err="1">
                <a:effectLst/>
                <a:latin typeface="Slack-Lato"/>
              </a:rPr>
              <a:t>wxgov</a:t>
            </a:r>
            <a:r>
              <a:rPr lang="en-US" b="0" i="0" u="none" strike="noStrike" dirty="0">
                <a:effectLst/>
                <a:latin typeface="Slack-Lato"/>
              </a:rPr>
              <a:t>-instance/app/</a:t>
            </a:r>
            <a:r>
              <a:rPr lang="en-US" b="0" i="0" u="none" strike="noStrike" dirty="0" err="1">
                <a:effectLst/>
                <a:latin typeface="Slack-Lato"/>
              </a:rPr>
              <a:t>jspview</a:t>
            </a:r>
            <a:r>
              <a:rPr lang="en-US" b="0" i="0" u="none" strike="noStrike" dirty="0">
                <a:effectLst/>
                <a:latin typeface="Slack-Lato"/>
              </a:rPr>
              <a:t>/react/</a:t>
            </a:r>
            <a:r>
              <a:rPr lang="en-US" b="0" i="0" u="none" strike="noStrike" dirty="0" err="1">
                <a:effectLst/>
                <a:latin typeface="Slack-Lato"/>
              </a:rPr>
              <a:t>grc</a:t>
            </a:r>
            <a:r>
              <a:rPr lang="en-US" b="0" i="0" u="none" strike="noStrike" dirty="0">
                <a:effectLst/>
                <a:latin typeface="Slack-Lato"/>
              </a:rPr>
              <a:t>/dashboard/Home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Watson X Governance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rPr>
              <a:t>https://cpd-cpd-watsonx.watsonxgov-product-918231-c97c2ce0266e6f32de317d52e2a84f46-0000.us-south.containers.appdomain.cloud/wx/home?context=wx</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457200" marR="0">
              <a:spcBef>
                <a:spcPts val="0"/>
              </a:spcBef>
              <a:spcAft>
                <a:spcPts val="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username: </a:t>
            </a:r>
            <a:r>
              <a:rPr lang="en-US" sz="1200" dirty="0" err="1">
                <a:effectLst/>
                <a:latin typeface="Aptos" panose="020B0004020202020204" pitchFamily="34" charset="0"/>
                <a:ea typeface="Aptos" panose="020B0004020202020204" pitchFamily="34" charset="0"/>
                <a:cs typeface="Times New Roman" panose="02020603050405020304" pitchFamily="18" charset="0"/>
              </a:rPr>
              <a:t>cpadmin</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457200" marR="0">
              <a:spcBef>
                <a:spcPts val="0"/>
              </a:spcBef>
              <a:spcAft>
                <a:spcPts val="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password: 05p42dnM5mKXGL9CTgoQ73IGXB6JYMtQ</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252003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717028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There are several Watson X offerings,  these are the main 3 that are used for LLMs</a:t>
            </a:r>
          </a:p>
          <a:p>
            <a:pPr marL="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The main take away: We are going to show how we use WX gov to collect model governance data that can be propagated to ICA. This shows what the data looks like and some of the capabilities.</a:t>
            </a:r>
          </a:p>
          <a:p>
            <a:pPr marL="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Next Slide Setup:</a:t>
            </a:r>
          </a:p>
          <a:p>
            <a:pPr marL="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We used 2 components inside WX gov to accomplish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rPr>
              <a:t>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 action="ppaction://noaction"/>
              </a:rPr>
              <a:t>https://cpd-cpd-watsonx.watsonxgov-product-918231-c97c2ce0266e6f32de317d52e2a84f46-0000.us-south.containers.appdomain.cloud/wx/home?context=wx</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username: </a:t>
            </a:r>
            <a:r>
              <a:rPr lang="en-US" sz="1800" dirty="0" err="1">
                <a:effectLst/>
                <a:latin typeface="Aptos" panose="020B0004020202020204" pitchFamily="34" charset="0"/>
                <a:ea typeface="Aptos" panose="020B0004020202020204" pitchFamily="34" charset="0"/>
                <a:cs typeface="Times New Roman" panose="02020603050405020304" pitchFamily="18" charset="0"/>
              </a:rPr>
              <a:t>cpadmin</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password: 05p42dnM5mKXGL9CTgoQ73IGXB6JYMtQ</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6702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Watson X Governances components that we used.</a:t>
            </a:r>
          </a:p>
          <a:p>
            <a:endParaRPr lang="en-US" dirty="0"/>
          </a:p>
          <a:p>
            <a:r>
              <a:rPr lang="en-US" dirty="0"/>
              <a:t>First, open scale. While you can see it does many things, the focus to what we will show is in bold. </a:t>
            </a:r>
          </a:p>
          <a:p>
            <a:endParaRPr lang="en-US" dirty="0"/>
          </a:p>
          <a:p>
            <a:r>
              <a:rPr lang="en-US" dirty="0"/>
              <a:t>	Main Point: This is granular, where I would want to be watching my individual models</a:t>
            </a:r>
          </a:p>
          <a:p>
            <a:endParaRPr lang="en-US" dirty="0"/>
          </a:p>
          <a:p>
            <a:r>
              <a:rPr lang="en-US" dirty="0"/>
              <a:t>Second, will show the </a:t>
            </a:r>
            <a:r>
              <a:rPr lang="en-US" dirty="0" err="1"/>
              <a:t>Openpages</a:t>
            </a:r>
            <a:r>
              <a:rPr lang="en-US" dirty="0"/>
              <a:t> capacities, which is a GRC, higher level. </a:t>
            </a:r>
          </a:p>
          <a:p>
            <a:endParaRPr lang="en-US" dirty="0"/>
          </a:p>
          <a:p>
            <a:r>
              <a:rPr lang="en-US" dirty="0"/>
              <a:t>	Main point: This gives me a broader view, collections of models, standardized processes, ownership</a:t>
            </a:r>
          </a:p>
          <a:p>
            <a:endParaRPr lang="en-US" dirty="0"/>
          </a:p>
          <a:p>
            <a:r>
              <a:rPr lang="en-US" dirty="0"/>
              <a:t>Together, this gives governance capabilities for a broad audience. </a:t>
            </a:r>
          </a:p>
          <a:p>
            <a:endParaRPr lang="en-US" dirty="0"/>
          </a:p>
          <a:p>
            <a:endParaRPr lang="en-US" dirty="0"/>
          </a:p>
          <a:p>
            <a:r>
              <a:rPr lang="en-US" dirty="0"/>
              <a:t>Next Slide Setup:</a:t>
            </a:r>
          </a:p>
          <a:p>
            <a:endParaRPr lang="en-US" dirty="0"/>
          </a:p>
          <a:p>
            <a:r>
              <a:rPr lang="en-US" dirty="0"/>
              <a:t>Here are the things we will show in the “demo”</a:t>
            </a:r>
          </a:p>
        </p:txBody>
      </p:sp>
      <p:sp>
        <p:nvSpPr>
          <p:cNvPr id="4" name="Slide Number Placeholder 3"/>
          <p:cNvSpPr>
            <a:spLocks noGrp="1"/>
          </p:cNvSpPr>
          <p:nvPr>
            <p:ph type="sldNum" sz="quarter" idx="5"/>
          </p:nvPr>
        </p:nvSpPr>
        <p:spPr/>
        <p:txBody>
          <a:bodyPr/>
          <a:lstStyle/>
          <a:p>
            <a:fld id="{72CE69CD-F1E9-3448-9ED9-63D327A7DD0A}" type="slidenum">
              <a:rPr lang="en-US" smtClean="0"/>
              <a:t>4</a:t>
            </a:fld>
            <a:endParaRPr lang="en-US"/>
          </a:p>
        </p:txBody>
      </p:sp>
    </p:spTree>
    <p:extLst>
      <p:ext uri="{BB962C8B-B14F-4D97-AF65-F5344CB8AC3E}">
        <p14:creationId xmlns:p14="http://schemas.microsoft.com/office/powerpoint/2010/main" val="1041626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5073E-5FD7-0110-A333-F907EF8B9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F8718-5C45-5F2A-FC4F-9C710F4E0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BA0C5-80C6-D923-8FF9-4AEB9C0CEA26}"/>
              </a:ext>
            </a:extLst>
          </p:cNvPr>
          <p:cNvSpPr>
            <a:spLocks noGrp="1"/>
          </p:cNvSpPr>
          <p:nvPr>
            <p:ph type="body" idx="1"/>
          </p:nvPr>
        </p:nvSpPr>
        <p:spPr/>
        <p:txBody>
          <a:bodyPr/>
          <a:lstStyle/>
          <a:p>
            <a:endParaRPr lang="en-US" dirty="0"/>
          </a:p>
          <a:p>
            <a:r>
              <a:rPr lang="en-US" dirty="0"/>
              <a:t>Let’s do the demo of </a:t>
            </a:r>
            <a:r>
              <a:rPr lang="en-US" dirty="0" err="1"/>
              <a:t>Openpages</a:t>
            </a:r>
            <a:r>
              <a:rPr lang="en-US" dirty="0"/>
              <a:t> portion</a:t>
            </a:r>
          </a:p>
          <a:p>
            <a:endParaRPr lang="en-US" dirty="0"/>
          </a:p>
          <a:p>
            <a:r>
              <a:rPr lang="en-US" dirty="0"/>
              <a:t>We are moving to the concept of a use case, which can consume many models. </a:t>
            </a:r>
          </a:p>
          <a:p>
            <a:endParaRPr lang="en-US" dirty="0"/>
          </a:p>
          <a:p>
            <a:r>
              <a:rPr lang="en-US" dirty="0"/>
              <a:t>Site: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sng" dirty="0">
                <a:effectLst/>
                <a:latin typeface="Slack-Lato"/>
              </a:rPr>
              <a:t>https://cp-console-cpd-watsonx.watsonxgov-product-918231-c97c2ce0266e6f32de317d52e2a84f46-0000.us-south.containers.appdomain.cloud/</a:t>
            </a:r>
            <a:r>
              <a:rPr lang="en-US" b="0" i="0" u="sng" dirty="0" err="1">
                <a:effectLst/>
                <a:latin typeface="Slack-Lato"/>
              </a:rPr>
              <a:t>oidc</a:t>
            </a:r>
            <a:r>
              <a:rPr lang="en-US" b="0" i="0" u="sng" dirty="0">
                <a:effectLst/>
                <a:latin typeface="Slack-Lato"/>
              </a:rPr>
              <a:t>/</a:t>
            </a:r>
            <a:r>
              <a:rPr lang="en-US" b="0" i="0" u="sng" dirty="0" err="1">
                <a:effectLst/>
                <a:latin typeface="Slack-Lato"/>
              </a:rPr>
              <a:t>login.jsp</a:t>
            </a:r>
            <a:endParaRPr lang="en-US" b="0" i="0" u="sng" dirty="0">
              <a:effectLst/>
              <a:latin typeface="Slack-Lat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sng" dirty="0">
              <a:effectLst/>
              <a:latin typeface="Slack-Lato"/>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ea typeface="Aptos" panose="020B0004020202020204" pitchFamily="34" charset="0"/>
                <a:cs typeface="Times New Roman" panose="02020603050405020304" pitchFamily="18" charset="0"/>
              </a:rPr>
              <a:t>username: </a:t>
            </a:r>
            <a:r>
              <a:rPr lang="en-US" sz="1200" dirty="0" err="1">
                <a:effectLst/>
                <a:latin typeface="Aptos" panose="020B0004020202020204" pitchFamily="34" charset="0"/>
                <a:ea typeface="Aptos" panose="020B0004020202020204" pitchFamily="34" charset="0"/>
                <a:cs typeface="Times New Roman" panose="02020603050405020304" pitchFamily="18" charset="0"/>
              </a:rPr>
              <a:t>cpadmin</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ea typeface="Aptos" panose="020B0004020202020204" pitchFamily="34" charset="0"/>
                <a:cs typeface="Times New Roman" panose="02020603050405020304" pitchFamily="18" charset="0"/>
              </a:rPr>
              <a:t>password: 05p42dnM5mKXGL9CTgoQ73IGXB6JYMtQ</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ea typeface="Aptos" panose="020B0004020202020204" pitchFamily="34" charset="0"/>
                <a:cs typeface="Times New Roman" panose="02020603050405020304" pitchFamily="18" charset="0"/>
              </a:rPr>
              <a:t>Demo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ea typeface="Aptos" panose="020B0004020202020204" pitchFamily="34" charset="0"/>
                <a:cs typeface="Times New Roman" panose="02020603050405020304" pitchFamily="18" charset="0"/>
              </a:rPr>
              <a:t>Workflows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ea typeface="Aptos" panose="020B0004020202020204" pitchFamily="34" charset="0"/>
                <a:cs typeface="Times New Roman" panose="02020603050405020304" pitchFamily="18" charset="0"/>
              </a:rPr>
              <a:t>	- </a:t>
            </a:r>
            <a:r>
              <a:rPr lang="en-US" dirty="0">
                <a:effectLst/>
                <a:latin typeface="Helvetica Neue" panose="02000503000000020004" pitchFamily="2" charset="0"/>
              </a:rPr>
              <a:t>Approval : Monitoring of the use case, POC at the pilot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B8783F1-8EAF-46B7-3281-C3153429216A}"/>
              </a:ext>
            </a:extLst>
          </p:cNvPr>
          <p:cNvSpPr>
            <a:spLocks noGrp="1"/>
          </p:cNvSpPr>
          <p:nvPr>
            <p:ph type="sldNum" sz="quarter" idx="5"/>
          </p:nvPr>
        </p:nvSpPr>
        <p:spPr/>
        <p:txBody>
          <a:bodyPr/>
          <a:lstStyle/>
          <a:p>
            <a:fld id="{72CE69CD-F1E9-3448-9ED9-63D327A7DD0A}" type="slidenum">
              <a:rPr lang="en-US" smtClean="0"/>
              <a:t>5</a:t>
            </a:fld>
            <a:endParaRPr lang="en-US"/>
          </a:p>
        </p:txBody>
      </p:sp>
    </p:spTree>
    <p:extLst>
      <p:ext uri="{BB962C8B-B14F-4D97-AF65-F5344CB8AC3E}">
        <p14:creationId xmlns:p14="http://schemas.microsoft.com/office/powerpoint/2010/main" val="361362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1AB03-CF2F-AD8F-217D-675732A7E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43D2F-AE59-4481-AB99-455680046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4EA8D-4507-CC1F-D9CE-4EFC02CAAE7B}"/>
              </a:ext>
            </a:extLst>
          </p:cNvPr>
          <p:cNvSpPr>
            <a:spLocks noGrp="1"/>
          </p:cNvSpPr>
          <p:nvPr>
            <p:ph type="body" idx="1"/>
          </p:nvPr>
        </p:nvSpPr>
        <p:spPr/>
        <p:txBody>
          <a:bodyPr/>
          <a:lstStyle/>
          <a:p>
            <a:endParaRPr lang="en-US" dirty="0"/>
          </a:p>
          <a:p>
            <a:r>
              <a:rPr lang="en-US" dirty="0"/>
              <a:t>Let’s do the demo of </a:t>
            </a:r>
            <a:r>
              <a:rPr lang="en-US" dirty="0" err="1"/>
              <a:t>Openscale</a:t>
            </a:r>
            <a:endParaRPr lang="en-US" dirty="0"/>
          </a:p>
          <a:p>
            <a:endParaRPr lang="en-US" dirty="0"/>
          </a:p>
          <a:p>
            <a:r>
              <a:rPr lang="en-US" dirty="0"/>
              <a:t>Let’s say I’m a data scientist who wants to see if my model is performing correctly. Here are some things I would do (read slide)</a:t>
            </a:r>
          </a:p>
          <a:p>
            <a:endParaRPr lang="en-US" dirty="0"/>
          </a:p>
          <a:p>
            <a:r>
              <a:rPr lang="en-US" dirty="0"/>
              <a:t>ICA Link: </a:t>
            </a:r>
          </a:p>
          <a:p>
            <a:endParaRPr lang="en-US" dirty="0"/>
          </a:p>
          <a:p>
            <a:r>
              <a:rPr lang="en-US" dirty="0"/>
              <a:t>https://</a:t>
            </a:r>
            <a:r>
              <a:rPr lang="en-US" dirty="0" err="1"/>
              <a:t>servicesessentials.ibm.com</a:t>
            </a:r>
            <a:r>
              <a:rPr lang="en-US" dirty="0"/>
              <a:t>/launchpad/teams/669fad86b38b4d1c2dc2cdec</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Watson X 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https://cpd-cpd-watsonx.watsonxgov-product-918231-c97c2ce0266e6f32de317d52e2a84f46-0000.us-south.containers.appdomain.cloud/wx/home?context=wx</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457200" marR="0">
              <a:spcBef>
                <a:spcPts val="0"/>
              </a:spcBef>
              <a:spcAft>
                <a:spcPts val="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username: </a:t>
            </a:r>
            <a:r>
              <a:rPr lang="en-US" sz="1200" dirty="0" err="1">
                <a:effectLst/>
                <a:latin typeface="Aptos" panose="020B0004020202020204" pitchFamily="34" charset="0"/>
                <a:ea typeface="Aptos" panose="020B0004020202020204" pitchFamily="34" charset="0"/>
                <a:cs typeface="Times New Roman" panose="02020603050405020304" pitchFamily="18" charset="0"/>
              </a:rPr>
              <a:t>cpadmin</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457200" marR="0">
              <a:spcBef>
                <a:spcPts val="0"/>
              </a:spcBef>
              <a:spcAft>
                <a:spcPts val="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password: 05p42dnM5mKXGL9CTgoQ73IGXB6JYMtQ</a:t>
            </a:r>
          </a:p>
          <a:p>
            <a:endParaRPr lang="en-US" dirty="0"/>
          </a:p>
        </p:txBody>
      </p:sp>
      <p:sp>
        <p:nvSpPr>
          <p:cNvPr id="4" name="Slide Number Placeholder 3">
            <a:extLst>
              <a:ext uri="{FF2B5EF4-FFF2-40B4-BE49-F238E27FC236}">
                <a16:creationId xmlns:a16="http://schemas.microsoft.com/office/drawing/2014/main" id="{F1F7FAA4-60E0-1D16-1D99-33169599374B}"/>
              </a:ext>
            </a:extLst>
          </p:cNvPr>
          <p:cNvSpPr>
            <a:spLocks noGrp="1"/>
          </p:cNvSpPr>
          <p:nvPr>
            <p:ph type="sldNum" sz="quarter" idx="5"/>
          </p:nvPr>
        </p:nvSpPr>
        <p:spPr/>
        <p:txBody>
          <a:bodyPr/>
          <a:lstStyle/>
          <a:p>
            <a:fld id="{72CE69CD-F1E9-3448-9ED9-63D327A7DD0A}" type="slidenum">
              <a:rPr lang="en-US" smtClean="0"/>
              <a:t>6</a:t>
            </a:fld>
            <a:endParaRPr lang="en-US"/>
          </a:p>
        </p:txBody>
      </p:sp>
    </p:spTree>
    <p:extLst>
      <p:ext uri="{BB962C8B-B14F-4D97-AF65-F5344CB8AC3E}">
        <p14:creationId xmlns:p14="http://schemas.microsoft.com/office/powerpoint/2010/main" val="538055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110F2-F55A-3BF0-084D-2EECC0CEF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4C5AD-82B4-F83B-C03F-C4F970E64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1944-EABD-13F0-40A2-916C2BEEAA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EF7F31-2B87-489F-C52C-A82C0A5B17B5}"/>
              </a:ext>
            </a:extLst>
          </p:cNvPr>
          <p:cNvSpPr>
            <a:spLocks noGrp="1"/>
          </p:cNvSpPr>
          <p:nvPr>
            <p:ph type="sldNum" sz="quarter" idx="5"/>
          </p:nvPr>
        </p:nvSpPr>
        <p:spPr/>
        <p:txBody>
          <a:bodyPr/>
          <a:lstStyle/>
          <a:p>
            <a:fld id="{72CE69CD-F1E9-3448-9ED9-63D327A7DD0A}" type="slidenum">
              <a:rPr lang="en-US" smtClean="0"/>
              <a:t>7</a:t>
            </a:fld>
            <a:endParaRPr lang="en-US"/>
          </a:p>
        </p:txBody>
      </p:sp>
    </p:spTree>
    <p:extLst>
      <p:ext uri="{BB962C8B-B14F-4D97-AF65-F5344CB8AC3E}">
        <p14:creationId xmlns:p14="http://schemas.microsoft.com/office/powerpoint/2010/main" val="1350276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Garrett Young, I’m a Technical Solution specialist for Data and AI at IBM. </a:t>
            </a:r>
          </a:p>
          <a:p>
            <a:endParaRPr lang="en-US" dirty="0"/>
          </a:p>
          <a:p>
            <a:r>
              <a:rPr lang="en-US" dirty="0"/>
              <a:t>Today, we are going to show the features of the AI governance solution the Client engineering team put together.</a:t>
            </a:r>
          </a:p>
          <a:p>
            <a:endParaRPr lang="en-US" dirty="0"/>
          </a:p>
          <a:p>
            <a:r>
              <a:rPr lang="en-US" dirty="0"/>
              <a:t>I will start with a presentation highlighting the concepts we will be showing. </a:t>
            </a:r>
          </a:p>
          <a:p>
            <a:endParaRPr lang="en-US" dirty="0"/>
          </a:p>
          <a:p>
            <a:r>
              <a:rPr lang="en-US" dirty="0"/>
              <a:t>Keep in mind, these are just some of the concepts and there is much more to our solution. </a:t>
            </a:r>
          </a:p>
          <a:p>
            <a:endParaRPr lang="en-US" dirty="0"/>
          </a:p>
          <a:p>
            <a:pPr marL="0" indent="0">
              <a:buFontTx/>
              <a:buNone/>
            </a:pPr>
            <a:r>
              <a:rPr lang="en-US" dirty="0"/>
              <a:t>*** Next Slide Setup:</a:t>
            </a:r>
          </a:p>
          <a:p>
            <a:endParaRPr lang="en-US" dirty="0"/>
          </a:p>
          <a:p>
            <a:r>
              <a:rPr lang="en-US" dirty="0"/>
              <a:t>Let’s start by talking about why AI governance is important…. *click*</a:t>
            </a:r>
          </a:p>
          <a:p>
            <a:endParaRPr lang="en-US" dirty="0"/>
          </a:p>
          <a:p>
            <a:endParaRPr lang="en-US" dirty="0"/>
          </a:p>
        </p:txBody>
      </p:sp>
      <p:sp>
        <p:nvSpPr>
          <p:cNvPr id="4" name="Slide Number Placeholder 3"/>
          <p:cNvSpPr>
            <a:spLocks noGrp="1"/>
          </p:cNvSpPr>
          <p:nvPr>
            <p:ph type="sldNum" sz="quarter" idx="5"/>
          </p:nvPr>
        </p:nvSpPr>
        <p:spPr/>
        <p:txBody>
          <a:bodyPr/>
          <a:lstStyle/>
          <a:p>
            <a:fld id="{72CE69CD-F1E9-3448-9ED9-63D327A7DD0A}" type="slidenum">
              <a:rPr lang="en-US" smtClean="0"/>
              <a:t>8</a:t>
            </a:fld>
            <a:endParaRPr lang="en-US"/>
          </a:p>
        </p:txBody>
      </p:sp>
    </p:spTree>
    <p:extLst>
      <p:ext uri="{BB962C8B-B14F-4D97-AF65-F5344CB8AC3E}">
        <p14:creationId xmlns:p14="http://schemas.microsoft.com/office/powerpoint/2010/main" val="91294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models are not governed, such as bias, they can have undesirable behavior. You can see the consequences of this: Lawsuits, organizations reputation, or even your teams reputation internally. </a:t>
            </a:r>
          </a:p>
          <a:p>
            <a:endParaRPr lang="en-US" dirty="0"/>
          </a:p>
          <a:p>
            <a:r>
              <a:rPr lang="en-US" dirty="0"/>
              <a:t>A second issue is speed to delivery, affecting ROI. Manual approvals can slow down deployments.</a:t>
            </a:r>
          </a:p>
          <a:p>
            <a:endParaRPr lang="en-US" dirty="0"/>
          </a:p>
          <a:p>
            <a:r>
              <a:rPr lang="en-US" dirty="0"/>
              <a:t>I want to emphasize two points, which will be shown in the demo, a solution for:</a:t>
            </a:r>
          </a:p>
          <a:p>
            <a:endParaRPr lang="en-US" dirty="0"/>
          </a:p>
          <a:p>
            <a:r>
              <a:rPr lang="en-US" dirty="0"/>
              <a:t>-   Monitoring models </a:t>
            </a:r>
          </a:p>
          <a:p>
            <a:pPr marL="171450" indent="-171450">
              <a:buFontTx/>
              <a:buChar char="-"/>
            </a:pPr>
            <a:r>
              <a:rPr lang="en-US" dirty="0"/>
              <a:t>Manual Approval Process</a:t>
            </a:r>
          </a:p>
          <a:p>
            <a:pPr marL="171450" indent="-171450">
              <a:buFontTx/>
              <a:buChar char="-"/>
            </a:pPr>
            <a:endParaRPr lang="en-US" dirty="0"/>
          </a:p>
          <a:p>
            <a:pPr marL="171450" indent="-171450">
              <a:buFontTx/>
              <a:buChar char="-"/>
            </a:pPr>
            <a:endParaRPr lang="en-US" dirty="0"/>
          </a:p>
          <a:p>
            <a:pPr marL="0" indent="0">
              <a:buFontTx/>
              <a:buNone/>
            </a:pPr>
            <a:r>
              <a:rPr lang="en-US" dirty="0"/>
              <a:t>*** Next Slide Setup:</a:t>
            </a:r>
          </a:p>
          <a:p>
            <a:pPr marL="0" indent="0">
              <a:buFontTx/>
              <a:buNone/>
            </a:pPr>
            <a:endParaRPr lang="en-US" dirty="0"/>
          </a:p>
          <a:p>
            <a:pPr marL="0" indent="0">
              <a:buFontTx/>
              <a:buNone/>
            </a:pPr>
            <a:r>
              <a:rPr lang="en-US" dirty="0"/>
              <a:t>AI Governance can be broken up into 3 pillars, which we address in the solution. ***  click ***</a:t>
            </a:r>
          </a:p>
          <a:p>
            <a:pPr marL="0" indent="0">
              <a:buFontTx/>
              <a:buNone/>
            </a:pPr>
            <a:endParaRPr lang="en-US" dirty="0"/>
          </a:p>
        </p:txBody>
      </p:sp>
      <p:sp>
        <p:nvSpPr>
          <p:cNvPr id="4" name="Slide Number Placeholder 3"/>
          <p:cNvSpPr>
            <a:spLocks noGrp="1"/>
          </p:cNvSpPr>
          <p:nvPr>
            <p:ph type="sldNum" sz="quarter" idx="5"/>
          </p:nvPr>
        </p:nvSpPr>
        <p:spPr/>
        <p:txBody>
          <a:bodyPr/>
          <a:lstStyle/>
          <a:p>
            <a:fld id="{72CE69CD-F1E9-3448-9ED9-63D327A7DD0A}" type="slidenum">
              <a:rPr lang="en-US" smtClean="0"/>
              <a:t>9</a:t>
            </a:fld>
            <a:endParaRPr lang="en-US"/>
          </a:p>
        </p:txBody>
      </p:sp>
    </p:spTree>
    <p:extLst>
      <p:ext uri="{BB962C8B-B14F-4D97-AF65-F5344CB8AC3E}">
        <p14:creationId xmlns:p14="http://schemas.microsoft.com/office/powerpoint/2010/main" val="4184437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pillars of governance are regulatory compliance, risk management and lifecycle governance.</a:t>
            </a:r>
          </a:p>
          <a:p>
            <a:endParaRPr lang="en-US" dirty="0"/>
          </a:p>
          <a:p>
            <a:r>
              <a:rPr lang="en-US" dirty="0"/>
              <a:t>The solution will show how AI use cases can be logically organized with certain regulatory compliance in mind.</a:t>
            </a:r>
          </a:p>
          <a:p>
            <a:endParaRPr lang="en-US" dirty="0"/>
          </a:p>
          <a:p>
            <a:r>
              <a:rPr lang="en-US" dirty="0"/>
              <a:t>In the demo you will also see how models can be monitored for performance and bias, protecting you from reputational consequences, which is part of Risk Management.</a:t>
            </a:r>
          </a:p>
          <a:p>
            <a:endParaRPr lang="en-US" dirty="0"/>
          </a:p>
          <a:p>
            <a:r>
              <a:rPr lang="en-US" dirty="0"/>
              <a:t>Finally, we will show lifecycle governance, which is the idea of graduating your AI assets to the right phase when appropriate. You will see an example of this in the demo.</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Setup:</a:t>
            </a:r>
          </a:p>
          <a:p>
            <a:endParaRPr lang="en-US" dirty="0"/>
          </a:p>
          <a:p>
            <a:r>
              <a:rPr lang="en-US" dirty="0"/>
              <a:t>Let’s  talk about each pillar a little more …</a:t>
            </a:r>
          </a:p>
        </p:txBody>
      </p:sp>
      <p:sp>
        <p:nvSpPr>
          <p:cNvPr id="4" name="Slide Number Placeholder 3"/>
          <p:cNvSpPr>
            <a:spLocks noGrp="1"/>
          </p:cNvSpPr>
          <p:nvPr>
            <p:ph type="sldNum" sz="quarter" idx="5"/>
          </p:nvPr>
        </p:nvSpPr>
        <p:spPr/>
        <p:txBody>
          <a:bodyPr/>
          <a:lstStyle/>
          <a:p>
            <a:fld id="{72CE69CD-F1E9-3448-9ED9-63D327A7DD0A}" type="slidenum">
              <a:rPr lang="en-US" smtClean="0"/>
              <a:t>10</a:t>
            </a:fld>
            <a:endParaRPr lang="en-US"/>
          </a:p>
        </p:txBody>
      </p:sp>
    </p:spTree>
    <p:extLst>
      <p:ext uri="{BB962C8B-B14F-4D97-AF65-F5344CB8AC3E}">
        <p14:creationId xmlns:p14="http://schemas.microsoft.com/office/powerpoint/2010/main" val="1696573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Regulatory Compliance. </a:t>
            </a:r>
          </a:p>
          <a:p>
            <a:endParaRPr lang="en-US" dirty="0"/>
          </a:p>
          <a:p>
            <a:r>
              <a:rPr lang="en-US" dirty="0"/>
              <a:t>You may already have compliance standards created by </a:t>
            </a:r>
            <a:r>
              <a:rPr lang="en-US" dirty="0" err="1"/>
              <a:t>goverments</a:t>
            </a:r>
            <a:r>
              <a:rPr lang="en-US" dirty="0"/>
              <a:t> or other entities. </a:t>
            </a:r>
          </a:p>
          <a:p>
            <a:endParaRPr lang="en-US" dirty="0"/>
          </a:p>
          <a:p>
            <a:r>
              <a:rPr lang="en-US" dirty="0"/>
              <a:t>More details are in the chart, but the Emphasis on our solution is in the top right:</a:t>
            </a:r>
          </a:p>
          <a:p>
            <a:endParaRPr lang="en-US" dirty="0"/>
          </a:p>
          <a:p>
            <a:r>
              <a:rPr lang="en-US" dirty="0"/>
              <a:t>- We want to make sure our existing AI is compliant now and in the future with changing Legislation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Setup:</a:t>
            </a:r>
          </a:p>
          <a:p>
            <a:endParaRPr lang="en-US" dirty="0"/>
          </a:p>
          <a:p>
            <a:r>
              <a:rPr lang="en-US" dirty="0"/>
              <a:t>The second topic we will quickly discuss is risk management… *click*</a:t>
            </a:r>
          </a:p>
        </p:txBody>
      </p:sp>
      <p:sp>
        <p:nvSpPr>
          <p:cNvPr id="4" name="Slide Number Placeholder 3"/>
          <p:cNvSpPr>
            <a:spLocks noGrp="1"/>
          </p:cNvSpPr>
          <p:nvPr>
            <p:ph type="sldNum" sz="quarter" idx="5"/>
          </p:nvPr>
        </p:nvSpPr>
        <p:spPr/>
        <p:txBody>
          <a:bodyPr/>
          <a:lstStyle/>
          <a:p>
            <a:fld id="{72CE69CD-F1E9-3448-9ED9-63D327A7DD0A}" type="slidenum">
              <a:rPr lang="en-US" smtClean="0"/>
              <a:t>11</a:t>
            </a:fld>
            <a:endParaRPr lang="en-US"/>
          </a:p>
        </p:txBody>
      </p:sp>
    </p:spTree>
    <p:extLst>
      <p:ext uri="{BB962C8B-B14F-4D97-AF65-F5344CB8AC3E}">
        <p14:creationId xmlns:p14="http://schemas.microsoft.com/office/powerpoint/2010/main" val="2990818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Risk management, the takeaway is monitoring your models for bias, drift, and the data they provide. </a:t>
            </a:r>
          </a:p>
          <a:p>
            <a:endParaRPr lang="en-US" dirty="0"/>
          </a:p>
          <a:p>
            <a:r>
              <a:rPr lang="en-US" dirty="0"/>
              <a:t>This protects your organizations reputation. We will show this in the demo when we show model metrics.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Setup:</a:t>
            </a:r>
          </a:p>
          <a:p>
            <a:endParaRPr lang="en-US" dirty="0"/>
          </a:p>
          <a:p>
            <a:r>
              <a:rPr lang="en-US" dirty="0"/>
              <a:t>Next, we will discuss model lifecycles. </a:t>
            </a:r>
          </a:p>
        </p:txBody>
      </p:sp>
      <p:sp>
        <p:nvSpPr>
          <p:cNvPr id="4" name="Slide Number Placeholder 3"/>
          <p:cNvSpPr>
            <a:spLocks noGrp="1"/>
          </p:cNvSpPr>
          <p:nvPr>
            <p:ph type="sldNum" sz="quarter" idx="5"/>
          </p:nvPr>
        </p:nvSpPr>
        <p:spPr/>
        <p:txBody>
          <a:bodyPr/>
          <a:lstStyle/>
          <a:p>
            <a:fld id="{72CE69CD-F1E9-3448-9ED9-63D327A7DD0A}" type="slidenum">
              <a:rPr lang="en-US" smtClean="0"/>
              <a:t>12</a:t>
            </a:fld>
            <a:endParaRPr lang="en-US"/>
          </a:p>
        </p:txBody>
      </p:sp>
    </p:spTree>
    <p:extLst>
      <p:ext uri="{BB962C8B-B14F-4D97-AF65-F5344CB8AC3E}">
        <p14:creationId xmlns:p14="http://schemas.microsoft.com/office/powerpoint/2010/main" val="1365683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organization should have phases for models. </a:t>
            </a:r>
          </a:p>
          <a:p>
            <a:endParaRPr lang="en-US" dirty="0"/>
          </a:p>
          <a:p>
            <a:r>
              <a:rPr lang="en-US" dirty="0"/>
              <a:t>In the demo, you will see Dev/Eval/Deployment phases and versioning for models. </a:t>
            </a:r>
          </a:p>
          <a:p>
            <a:endParaRPr lang="en-US" dirty="0"/>
          </a:p>
          <a:p>
            <a:r>
              <a:rPr lang="en-US" dirty="0"/>
              <a:t>We also will show workflows that will streamline processes to get a model approved, making deploying models more efficient.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Setup:</a:t>
            </a:r>
          </a:p>
          <a:p>
            <a:endParaRPr lang="en-US" dirty="0"/>
          </a:p>
          <a:p>
            <a:r>
              <a:rPr lang="en-US" dirty="0"/>
              <a:t>Just click</a:t>
            </a:r>
          </a:p>
        </p:txBody>
      </p:sp>
      <p:sp>
        <p:nvSpPr>
          <p:cNvPr id="4" name="Slide Number Placeholder 3"/>
          <p:cNvSpPr>
            <a:spLocks noGrp="1"/>
          </p:cNvSpPr>
          <p:nvPr>
            <p:ph type="sldNum" sz="quarter" idx="5"/>
          </p:nvPr>
        </p:nvSpPr>
        <p:spPr/>
        <p:txBody>
          <a:bodyPr/>
          <a:lstStyle/>
          <a:p>
            <a:fld id="{72CE69CD-F1E9-3448-9ED9-63D327A7DD0A}" type="slidenum">
              <a:rPr lang="en-US" smtClean="0"/>
              <a:t>13</a:t>
            </a:fld>
            <a:endParaRPr lang="en-US"/>
          </a:p>
        </p:txBody>
      </p:sp>
    </p:spTree>
    <p:extLst>
      <p:ext uri="{BB962C8B-B14F-4D97-AF65-F5344CB8AC3E}">
        <p14:creationId xmlns:p14="http://schemas.microsoft.com/office/powerpoint/2010/main" val="775485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discussed the 3 pillars of governance, which are Regulatory compliance, Risk Management, and Lifecycle governance, we will show these being applied in the demo.</a:t>
            </a:r>
          </a:p>
        </p:txBody>
      </p:sp>
      <p:sp>
        <p:nvSpPr>
          <p:cNvPr id="4" name="Slide Number Placeholder 3"/>
          <p:cNvSpPr>
            <a:spLocks noGrp="1"/>
          </p:cNvSpPr>
          <p:nvPr>
            <p:ph type="sldNum" sz="quarter" idx="5"/>
          </p:nvPr>
        </p:nvSpPr>
        <p:spPr/>
        <p:txBody>
          <a:bodyPr/>
          <a:lstStyle/>
          <a:p>
            <a:fld id="{72CE69CD-F1E9-3448-9ED9-63D327A7DD0A}" type="slidenum">
              <a:rPr lang="en-US" smtClean="0"/>
              <a:t>14</a:t>
            </a:fld>
            <a:endParaRPr lang="en-US"/>
          </a:p>
        </p:txBody>
      </p:sp>
    </p:spTree>
    <p:extLst>
      <p:ext uri="{BB962C8B-B14F-4D97-AF65-F5344CB8AC3E}">
        <p14:creationId xmlns:p14="http://schemas.microsoft.com/office/powerpoint/2010/main" val="1488483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panose="020B0604020202020204" pitchFamily="34" charset="0"/>
              <a:buChar char="•"/>
            </a:pPr>
            <a:r>
              <a:rPr lang="en-US" dirty="0"/>
              <a:t>This is a governance risk and platform</a:t>
            </a:r>
          </a:p>
          <a:p>
            <a:pPr marL="685800" lvl="1" indent="-228600">
              <a:buFont typeface="Arial" panose="020B0604020202020204" pitchFamily="34" charset="0"/>
              <a:buChar char="•"/>
            </a:pPr>
            <a:r>
              <a:rPr lang="en-US" dirty="0"/>
              <a:t>Department wise</a:t>
            </a:r>
          </a:p>
          <a:p>
            <a:pPr marL="685800" lvl="1" indent="-228600">
              <a:buFont typeface="Arial" panose="020B0604020202020204" pitchFamily="34" charset="0"/>
              <a:buChar char="•"/>
            </a:pPr>
            <a:r>
              <a:rPr lang="en-US" dirty="0"/>
              <a:t>Various high level tiles</a:t>
            </a:r>
          </a:p>
          <a:p>
            <a:pPr marL="228600" indent="-228600">
              <a:buAutoNum type="arabicPeriod"/>
            </a:pPr>
            <a:endParaRPr lang="en-US" dirty="0"/>
          </a:p>
          <a:p>
            <a:pPr marL="228600" indent="-228600">
              <a:buAutoNum type="arabicPeriod"/>
            </a:pPr>
            <a:endParaRPr lang="en-US" dirty="0"/>
          </a:p>
          <a:p>
            <a:pPr marL="228600" indent="-228600">
              <a:buAutoNum type="arabicPeriod"/>
            </a:pPr>
            <a:endParaRPr lang="en-US" dirty="0"/>
          </a:p>
          <a:p>
            <a:pPr marL="228600" indent="-228600">
              <a:buAutoNum type="arabicPeriod"/>
            </a:pPr>
            <a:r>
              <a:rPr lang="en-US" dirty="0"/>
              <a:t>Model Inventory – Lists out the models I have for use cases</a:t>
            </a:r>
          </a:p>
          <a:p>
            <a:pPr marL="228600" indent="-228600">
              <a:buAutoNum type="arabicPeriod"/>
            </a:pPr>
            <a:r>
              <a:rPr lang="en-US" dirty="0"/>
              <a:t>Model Performance </a:t>
            </a:r>
          </a:p>
          <a:p>
            <a:pPr marL="228600" indent="-228600">
              <a:buAutoNum type="arabicPeriod"/>
            </a:pPr>
            <a:r>
              <a:rPr lang="en-US" dirty="0"/>
              <a:t>Use Cases and their life cycle. Collection of Models where we can monitor performance (click on “(“)</a:t>
            </a:r>
          </a:p>
        </p:txBody>
      </p:sp>
      <p:sp>
        <p:nvSpPr>
          <p:cNvPr id="4" name="Slide Number Placeholder 3"/>
          <p:cNvSpPr>
            <a:spLocks noGrp="1"/>
          </p:cNvSpPr>
          <p:nvPr>
            <p:ph type="sldNum" sz="quarter" idx="5"/>
          </p:nvPr>
        </p:nvSpPr>
        <p:spPr/>
        <p:txBody>
          <a:bodyPr/>
          <a:lstStyle/>
          <a:p>
            <a:fld id="{72CE69CD-F1E9-3448-9ED9-63D327A7DD0A}" type="slidenum">
              <a:rPr lang="en-US" smtClean="0"/>
              <a:t>15</a:t>
            </a:fld>
            <a:endParaRPr lang="en-US"/>
          </a:p>
        </p:txBody>
      </p:sp>
    </p:spTree>
    <p:extLst>
      <p:ext uri="{BB962C8B-B14F-4D97-AF65-F5344CB8AC3E}">
        <p14:creationId xmlns:p14="http://schemas.microsoft.com/office/powerpoint/2010/main" val="817568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5CE77-92DF-B453-3DBC-0AFF51EEC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B519F-29B1-FE55-CA18-C7EC555FF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88CF2-7B30-B341-31A1-B51C64CD1A06}"/>
              </a:ext>
            </a:extLst>
          </p:cNvPr>
          <p:cNvSpPr>
            <a:spLocks noGrp="1"/>
          </p:cNvSpPr>
          <p:nvPr>
            <p:ph type="body" idx="1"/>
          </p:nvPr>
        </p:nvSpPr>
        <p:spPr/>
        <p:txBody>
          <a:bodyPr/>
          <a:lstStyle/>
          <a:p>
            <a:pPr marL="914400" lvl="2" indent="0">
              <a:buFontTx/>
              <a:buNone/>
            </a:pPr>
            <a:r>
              <a:rPr lang="en-US" dirty="0"/>
              <a:t>Setup : Use cases are a collection of models, and lifecycles that pertain to a specific goal.</a:t>
            </a:r>
          </a:p>
          <a:p>
            <a:pPr marL="228600" indent="-228600">
              <a:buAutoNum type="arabicPeriod"/>
            </a:pPr>
            <a:endParaRPr lang="en-US" dirty="0"/>
          </a:p>
          <a:p>
            <a:pPr marL="228600" indent="-228600">
              <a:buAutoNum type="arabicPeriod"/>
            </a:pPr>
            <a:r>
              <a:rPr lang="en-US" dirty="0"/>
              <a:t>List of use cases, purpose, description</a:t>
            </a:r>
          </a:p>
          <a:p>
            <a:pPr marL="228600" indent="-228600">
              <a:buAutoNum type="arabicPeriod"/>
            </a:pPr>
            <a:endParaRPr lang="en-US" dirty="0"/>
          </a:p>
          <a:p>
            <a:pPr marL="228600" indent="-228600">
              <a:buAutoNum type="arabicPeriod"/>
            </a:pPr>
            <a:r>
              <a:rPr lang="en-US" dirty="0"/>
              <a:t>Status and Risk level (determined later)</a:t>
            </a:r>
          </a:p>
          <a:p>
            <a:pPr marL="228600" indent="-228600">
              <a:buAutoNum type="arabicPeriod"/>
            </a:pPr>
            <a:endParaRPr lang="en-US" dirty="0"/>
          </a:p>
          <a:p>
            <a:pPr marL="228600" indent="-228600">
              <a:buAutoNum type="arabicPeriod"/>
            </a:pPr>
            <a:r>
              <a:rPr lang="en-US" dirty="0"/>
              <a:t>*** Click on Elevance QAG Use Case ***</a:t>
            </a:r>
          </a:p>
        </p:txBody>
      </p:sp>
      <p:sp>
        <p:nvSpPr>
          <p:cNvPr id="4" name="Slide Number Placeholder 3">
            <a:extLst>
              <a:ext uri="{FF2B5EF4-FFF2-40B4-BE49-F238E27FC236}">
                <a16:creationId xmlns:a16="http://schemas.microsoft.com/office/drawing/2014/main" id="{16F94263-2699-5DF8-A695-9FC74DFC8DB6}"/>
              </a:ext>
            </a:extLst>
          </p:cNvPr>
          <p:cNvSpPr>
            <a:spLocks noGrp="1"/>
          </p:cNvSpPr>
          <p:nvPr>
            <p:ph type="sldNum" sz="quarter" idx="5"/>
          </p:nvPr>
        </p:nvSpPr>
        <p:spPr/>
        <p:txBody>
          <a:bodyPr/>
          <a:lstStyle/>
          <a:p>
            <a:fld id="{72CE69CD-F1E9-3448-9ED9-63D327A7DD0A}" type="slidenum">
              <a:rPr lang="en-US" smtClean="0"/>
              <a:t>16</a:t>
            </a:fld>
            <a:endParaRPr lang="en-US"/>
          </a:p>
        </p:txBody>
      </p:sp>
    </p:spTree>
    <p:extLst>
      <p:ext uri="{BB962C8B-B14F-4D97-AF65-F5344CB8AC3E}">
        <p14:creationId xmlns:p14="http://schemas.microsoft.com/office/powerpoint/2010/main" val="1578859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Talk about the owner and how you know accountability, notice Status, and Risk level (top right)</a:t>
            </a:r>
          </a:p>
          <a:p>
            <a:pPr marL="228600" indent="-228600">
              <a:buAutoNum type="arabicPeriod"/>
            </a:pPr>
            <a:r>
              <a:rPr lang="en-US" dirty="0"/>
              <a:t>AI Factsheets- contain detailed </a:t>
            </a:r>
            <a:r>
              <a:rPr lang="en-US" dirty="0" err="1"/>
              <a:t>infomormation</a:t>
            </a:r>
            <a:endParaRPr lang="en-US" dirty="0"/>
          </a:p>
          <a:p>
            <a:pPr marL="228600" indent="-228600">
              <a:buAutoNum type="arabicPeriod"/>
            </a:pPr>
            <a:r>
              <a:rPr lang="en-US" dirty="0"/>
              <a:t>Risk Identification *** Click on Link *** Shows </a:t>
            </a:r>
            <a:r>
              <a:rPr lang="en-US" dirty="0" err="1"/>
              <a:t>Questionaire</a:t>
            </a:r>
            <a:r>
              <a:rPr lang="en-US" dirty="0"/>
              <a:t> to Identify risk for this use case</a:t>
            </a:r>
          </a:p>
          <a:p>
            <a:pPr marL="228600" indent="-228600">
              <a:buAutoNum type="arabicPeriod"/>
            </a:pPr>
            <a:r>
              <a:rPr lang="en-US" dirty="0"/>
              <a:t>*** Go back to the Use Case Console</a:t>
            </a:r>
          </a:p>
          <a:p>
            <a:endParaRPr lang="en-US" dirty="0"/>
          </a:p>
        </p:txBody>
      </p:sp>
      <p:sp>
        <p:nvSpPr>
          <p:cNvPr id="4" name="Slide Number Placeholder 3"/>
          <p:cNvSpPr>
            <a:spLocks noGrp="1"/>
          </p:cNvSpPr>
          <p:nvPr>
            <p:ph type="sldNum" sz="quarter" idx="5"/>
          </p:nvPr>
        </p:nvSpPr>
        <p:spPr/>
        <p:txBody>
          <a:bodyPr/>
          <a:lstStyle/>
          <a:p>
            <a:fld id="{72CE69CD-F1E9-3448-9ED9-63D327A7DD0A}" type="slidenum">
              <a:rPr lang="en-US" smtClean="0"/>
              <a:t>17</a:t>
            </a:fld>
            <a:endParaRPr lang="en-US"/>
          </a:p>
        </p:txBody>
      </p:sp>
    </p:spTree>
    <p:extLst>
      <p:ext uri="{BB962C8B-B14F-4D97-AF65-F5344CB8AC3E}">
        <p14:creationId xmlns:p14="http://schemas.microsoft.com/office/powerpoint/2010/main" val="3715447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Risks associated based off the questionnaire for this use case. </a:t>
            </a:r>
          </a:p>
          <a:p>
            <a:pPr marL="685800" lvl="1" indent="-228600">
              <a:buAutoNum type="arabicPeriod"/>
            </a:pPr>
            <a:r>
              <a:rPr lang="en-US" dirty="0"/>
              <a:t>*** Click on the first use case</a:t>
            </a:r>
          </a:p>
          <a:p>
            <a:pPr marL="685800" lvl="1" indent="-228600">
              <a:buAutoNum type="arabicPeriod"/>
            </a:pPr>
            <a:endParaRPr lang="en-US" dirty="0"/>
          </a:p>
          <a:p>
            <a:pPr marL="228600" lvl="0" indent="-228600">
              <a:buAutoNum type="arabicPeriod"/>
            </a:pPr>
            <a:r>
              <a:rPr lang="en-US" dirty="0"/>
              <a:t>Who is assigned the risk, Reference URL explaining the risk, Mitigation strategy </a:t>
            </a:r>
          </a:p>
          <a:p>
            <a:pPr marL="228600" lvl="0" indent="-228600">
              <a:buAutoNum type="arabicPeriod"/>
            </a:pPr>
            <a:endParaRPr lang="en-US" dirty="0"/>
          </a:p>
        </p:txBody>
      </p:sp>
      <p:sp>
        <p:nvSpPr>
          <p:cNvPr id="4" name="Slide Number Placeholder 3"/>
          <p:cNvSpPr>
            <a:spLocks noGrp="1"/>
          </p:cNvSpPr>
          <p:nvPr>
            <p:ph type="sldNum" sz="quarter" idx="5"/>
          </p:nvPr>
        </p:nvSpPr>
        <p:spPr/>
        <p:txBody>
          <a:bodyPr/>
          <a:lstStyle/>
          <a:p>
            <a:fld id="{72CE69CD-F1E9-3448-9ED9-63D327A7DD0A}" type="slidenum">
              <a:rPr lang="en-US" smtClean="0"/>
              <a:t>18</a:t>
            </a:fld>
            <a:endParaRPr lang="en-US"/>
          </a:p>
        </p:txBody>
      </p:sp>
    </p:spTree>
    <p:extLst>
      <p:ext uri="{BB962C8B-B14F-4D97-AF65-F5344CB8AC3E}">
        <p14:creationId xmlns:p14="http://schemas.microsoft.com/office/powerpoint/2010/main" val="1463446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Model Risks</a:t>
            </a:r>
          </a:p>
          <a:p>
            <a:r>
              <a:rPr lang="en-US" dirty="0"/>
              <a:t>2. Groups of Models</a:t>
            </a:r>
          </a:p>
        </p:txBody>
      </p:sp>
      <p:sp>
        <p:nvSpPr>
          <p:cNvPr id="4" name="Slide Number Placeholder 3"/>
          <p:cNvSpPr>
            <a:spLocks noGrp="1"/>
          </p:cNvSpPr>
          <p:nvPr>
            <p:ph type="sldNum" sz="quarter" idx="5"/>
          </p:nvPr>
        </p:nvSpPr>
        <p:spPr/>
        <p:txBody>
          <a:bodyPr/>
          <a:lstStyle/>
          <a:p>
            <a:fld id="{72CE69CD-F1E9-3448-9ED9-63D327A7DD0A}" type="slidenum">
              <a:rPr lang="en-US" smtClean="0"/>
              <a:t>19</a:t>
            </a:fld>
            <a:endParaRPr lang="en-US"/>
          </a:p>
        </p:txBody>
      </p:sp>
    </p:spTree>
    <p:extLst>
      <p:ext uri="{BB962C8B-B14F-4D97-AF65-F5344CB8AC3E}">
        <p14:creationId xmlns:p14="http://schemas.microsoft.com/office/powerpoint/2010/main" val="638505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C93B-980D-712E-3CEF-A0C8E21F5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770E4-012B-64AD-8C78-10674F731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7F2B9-E75D-36AA-000A-1229BA8084FD}"/>
              </a:ext>
            </a:extLst>
          </p:cNvPr>
          <p:cNvSpPr>
            <a:spLocks noGrp="1"/>
          </p:cNvSpPr>
          <p:nvPr>
            <p:ph type="body" idx="1"/>
          </p:nvPr>
        </p:nvSpPr>
        <p:spPr/>
        <p:txBody>
          <a:bodyPr/>
          <a:lstStyle/>
          <a:p>
            <a:r>
              <a:rPr lang="en-US" dirty="0"/>
              <a:t>Relationships</a:t>
            </a:r>
          </a:p>
          <a:p>
            <a:endParaRPr lang="en-US" dirty="0"/>
          </a:p>
          <a:p>
            <a:r>
              <a:rPr lang="en-US" dirty="0"/>
              <a:t>Ask for help on workflows</a:t>
            </a:r>
          </a:p>
          <a:p>
            <a:endParaRPr lang="en-US" dirty="0"/>
          </a:p>
          <a:p>
            <a:r>
              <a:rPr lang="en-US" dirty="0"/>
              <a:t>Go back to Models above </a:t>
            </a:r>
          </a:p>
        </p:txBody>
      </p:sp>
      <p:sp>
        <p:nvSpPr>
          <p:cNvPr id="4" name="Slide Number Placeholder 3">
            <a:extLst>
              <a:ext uri="{FF2B5EF4-FFF2-40B4-BE49-F238E27FC236}">
                <a16:creationId xmlns:a16="http://schemas.microsoft.com/office/drawing/2014/main" id="{13EC343F-018E-8379-6999-116649928BDF}"/>
              </a:ext>
            </a:extLst>
          </p:cNvPr>
          <p:cNvSpPr>
            <a:spLocks noGrp="1"/>
          </p:cNvSpPr>
          <p:nvPr>
            <p:ph type="sldNum" sz="quarter" idx="5"/>
          </p:nvPr>
        </p:nvSpPr>
        <p:spPr/>
        <p:txBody>
          <a:bodyPr/>
          <a:lstStyle/>
          <a:p>
            <a:fld id="{72CE69CD-F1E9-3448-9ED9-63D327A7DD0A}" type="slidenum">
              <a:rPr lang="en-US" smtClean="0"/>
              <a:t>20</a:t>
            </a:fld>
            <a:endParaRPr lang="en-US"/>
          </a:p>
        </p:txBody>
      </p:sp>
    </p:spTree>
    <p:extLst>
      <p:ext uri="{BB962C8B-B14F-4D97-AF65-F5344CB8AC3E}">
        <p14:creationId xmlns:p14="http://schemas.microsoft.com/office/powerpoint/2010/main" val="1147027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CE69CD-F1E9-3448-9ED9-63D327A7DD0A}" type="slidenum">
              <a:rPr lang="en-US" smtClean="0"/>
              <a:t>21</a:t>
            </a:fld>
            <a:endParaRPr lang="en-US"/>
          </a:p>
        </p:txBody>
      </p:sp>
    </p:spTree>
    <p:extLst>
      <p:ext uri="{BB962C8B-B14F-4D97-AF65-F5344CB8AC3E}">
        <p14:creationId xmlns:p14="http://schemas.microsoft.com/office/powerpoint/2010/main" val="2111594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talk about </a:t>
            </a:r>
            <a:r>
              <a:rPr lang="en-US" dirty="0" err="1"/>
              <a:t>Openscale</a:t>
            </a:r>
            <a:r>
              <a:rPr lang="en-US" dirty="0"/>
              <a:t>, part of </a:t>
            </a:r>
            <a:r>
              <a:rPr lang="en-US" dirty="0" err="1"/>
              <a:t>WatsonX</a:t>
            </a:r>
            <a:r>
              <a:rPr lang="en-US" dirty="0"/>
              <a:t> governance</a:t>
            </a:r>
          </a:p>
          <a:p>
            <a:endParaRPr lang="en-US" dirty="0"/>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err="1">
                <a:effectLst/>
                <a:latin typeface="Aptos" panose="020B0004020202020204" pitchFamily="34" charset="0"/>
                <a:ea typeface="Aptos" panose="020B0004020202020204" pitchFamily="34" charset="0"/>
                <a:cs typeface="Times New Roman" panose="02020603050405020304" pitchFamily="18" charset="0"/>
              </a:rPr>
              <a:t>Openscale</a:t>
            </a:r>
            <a:r>
              <a:rPr lang="en-US" sz="1800" dirty="0">
                <a:effectLst/>
                <a:latin typeface="Aptos" panose="020B0004020202020204" pitchFamily="34" charset="0"/>
                <a:ea typeface="Aptos" panose="020B0004020202020204" pitchFamily="34" charset="0"/>
                <a:cs typeface="Times New Roman" panose="02020603050405020304" pitchFamily="18" charset="0"/>
              </a:rPr>
              <a:t> homepage, with dashboards populated. </a:t>
            </a:r>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 Each dashboard is a model being governed, which we will show in a second</a:t>
            </a:r>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	You could have many dashboards, centralizing a place to get all of your model data.</a:t>
            </a:r>
          </a:p>
          <a:p>
            <a:pPr marL="457200" marR="0">
              <a:spcBef>
                <a:spcPts val="0"/>
              </a:spcBef>
              <a:spcAft>
                <a:spcPts val="0"/>
              </a:spcAft>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 We will click on Single Doc PDF Questions *** Show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2319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two metrics, you can see there are violations detected for this model.</a:t>
            </a:r>
          </a:p>
          <a:p>
            <a:endParaRPr lang="en-US" dirty="0"/>
          </a:p>
          <a:p>
            <a:r>
              <a:rPr lang="en-US" dirty="0"/>
              <a:t>	- Drift</a:t>
            </a:r>
          </a:p>
          <a:p>
            <a:r>
              <a:rPr lang="en-US" dirty="0"/>
              <a:t>		How much deviation the model is producing to the ground truth</a:t>
            </a:r>
          </a:p>
          <a:p>
            <a:endParaRPr lang="en-US" dirty="0"/>
          </a:p>
          <a:p>
            <a:r>
              <a:rPr lang="en-US" dirty="0"/>
              <a:t>	- Generative AI quality</a:t>
            </a:r>
          </a:p>
          <a:p>
            <a:r>
              <a:rPr lang="en-US" dirty="0"/>
              <a:t>		These are mathematical formulas used to evaluate model fairness and performance. Show slide in extra?</a:t>
            </a:r>
          </a:p>
          <a:p>
            <a:endParaRPr lang="en-US" dirty="0"/>
          </a:p>
          <a:p>
            <a:endParaRPr lang="en-US" dirty="0"/>
          </a:p>
          <a:p>
            <a:r>
              <a:rPr lang="en-US" dirty="0"/>
              <a:t>		Examples:</a:t>
            </a:r>
          </a:p>
          <a:p>
            <a:r>
              <a:rPr lang="en-US" dirty="0"/>
              <a:t>		</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p>
          <a:p>
            <a:pPr marL="2628900" marR="0" lvl="5" indent="-342900">
              <a:spcBef>
                <a:spcPts val="0"/>
              </a:spcBef>
              <a:spcAft>
                <a:spcPts val="0"/>
              </a:spcAft>
              <a:buFont typeface="Aptos" panose="020B00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ROUGE Evaluating automatic summarization and machine translation software in natural language processing, making sure summary’s are accurate.</a:t>
            </a:r>
          </a:p>
          <a:p>
            <a:pPr marL="2628900" marR="0" lvl="5" indent="-342900">
              <a:spcBef>
                <a:spcPts val="0"/>
              </a:spcBef>
              <a:spcAft>
                <a:spcPts val="0"/>
              </a:spcAft>
              <a:buFont typeface="Aptos" panose="020B00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BLEU - "the closer a machine translation is to a professional human translation</a:t>
            </a:r>
          </a:p>
          <a:p>
            <a:pPr marL="2628900" marR="0" lvl="5" indent="-342900">
              <a:spcBef>
                <a:spcPts val="0"/>
              </a:spcBef>
              <a:spcAft>
                <a:spcPts val="0"/>
              </a:spcAft>
              <a:buFont typeface="Aptos" panose="020B00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Include PII and HAP (Hate, Profanity) </a:t>
            </a:r>
          </a:p>
          <a:p>
            <a:pPr marL="2628900" marR="0" lvl="5" indent="-342900">
              <a:spcBef>
                <a:spcPts val="0"/>
              </a:spcBef>
              <a:spcAft>
                <a:spcPts val="0"/>
              </a:spcAft>
              <a:buFont typeface="Aptos" panose="020B00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Stock Market example, you can see the violation threshold that can be set, you get the alerts above (same with drift)</a:t>
            </a:r>
          </a:p>
          <a:p>
            <a:pPr marL="2628900" marR="0" lvl="5" indent="-342900">
              <a:spcBef>
                <a:spcPts val="0"/>
              </a:spcBef>
              <a:spcAft>
                <a:spcPts val="0"/>
              </a:spcAft>
              <a:buFont typeface="Aptos" panose="020B00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*Show slide 20* - I can provide the slide here for details. This can be integrated into ICA / Elevance</a:t>
            </a:r>
          </a:p>
          <a:p>
            <a:pPr marL="45720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 </a:t>
            </a: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It also accounts for the number of test runs and how many records were apart of that test run.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We can adjust these values by clicking on the configure button</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7432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here, the values can be adjusted based off your business needs</a:t>
            </a:r>
          </a:p>
          <a:p>
            <a:endParaRPr lang="en-US" dirty="0"/>
          </a:p>
          <a:p>
            <a:r>
              <a:rPr lang="en-US" dirty="0"/>
              <a:t>You can determine what you need to adjust your values based off this slide or research (*** show slide 20)</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9879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Going back,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	Lets take a look at historical values for these violations. This is important to keep track of for auditing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	We can also filter by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	We can also filter out certain metrics that are not important to us by clicking the check marks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81545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deep dive into historical drift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3599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Now lets talk about </a:t>
            </a:r>
            <a:r>
              <a:rPr lang="en-US" sz="1800" dirty="0" err="1">
                <a:effectLst/>
                <a:latin typeface="Aptos" panose="020B0004020202020204" pitchFamily="34" charset="0"/>
                <a:ea typeface="Aptos" panose="020B0004020202020204" pitchFamily="34" charset="0"/>
                <a:cs typeface="Times New Roman" panose="02020603050405020304" pitchFamily="18" charset="0"/>
              </a:rPr>
              <a:t>WatsonX</a:t>
            </a:r>
            <a:r>
              <a:rPr lang="en-US" sz="1800" dirty="0">
                <a:effectLst/>
                <a:latin typeface="Aptos" panose="020B0004020202020204" pitchFamily="34" charset="0"/>
                <a:ea typeface="Aptos" panose="020B0004020202020204" pitchFamily="34" charset="0"/>
                <a:cs typeface="Times New Roman" panose="02020603050405020304" pitchFamily="18" charset="0"/>
              </a:rPr>
              <a:t> Governance- moving onto the factsheet, which contains several metrics in an all in one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You can version your model</a:t>
            </a: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Also, you can lifecycle your models (develop, validate, Operate), Tracking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0989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ID</a:t>
            </a:r>
          </a:p>
          <a:p>
            <a:r>
              <a:rPr lang="en-US" dirty="0"/>
              <a:t>We can see the prompt template that was used for the model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66893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We can also see metrics, which are the same as </a:t>
            </a:r>
            <a:r>
              <a:rPr lang="en-US" sz="1800" dirty="0" err="1">
                <a:effectLst/>
                <a:latin typeface="Aptos" panose="020B0004020202020204" pitchFamily="34" charset="0"/>
                <a:ea typeface="Aptos" panose="020B0004020202020204" pitchFamily="34" charset="0"/>
                <a:cs typeface="Times New Roman" panose="02020603050405020304" pitchFamily="18" charset="0"/>
              </a:rPr>
              <a:t>openscale</a:t>
            </a:r>
            <a:r>
              <a:rPr lang="en-US" sz="1800" dirty="0">
                <a:effectLst/>
                <a:latin typeface="Aptos" panose="020B0004020202020204" pitchFamily="34" charset="0"/>
                <a:ea typeface="Aptos" panose="020B0004020202020204" pitchFamily="34" charset="0"/>
                <a:cs typeface="Times New Roman" panose="02020603050405020304" pitchFamily="18" charset="0"/>
              </a:rPr>
              <a:t>, however, more a report style in one place.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74736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D96D9-F90C-3443-A896-0FA26FC3354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8009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43963972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50682748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226633287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228679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79088269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39326591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322198906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89555261"/>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38017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210312"/>
            <a:ext cx="8569797" cy="4095750"/>
          </a:xfrm>
        </p:spPr>
        <p:txBody>
          <a:bodyPr/>
          <a:lstStyle>
            <a:lvl1pPr>
              <a:defRPr sz="85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1041426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2006154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210312"/>
            <a:ext cx="7330121" cy="48585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5080438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8" y="4649724"/>
            <a:ext cx="5524575"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19" y="4648200"/>
            <a:ext cx="5523781"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0355228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p:spPr>
        <p:txBody>
          <a:bodyPr/>
          <a:lstStyle>
            <a:lvl1pPr>
              <a:lnSpc>
                <a:spcPct val="90000"/>
              </a:lnSpc>
              <a:defRPr sz="64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2727768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3250000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p:spPr>
        <p:txBody>
          <a:bodyPr/>
          <a:lstStyle>
            <a:lvl1pPr>
              <a:lnSpc>
                <a:spcPct val="90000"/>
              </a:lnSpc>
              <a:defRPr sz="64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p:spPr>
        <p:txBody>
          <a:bodyPr/>
          <a:lstStyle>
            <a:lvl1pPr>
              <a:lnSpc>
                <a:spcPct val="90000"/>
              </a:lnSpc>
              <a:defRPr sz="64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7920513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99"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1649472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9667827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6268140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79275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p:spPr>
        <p:txBody>
          <a:bodyPr/>
          <a:lstStyle>
            <a:lvl1pPr>
              <a:lnSpc>
                <a:spcPct val="100000"/>
              </a:lnSpc>
              <a:spcBef>
                <a:spcPts val="0"/>
              </a:spcBef>
              <a:defRPr sz="31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30708964"/>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9"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7697369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492525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9127760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7864200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3135139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p:spPr>
        <p:txBody>
          <a:bodyPr/>
          <a:lstStyle>
            <a:lvl1pPr>
              <a:lnSpc>
                <a:spcPct val="100000"/>
              </a:lnSpc>
              <a:spcBef>
                <a:spcPts val="0"/>
              </a:spcBef>
              <a:defRPr sz="31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8224670"/>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2644943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44077667"/>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49678789"/>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288036"/>
            <a:ext cx="2477765" cy="2286794"/>
          </a:xfrm>
        </p:spPr>
        <p:txBody>
          <a:bodyPr/>
          <a:lstStyle>
            <a:lvl1pPr>
              <a:lnSpc>
                <a:spcPct val="100000"/>
              </a:lnSpc>
              <a:defRPr sz="14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6418716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48316700"/>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89740518"/>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0"/>
            <a:ext cx="2475384" cy="189634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140990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3836309"/>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6"/>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935038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1126923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299770913"/>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996193192"/>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638829958"/>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986511900"/>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25034668"/>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0976523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24529112"/>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1830213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52220292"/>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081148260"/>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3B2C-7B89-09A8-BD3A-B943B33891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E15F70-9FE7-4EFE-912C-C01D24DA7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9E9A19-C311-1F3C-29E4-6A3ADE06D85C}"/>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F3DC0C0D-323F-9E16-4663-DCAE65E04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8B1D4-8D5D-043B-DF59-7C5C3F22B859}"/>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29513256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87A1-CD00-1457-6518-BDEF9DAFC2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0A62E1-C57A-E9FC-0301-1570A01B0D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BC781C-A42F-B0F6-D150-BD46050DE1F6}"/>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C3980DE6-4A98-582D-CF43-22420E2164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9E5E9-3450-BA36-D1FB-9D8461507B2E}"/>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27020787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B0F3-9B60-ADA7-5027-C12DE6EB3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1C39C4-B8FD-1165-A140-150EB06BC7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B566E-1353-C832-7527-D554B77C34CD}"/>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F2D86B6E-10BC-632E-76FE-9A87D1451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D130F-967D-23A7-626D-703AD02C7262}"/>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18762125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6307-2793-723F-07CF-5E1A9EEE0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10128D-E878-F81C-C7DC-132473003D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C267EA-7DD4-DB41-6A54-9A449C76C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BDAACA-01E6-9CE0-6934-D806304FC21B}"/>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6" name="Footer Placeholder 5">
            <a:extLst>
              <a:ext uri="{FF2B5EF4-FFF2-40B4-BE49-F238E27FC236}">
                <a16:creationId xmlns:a16="http://schemas.microsoft.com/office/drawing/2014/main" id="{F3ABD475-48B6-60EE-EA01-925DEAEB3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DD792-24D8-103F-772E-600B5D06E463}"/>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31986402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0AF2-8FF0-F73C-8939-4D01E9AC71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E57EA6-8FCB-0971-0287-430210B663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DFDD1A-0908-7CB4-5D8B-8DA160D2C8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96FA2A-C7E3-7EC3-3B03-52E8F19969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EB1F6E-02DA-FA69-02F9-65D64DBCF7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08124A-8E0F-6FE8-271C-D95C235DFDAF}"/>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8" name="Footer Placeholder 7">
            <a:extLst>
              <a:ext uri="{FF2B5EF4-FFF2-40B4-BE49-F238E27FC236}">
                <a16:creationId xmlns:a16="http://schemas.microsoft.com/office/drawing/2014/main" id="{A4C6D5BE-52DA-AF0D-595C-F300F0EC0C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13A50C-4817-EA8B-3C76-FB0EB6FF51EC}"/>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41267908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18EFD-9817-1F41-9C18-36BD0A4C87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1B3EE3-9239-3D26-E371-2D4C19BF4D4F}"/>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4" name="Footer Placeholder 3">
            <a:extLst>
              <a:ext uri="{FF2B5EF4-FFF2-40B4-BE49-F238E27FC236}">
                <a16:creationId xmlns:a16="http://schemas.microsoft.com/office/drawing/2014/main" id="{0F08A0E7-AB8D-2FDA-AA0A-BBAD4F6E58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3ECE81-2A42-9E8C-A763-CE9C878C1D4B}"/>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15821292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1839FC-5938-4CD7-4721-2C49DFB8B88A}"/>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3" name="Footer Placeholder 2">
            <a:extLst>
              <a:ext uri="{FF2B5EF4-FFF2-40B4-BE49-F238E27FC236}">
                <a16:creationId xmlns:a16="http://schemas.microsoft.com/office/drawing/2014/main" id="{D0D60E2F-DB4F-91A8-C3CC-5B522B74E8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59A7B9-B9CC-E447-0B38-EF601A9E2394}"/>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29098291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CB4F1-1C1B-8F6B-FE37-018F397D8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5CFCC1-436C-79AF-B48B-DA304B82F2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B90731-7A01-5ACB-17C3-8B94E7BF6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253FBC-31E8-38B7-13F6-2CCF62328F7E}"/>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6" name="Footer Placeholder 5">
            <a:extLst>
              <a:ext uri="{FF2B5EF4-FFF2-40B4-BE49-F238E27FC236}">
                <a16:creationId xmlns:a16="http://schemas.microsoft.com/office/drawing/2014/main" id="{A1161305-FE56-34B7-CAE9-8ACD84456D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8FC08-6ADD-D0D1-7175-57EBE5D79196}"/>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36738258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54CD-3F73-1ACD-ED56-FC4C38234D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E43415-2B0C-7BA5-B0CA-70872256E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47CE19-ADFA-41B4-22E3-96E7E547E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271D94-A412-829A-A7CC-109401F1DBBA}"/>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6" name="Footer Placeholder 5">
            <a:extLst>
              <a:ext uri="{FF2B5EF4-FFF2-40B4-BE49-F238E27FC236}">
                <a16:creationId xmlns:a16="http://schemas.microsoft.com/office/drawing/2014/main" id="{94E5F4D8-8252-AE6D-51C7-DA84FBE28A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083DA-7832-B71A-A24D-DE89E7F734ED}"/>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28690495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5D91-EA65-C1B9-88D4-B6778143EF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21C6B8-2958-112C-DF99-7B63ECB569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57D7E-8CFA-502B-63D4-6A0B92DD87E9}"/>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7AD06ACF-206F-FE21-A980-703062D54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DD0F4E-7554-E15B-4C3D-7211B47D68D1}"/>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14206456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F5E36A-09FF-CB63-2A43-239530D939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28AC26-8E70-40F0-10A3-7FA655C57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9B1795-ACCF-F795-FC7B-B70D21C0418F}"/>
              </a:ext>
            </a:extLst>
          </p:cNvPr>
          <p:cNvSpPr>
            <a:spLocks noGrp="1"/>
          </p:cNvSpPr>
          <p:nvPr>
            <p:ph type="dt" sz="half" idx="10"/>
          </p:nvPr>
        </p:nvSpPr>
        <p:spPr/>
        <p:txBody>
          <a:body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7870FB01-223A-5D65-57A9-E759FF8955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1E520-53C7-F866-EB16-51C1336A086B}"/>
              </a:ext>
            </a:extLst>
          </p:cNvPr>
          <p:cNvSpPr>
            <a:spLocks noGrp="1"/>
          </p:cNvSpPr>
          <p:nvPr>
            <p:ph type="sldNum" sz="quarter" idx="12"/>
          </p:nvPr>
        </p:nvSpPr>
        <p:spPr/>
        <p:txBody>
          <a:bodyPr/>
          <a:lstStyle/>
          <a:p>
            <a:fld id="{D40803D3-0F3A-3141-A947-61CF5551C676}" type="slidenum">
              <a:rPr lang="en-US" smtClean="0"/>
              <a:t>‹#›</a:t>
            </a:fld>
            <a:endParaRPr lang="en-US"/>
          </a:p>
        </p:txBody>
      </p:sp>
    </p:spTree>
    <p:extLst>
      <p:ext uri="{BB962C8B-B14F-4D97-AF65-F5344CB8AC3E}">
        <p14:creationId xmlns:p14="http://schemas.microsoft.com/office/powerpoint/2010/main" val="17372826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56539539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514BC-7236-31D1-763B-1B75396BC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80DF63-B5F6-08E8-E1B7-4DE5A1CE11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9A90F-C485-B79F-5A94-E214B281DE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69F828-54F5-7940-8641-0B071E4EEF99}" type="datetimeFigureOut">
              <a:rPr lang="en-US" smtClean="0"/>
              <a:t>10/18/24</a:t>
            </a:fld>
            <a:endParaRPr lang="en-US"/>
          </a:p>
        </p:txBody>
      </p:sp>
      <p:sp>
        <p:nvSpPr>
          <p:cNvPr id="5" name="Footer Placeholder 4">
            <a:extLst>
              <a:ext uri="{FF2B5EF4-FFF2-40B4-BE49-F238E27FC236}">
                <a16:creationId xmlns:a16="http://schemas.microsoft.com/office/drawing/2014/main" id="{8049D66B-B13D-FA17-36B2-F1DAC04F9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EA98C53-2664-9DF0-4644-546F05248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0803D3-0F3A-3141-A947-61CF5551C676}" type="slidenum">
              <a:rPr lang="en-US" smtClean="0"/>
              <a:t>‹#›</a:t>
            </a:fld>
            <a:endParaRPr lang="en-US"/>
          </a:p>
        </p:txBody>
      </p:sp>
    </p:spTree>
    <p:extLst>
      <p:ext uri="{BB962C8B-B14F-4D97-AF65-F5344CB8AC3E}">
        <p14:creationId xmlns:p14="http://schemas.microsoft.com/office/powerpoint/2010/main" val="292936303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8.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4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4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48.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48.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48.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4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48.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48.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descr="Place imagery here">
            <a:extLst>
              <a:ext uri="{FF2B5EF4-FFF2-40B4-BE49-F238E27FC236}">
                <a16:creationId xmlns:a16="http://schemas.microsoft.com/office/drawing/2014/main" id="{3004C220-2B66-8A39-2F1C-7CD70300E81B}"/>
              </a:ext>
            </a:extLst>
          </p:cNvPr>
          <p:cNvSpPr>
            <a:spLocks noGrp="1"/>
          </p:cNvSpPr>
          <p:nvPr>
            <p:ph type="pic" sz="quarter" idx="11"/>
          </p:nvPr>
        </p:nvSpPr>
        <p:spPr/>
        <p:txBody>
          <a:bodyPr/>
          <a:lstStyle/>
          <a:p>
            <a:endParaRPr lang="en-US" dirty="0"/>
          </a:p>
        </p:txBody>
      </p:sp>
      <p:sp>
        <p:nvSpPr>
          <p:cNvPr id="3" name="Title 2">
            <a:extLst>
              <a:ext uri="{FF2B5EF4-FFF2-40B4-BE49-F238E27FC236}">
                <a16:creationId xmlns:a16="http://schemas.microsoft.com/office/drawing/2014/main" id="{02126D7B-9102-E21E-2B99-B968818162B8}"/>
              </a:ext>
            </a:extLst>
          </p:cNvPr>
          <p:cNvSpPr>
            <a:spLocks noGrp="1"/>
          </p:cNvSpPr>
          <p:nvPr>
            <p:ph type="title"/>
          </p:nvPr>
        </p:nvSpPr>
        <p:spPr>
          <a:xfrm>
            <a:off x="287998" y="192024"/>
            <a:ext cx="6533216" cy="3144044"/>
          </a:xfrm>
        </p:spPr>
        <p:txBody>
          <a:bodyPr/>
          <a:lstStyle/>
          <a:p>
            <a:r>
              <a:rPr lang="en-US" dirty="0"/>
              <a:t>Watson X Governance</a:t>
            </a:r>
            <a:br>
              <a:rPr lang="en-US" dirty="0"/>
            </a:br>
            <a:endParaRPr lang="en-US" dirty="0"/>
          </a:p>
        </p:txBody>
      </p:sp>
      <p:sp>
        <p:nvSpPr>
          <p:cNvPr id="4" name="Text Placeholder 3">
            <a:extLst>
              <a:ext uri="{FF2B5EF4-FFF2-40B4-BE49-F238E27FC236}">
                <a16:creationId xmlns:a16="http://schemas.microsoft.com/office/drawing/2014/main" id="{66C6E6D6-034D-0B86-21EF-331BBC8ACF0B}"/>
              </a:ext>
            </a:extLst>
          </p:cNvPr>
          <p:cNvSpPr>
            <a:spLocks noGrp="1"/>
          </p:cNvSpPr>
          <p:nvPr>
            <p:ph type="body" sz="quarter" idx="12"/>
          </p:nvPr>
        </p:nvSpPr>
        <p:spPr/>
        <p:txBody>
          <a:bodyPr/>
          <a:lstStyle/>
          <a:p>
            <a:r>
              <a:rPr lang="en-US" dirty="0"/>
              <a:t>Garrett Young</a:t>
            </a:r>
            <a:br>
              <a:rPr lang="en-US" dirty="0"/>
            </a:br>
            <a:r>
              <a:rPr lang="en-US" dirty="0"/>
              <a:t>Data &amp; AI Solutions Specialist</a:t>
            </a:r>
          </a:p>
        </p:txBody>
      </p:sp>
      <p:sp>
        <p:nvSpPr>
          <p:cNvPr id="5" name="Text Placeholder 4">
            <a:extLst>
              <a:ext uri="{FF2B5EF4-FFF2-40B4-BE49-F238E27FC236}">
                <a16:creationId xmlns:a16="http://schemas.microsoft.com/office/drawing/2014/main" id="{2C8B0768-851E-E6C9-CC65-4B5EC23E1AEF}"/>
              </a:ext>
            </a:extLst>
          </p:cNvPr>
          <p:cNvSpPr>
            <a:spLocks noGrp="1"/>
          </p:cNvSpPr>
          <p:nvPr>
            <p:ph type="body" sz="quarter" idx="13"/>
          </p:nvPr>
        </p:nvSpPr>
        <p:spPr/>
        <p:txBody>
          <a:bodyPr/>
          <a:lstStyle/>
          <a:p>
            <a:r>
              <a:rPr lang="en-US" dirty="0" err="1"/>
              <a:t>sgyoung@us.ibm.com</a:t>
            </a:r>
            <a:endParaRPr lang="en-US" dirty="0"/>
          </a:p>
          <a:p>
            <a:endParaRPr lang="en-US" dirty="0"/>
          </a:p>
        </p:txBody>
      </p:sp>
    </p:spTree>
    <p:extLst>
      <p:ext uri="{BB962C8B-B14F-4D97-AF65-F5344CB8AC3E}">
        <p14:creationId xmlns:p14="http://schemas.microsoft.com/office/powerpoint/2010/main" val="386839039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5A89-31D3-C769-71AD-38E9ADC2B454}"/>
              </a:ext>
            </a:extLst>
          </p:cNvPr>
          <p:cNvSpPr>
            <a:spLocks noGrp="1"/>
          </p:cNvSpPr>
          <p:nvPr>
            <p:ph type="title"/>
          </p:nvPr>
        </p:nvSpPr>
        <p:spPr/>
        <p:txBody>
          <a:bodyPr/>
          <a:lstStyle/>
          <a:p>
            <a:r>
              <a:rPr lang="en-US" dirty="0"/>
              <a:t>Agenda</a:t>
            </a:r>
          </a:p>
        </p:txBody>
      </p:sp>
      <p:sp>
        <p:nvSpPr>
          <p:cNvPr id="4" name="TextBox 3">
            <a:extLst>
              <a:ext uri="{FF2B5EF4-FFF2-40B4-BE49-F238E27FC236}">
                <a16:creationId xmlns:a16="http://schemas.microsoft.com/office/drawing/2014/main" id="{71E0C3E4-36DD-F378-2D58-F19864581124}"/>
              </a:ext>
            </a:extLst>
          </p:cNvPr>
          <p:cNvSpPr txBox="1"/>
          <p:nvPr/>
        </p:nvSpPr>
        <p:spPr>
          <a:xfrm>
            <a:off x="1077686" y="1371600"/>
            <a:ext cx="9862457" cy="38535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Quick intro</a:t>
            </a:r>
          </a:p>
        </p:txBody>
      </p:sp>
      <p:sp>
        <p:nvSpPr>
          <p:cNvPr id="5" name="TextBox 4">
            <a:extLst>
              <a:ext uri="{FF2B5EF4-FFF2-40B4-BE49-F238E27FC236}">
                <a16:creationId xmlns:a16="http://schemas.microsoft.com/office/drawing/2014/main" id="{5002FE04-96B9-C78D-CEFE-5E6C28D21A2E}"/>
              </a:ext>
            </a:extLst>
          </p:cNvPr>
          <p:cNvSpPr txBox="1"/>
          <p:nvPr/>
        </p:nvSpPr>
        <p:spPr>
          <a:xfrm>
            <a:off x="13171714" y="57694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4848136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22BBD3-8F4E-4834-18C3-35F2DF3C0A50}"/>
              </a:ext>
            </a:extLst>
          </p:cNvPr>
          <p:cNvPicPr>
            <a:picLocks noChangeAspect="1"/>
          </p:cNvPicPr>
          <p:nvPr/>
        </p:nvPicPr>
        <p:blipFill>
          <a:blip r:embed="rId3"/>
          <a:stretch>
            <a:fillRect/>
          </a:stretch>
        </p:blipFill>
        <p:spPr>
          <a:xfrm>
            <a:off x="275166" y="158022"/>
            <a:ext cx="11641667" cy="6541956"/>
          </a:xfrm>
          <a:prstGeom prst="rect">
            <a:avLst/>
          </a:prstGeom>
        </p:spPr>
      </p:pic>
      <p:sp>
        <p:nvSpPr>
          <p:cNvPr id="2" name="Rectangle 1">
            <a:extLst>
              <a:ext uri="{FF2B5EF4-FFF2-40B4-BE49-F238E27FC236}">
                <a16:creationId xmlns:a16="http://schemas.microsoft.com/office/drawing/2014/main" id="{135005FD-E11F-87D6-710E-8D89A80B07E6}"/>
              </a:ext>
            </a:extLst>
          </p:cNvPr>
          <p:cNvSpPr/>
          <p:nvPr/>
        </p:nvSpPr>
        <p:spPr>
          <a:xfrm>
            <a:off x="9154886" y="620484"/>
            <a:ext cx="2852057" cy="2808515"/>
          </a:xfrm>
          <a:prstGeom prst="rect">
            <a:avLst/>
          </a:prstGeom>
          <a:noFill/>
          <a:ln w="635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302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95FFC9-FD43-2E0D-E646-B5ED573A31ED}"/>
              </a:ext>
            </a:extLst>
          </p:cNvPr>
          <p:cNvPicPr>
            <a:picLocks noChangeAspect="1"/>
          </p:cNvPicPr>
          <p:nvPr/>
        </p:nvPicPr>
        <p:blipFill>
          <a:blip r:embed="rId3"/>
          <a:stretch>
            <a:fillRect/>
          </a:stretch>
        </p:blipFill>
        <p:spPr>
          <a:xfrm>
            <a:off x="4635500" y="342902"/>
            <a:ext cx="2921000" cy="469900"/>
          </a:xfrm>
          <a:prstGeom prst="rect">
            <a:avLst/>
          </a:prstGeom>
        </p:spPr>
      </p:pic>
      <p:sp>
        <p:nvSpPr>
          <p:cNvPr id="6" name="TextBox 5">
            <a:extLst>
              <a:ext uri="{FF2B5EF4-FFF2-40B4-BE49-F238E27FC236}">
                <a16:creationId xmlns:a16="http://schemas.microsoft.com/office/drawing/2014/main" id="{8DDB1EF6-CE60-0135-A7A6-182155512899}"/>
              </a:ext>
            </a:extLst>
          </p:cNvPr>
          <p:cNvSpPr txBox="1"/>
          <p:nvPr/>
        </p:nvSpPr>
        <p:spPr>
          <a:xfrm>
            <a:off x="517979" y="1652816"/>
            <a:ext cx="4957535" cy="44867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u="sng" kern="0" dirty="0" err="1">
                <a:solidFill>
                  <a:srgbClr val="000000"/>
                </a:solidFill>
                <a:ea typeface="+mj-ea"/>
                <a:cs typeface="+mj-cs"/>
                <a:sym typeface="IBM Plex Sans Light"/>
              </a:rPr>
              <a:t>Openscale</a:t>
            </a:r>
            <a:endParaRPr lang="en-US" u="sng" kern="0" dirty="0">
              <a:solidFill>
                <a:srgbClr val="000000"/>
              </a:solidFill>
              <a:ea typeface="+mj-ea"/>
              <a:cs typeface="+mj-cs"/>
              <a:sym typeface="IBM Plex Sans Light"/>
            </a:endParaRPr>
          </a:p>
          <a:p>
            <a:pPr marL="285750" indent="-285750" defTabSz="2438400">
              <a:spcBef>
                <a:spcPts val="2900"/>
              </a:spcBef>
              <a:buSzPct val="100000"/>
              <a:buFontTx/>
              <a:buChar char="-"/>
            </a:pPr>
            <a:r>
              <a:rPr lang="en-US" dirty="0"/>
              <a:t>Analyze your AI with trust and transparency and understand how your AI models make decisions.</a:t>
            </a:r>
          </a:p>
          <a:p>
            <a:pPr marL="285750" indent="-285750" defTabSz="2438400">
              <a:spcBef>
                <a:spcPts val="2900"/>
              </a:spcBef>
              <a:buSzPct val="100000"/>
              <a:buFontTx/>
              <a:buChar char="-"/>
            </a:pPr>
            <a:r>
              <a:rPr lang="en-US" b="1" dirty="0"/>
              <a:t>Detect and mitigate bias and drift. </a:t>
            </a:r>
          </a:p>
          <a:p>
            <a:pPr marL="285750" indent="-285750" defTabSz="2438400">
              <a:spcBef>
                <a:spcPts val="2900"/>
              </a:spcBef>
              <a:buSzPct val="100000"/>
              <a:buFontTx/>
              <a:buChar char="-"/>
            </a:pPr>
            <a:r>
              <a:rPr lang="en-US" dirty="0"/>
              <a:t>Increase the quality and accuracy of your predictions. </a:t>
            </a:r>
          </a:p>
          <a:p>
            <a:pPr marL="285750" indent="-285750" defTabSz="2438400">
              <a:spcBef>
                <a:spcPts val="2900"/>
              </a:spcBef>
              <a:buSzPct val="100000"/>
              <a:buFontTx/>
              <a:buChar char="-"/>
            </a:pPr>
            <a:r>
              <a:rPr lang="en-US" dirty="0"/>
              <a:t>Explain transactions and perform what-if analysis.</a:t>
            </a:r>
          </a:p>
          <a:p>
            <a:pPr marL="285750" indent="-285750" defTabSz="2438400">
              <a:spcBef>
                <a:spcPts val="2900"/>
              </a:spcBef>
              <a:buSzPct val="100000"/>
              <a:buFontTx/>
              <a:buChar char="-"/>
            </a:pPr>
            <a:r>
              <a:rPr lang="en-US" dirty="0"/>
              <a:t>More granular : Data Scientist / IT</a:t>
            </a:r>
          </a:p>
          <a:p>
            <a:pPr marL="285750" indent="-285750" defTabSz="2438400">
              <a:spcBef>
                <a:spcPts val="2900"/>
              </a:spcBef>
              <a:buSzPct val="100000"/>
              <a:buFontTx/>
              <a:buChar char="-"/>
            </a:pPr>
            <a:endParaRPr lang="en-US" u="sng" kern="0" dirty="0">
              <a:solidFill>
                <a:srgbClr val="000000"/>
              </a:solidFill>
              <a:ea typeface="+mj-ea"/>
              <a:cs typeface="+mj-cs"/>
              <a:sym typeface="IBM Plex Sans Light"/>
            </a:endParaRPr>
          </a:p>
        </p:txBody>
      </p:sp>
      <p:cxnSp>
        <p:nvCxnSpPr>
          <p:cNvPr id="8" name="Straight Connector 7">
            <a:extLst>
              <a:ext uri="{FF2B5EF4-FFF2-40B4-BE49-F238E27FC236}">
                <a16:creationId xmlns:a16="http://schemas.microsoft.com/office/drawing/2014/main" id="{28D4EE78-4A4E-F8E8-8667-1BFA70FD3F41}"/>
              </a:ext>
            </a:extLst>
          </p:cNvPr>
          <p:cNvCxnSpPr/>
          <p:nvPr/>
        </p:nvCxnSpPr>
        <p:spPr>
          <a:xfrm flipV="1">
            <a:off x="6096000" y="1652816"/>
            <a:ext cx="0" cy="4290784"/>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8970572-2184-741E-044A-AFB948C1F6EB}"/>
              </a:ext>
            </a:extLst>
          </p:cNvPr>
          <p:cNvSpPr txBox="1"/>
          <p:nvPr/>
        </p:nvSpPr>
        <p:spPr>
          <a:xfrm>
            <a:off x="6406243" y="1536702"/>
            <a:ext cx="4957535" cy="44867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u="sng" kern="0" dirty="0">
                <a:solidFill>
                  <a:srgbClr val="000000"/>
                </a:solidFill>
                <a:ea typeface="+mj-ea"/>
                <a:cs typeface="+mj-cs"/>
                <a:sym typeface="IBM Plex Sans Light"/>
              </a:rPr>
              <a:t>OpenPages</a:t>
            </a:r>
          </a:p>
          <a:p>
            <a:pPr marL="285750" indent="-285750" defTabSz="2438400">
              <a:spcBef>
                <a:spcPts val="2900"/>
              </a:spcBef>
              <a:buSzPct val="100000"/>
              <a:buFontTx/>
              <a:buChar char="-"/>
            </a:pPr>
            <a:r>
              <a:rPr lang="en-US" dirty="0"/>
              <a:t>Simplifies data governance, risk management and regulatory compliance (GRC)</a:t>
            </a:r>
          </a:p>
          <a:p>
            <a:pPr marL="285750" indent="-285750" defTabSz="2438400">
              <a:spcBef>
                <a:spcPts val="2900"/>
              </a:spcBef>
              <a:buSzPct val="100000"/>
              <a:buFontTx/>
              <a:buChar char="-"/>
            </a:pPr>
            <a:r>
              <a:rPr lang="en-US" dirty="0"/>
              <a:t>Identify, manage, monitor and report on risk and regulatory compliance</a:t>
            </a:r>
          </a:p>
          <a:p>
            <a:pPr marL="285750" indent="-285750" defTabSz="2438400">
              <a:spcBef>
                <a:spcPts val="2900"/>
              </a:spcBef>
              <a:buSzPct val="100000"/>
              <a:buFontTx/>
              <a:buChar char="-"/>
            </a:pPr>
            <a:r>
              <a:rPr lang="en-US" kern="0" dirty="0">
                <a:solidFill>
                  <a:srgbClr val="000000"/>
                </a:solidFill>
                <a:ea typeface="+mj-ea"/>
                <a:cs typeface="+mj-cs"/>
                <a:sym typeface="IBM Plex Sans Light"/>
              </a:rPr>
              <a:t>Larger view : Managers, IT Directors</a:t>
            </a:r>
          </a:p>
        </p:txBody>
      </p:sp>
    </p:spTree>
    <p:extLst>
      <p:ext uri="{BB962C8B-B14F-4D97-AF65-F5344CB8AC3E}">
        <p14:creationId xmlns:p14="http://schemas.microsoft.com/office/powerpoint/2010/main" val="681036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C9AE8-F241-7398-014D-515AA9EA7F4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DDCD7BD-B822-56E8-C9B3-75A7A1C34422}"/>
              </a:ext>
            </a:extLst>
          </p:cNvPr>
          <p:cNvPicPr>
            <a:picLocks noChangeAspect="1"/>
          </p:cNvPicPr>
          <p:nvPr/>
        </p:nvPicPr>
        <p:blipFill>
          <a:blip r:embed="rId3"/>
          <a:stretch>
            <a:fillRect/>
          </a:stretch>
        </p:blipFill>
        <p:spPr>
          <a:xfrm>
            <a:off x="4635500" y="335644"/>
            <a:ext cx="2921000" cy="469900"/>
          </a:xfrm>
          <a:prstGeom prst="rect">
            <a:avLst/>
          </a:prstGeom>
        </p:spPr>
      </p:pic>
      <p:sp>
        <p:nvSpPr>
          <p:cNvPr id="6" name="TextBox 5">
            <a:extLst>
              <a:ext uri="{FF2B5EF4-FFF2-40B4-BE49-F238E27FC236}">
                <a16:creationId xmlns:a16="http://schemas.microsoft.com/office/drawing/2014/main" id="{C37CBEC3-2426-2A17-365B-0D959401A1CD}"/>
              </a:ext>
            </a:extLst>
          </p:cNvPr>
          <p:cNvSpPr txBox="1"/>
          <p:nvPr/>
        </p:nvSpPr>
        <p:spPr>
          <a:xfrm>
            <a:off x="517979" y="1652816"/>
            <a:ext cx="11156042" cy="44867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8400">
              <a:spcBef>
                <a:spcPts val="2900"/>
              </a:spcBef>
              <a:buSzPct val="100000"/>
            </a:pPr>
            <a:r>
              <a:rPr lang="en-US" u="sng" kern="0" dirty="0">
                <a:solidFill>
                  <a:srgbClr val="000000"/>
                </a:solidFill>
                <a:ea typeface="+mj-ea"/>
                <a:cs typeface="+mj-cs"/>
                <a:sym typeface="IBM Plex Sans Light"/>
              </a:rPr>
              <a:t> </a:t>
            </a:r>
            <a:r>
              <a:rPr lang="en-US" u="sng" kern="0" dirty="0" err="1">
                <a:solidFill>
                  <a:srgbClr val="000000"/>
                </a:solidFill>
                <a:ea typeface="+mj-ea"/>
                <a:cs typeface="+mj-cs"/>
                <a:sym typeface="IBM Plex Sans Light"/>
              </a:rPr>
              <a:t>Openpages</a:t>
            </a:r>
            <a:r>
              <a:rPr lang="en-US" u="sng" kern="0" dirty="0">
                <a:solidFill>
                  <a:srgbClr val="000000"/>
                </a:solidFill>
                <a:ea typeface="+mj-ea"/>
                <a:cs typeface="+mj-cs"/>
                <a:sym typeface="IBM Plex Sans Light"/>
              </a:rPr>
              <a:t> CE Solution Key Take Aways:</a:t>
            </a:r>
          </a:p>
          <a:p>
            <a:pPr marL="285750" indent="-285750" defTabSz="2438400">
              <a:spcBef>
                <a:spcPts val="2900"/>
              </a:spcBef>
              <a:buSzPct val="100000"/>
              <a:buFontTx/>
              <a:buChar char="-"/>
            </a:pPr>
            <a:r>
              <a:rPr lang="en-US" dirty="0"/>
              <a:t>Models and the Insight Dashboard, where we get a high level view of compliance</a:t>
            </a:r>
          </a:p>
          <a:p>
            <a:pPr marL="285750" indent="-285750" defTabSz="2438400">
              <a:spcBef>
                <a:spcPts val="2900"/>
              </a:spcBef>
              <a:buSzPct val="100000"/>
              <a:buFontTx/>
              <a:buChar char="-"/>
            </a:pPr>
            <a:r>
              <a:rPr lang="en-US" dirty="0"/>
              <a:t>Show use cases, where we have collections of model, risks</a:t>
            </a:r>
          </a:p>
          <a:p>
            <a:pPr marL="285750" indent="-285750" defTabSz="2438400">
              <a:spcBef>
                <a:spcPts val="2900"/>
              </a:spcBef>
              <a:buSzPct val="100000"/>
              <a:buFontTx/>
              <a:buChar char="-"/>
            </a:pPr>
            <a:r>
              <a:rPr lang="en-US" kern="0" dirty="0">
                <a:solidFill>
                  <a:srgbClr val="000000"/>
                </a:solidFill>
                <a:ea typeface="+mj-ea"/>
                <a:cs typeface="+mj-cs"/>
                <a:sym typeface="IBM Plex Sans Light"/>
              </a:rPr>
              <a:t>Workflows and Automated Approval Processes</a:t>
            </a:r>
          </a:p>
          <a:p>
            <a:pPr marL="285750" indent="-285750" defTabSz="2438400">
              <a:spcBef>
                <a:spcPts val="2900"/>
              </a:spcBef>
              <a:buSzPct val="100000"/>
              <a:buFontTx/>
              <a:buChar char="-"/>
            </a:pPr>
            <a:r>
              <a:rPr lang="en-US" kern="0" dirty="0">
                <a:solidFill>
                  <a:srgbClr val="000000"/>
                </a:solidFill>
                <a:ea typeface="+mj-ea"/>
                <a:cs typeface="+mj-cs"/>
                <a:sym typeface="IBM Plex Sans Light"/>
              </a:rPr>
              <a:t>Operational Efficiency : dev, staging, production</a:t>
            </a:r>
          </a:p>
          <a:p>
            <a:pPr marL="285750" indent="-285750" defTabSz="2438400">
              <a:spcBef>
                <a:spcPts val="2900"/>
              </a:spcBef>
              <a:buSzPct val="100000"/>
              <a:buFontTx/>
              <a:buChar char="-"/>
            </a:pPr>
            <a:endParaRPr lang="en-US" u="sng"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196948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C533E-6177-8BCB-E19D-B3F0CE3BA14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5D32ACE-C243-67EC-5FAF-F6B5519F4EDB}"/>
              </a:ext>
            </a:extLst>
          </p:cNvPr>
          <p:cNvPicPr>
            <a:picLocks noChangeAspect="1"/>
          </p:cNvPicPr>
          <p:nvPr/>
        </p:nvPicPr>
        <p:blipFill>
          <a:blip r:embed="rId3"/>
          <a:stretch>
            <a:fillRect/>
          </a:stretch>
        </p:blipFill>
        <p:spPr>
          <a:xfrm>
            <a:off x="4635500" y="335644"/>
            <a:ext cx="2921000" cy="469900"/>
          </a:xfrm>
          <a:prstGeom prst="rect">
            <a:avLst/>
          </a:prstGeom>
        </p:spPr>
      </p:pic>
      <p:sp>
        <p:nvSpPr>
          <p:cNvPr id="6" name="TextBox 5">
            <a:extLst>
              <a:ext uri="{FF2B5EF4-FFF2-40B4-BE49-F238E27FC236}">
                <a16:creationId xmlns:a16="http://schemas.microsoft.com/office/drawing/2014/main" id="{0EE945F4-7CA6-5B1C-70B7-ECD283DF8319}"/>
              </a:ext>
            </a:extLst>
          </p:cNvPr>
          <p:cNvSpPr txBox="1"/>
          <p:nvPr/>
        </p:nvSpPr>
        <p:spPr>
          <a:xfrm>
            <a:off x="517979" y="1652816"/>
            <a:ext cx="11156042" cy="44867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u="sng" kern="0" dirty="0">
                <a:solidFill>
                  <a:srgbClr val="000000"/>
                </a:solidFill>
                <a:ea typeface="+mj-ea"/>
                <a:cs typeface="+mj-cs"/>
                <a:sym typeface="IBM Plex Sans Light"/>
              </a:rPr>
              <a:t> </a:t>
            </a:r>
            <a:r>
              <a:rPr lang="en-US" u="sng" kern="0" dirty="0" err="1">
                <a:solidFill>
                  <a:srgbClr val="000000"/>
                </a:solidFill>
                <a:ea typeface="+mj-ea"/>
                <a:cs typeface="+mj-cs"/>
                <a:sym typeface="IBM Plex Sans Light"/>
              </a:rPr>
              <a:t>Openscale</a:t>
            </a:r>
            <a:r>
              <a:rPr lang="en-US" u="sng" kern="0" dirty="0">
                <a:solidFill>
                  <a:srgbClr val="000000"/>
                </a:solidFill>
                <a:ea typeface="+mj-ea"/>
                <a:cs typeface="+mj-cs"/>
                <a:sym typeface="IBM Plex Sans Light"/>
              </a:rPr>
              <a:t> CE Solution Key Take Aways for ICA Models:</a:t>
            </a:r>
          </a:p>
          <a:p>
            <a:pPr marL="285750" indent="-285750" defTabSz="2438400">
              <a:spcBef>
                <a:spcPts val="2900"/>
              </a:spcBef>
              <a:buSzPct val="100000"/>
              <a:buFontTx/>
              <a:buChar char="-"/>
            </a:pPr>
            <a:r>
              <a:rPr lang="en-US" dirty="0"/>
              <a:t>Models and the Insight Dashboard </a:t>
            </a:r>
          </a:p>
          <a:p>
            <a:pPr marL="285750" indent="-285750" defTabSz="2438400">
              <a:spcBef>
                <a:spcPts val="2900"/>
              </a:spcBef>
              <a:buSzPct val="100000"/>
              <a:buFontTx/>
              <a:buChar char="-"/>
            </a:pPr>
            <a:r>
              <a:rPr lang="en-US" dirty="0"/>
              <a:t>Alerts with Drift and Generative AI Quality</a:t>
            </a:r>
          </a:p>
          <a:p>
            <a:pPr marL="285750" indent="-285750" defTabSz="2438400">
              <a:spcBef>
                <a:spcPts val="2900"/>
              </a:spcBef>
              <a:buSzPct val="100000"/>
              <a:buFontTx/>
              <a:buChar char="-"/>
            </a:pPr>
            <a:r>
              <a:rPr lang="en-US" dirty="0"/>
              <a:t>How to adjust metrics for monitoring</a:t>
            </a:r>
          </a:p>
          <a:p>
            <a:pPr marL="285750" indent="-285750" defTabSz="2438400">
              <a:spcBef>
                <a:spcPts val="2900"/>
              </a:spcBef>
              <a:buSzPct val="100000"/>
              <a:buFontTx/>
              <a:buChar char="-"/>
            </a:pPr>
            <a:r>
              <a:rPr lang="en-US" dirty="0"/>
              <a:t>Historical governance performance metrics</a:t>
            </a:r>
          </a:p>
          <a:p>
            <a:pPr marL="285750" indent="-285750" defTabSz="2438400">
              <a:spcBef>
                <a:spcPts val="2900"/>
              </a:spcBef>
              <a:buSzPct val="100000"/>
              <a:buFontTx/>
              <a:buChar char="-"/>
            </a:pPr>
            <a:r>
              <a:rPr lang="en-US" dirty="0" err="1"/>
              <a:t>watsonX</a:t>
            </a:r>
            <a:r>
              <a:rPr lang="en-US" dirty="0"/>
              <a:t> Governance AI Factsheets and report generation</a:t>
            </a:r>
          </a:p>
          <a:p>
            <a:pPr marL="285750" indent="-285750" defTabSz="2438400">
              <a:spcBef>
                <a:spcPts val="2900"/>
              </a:spcBef>
              <a:buSzPct val="100000"/>
              <a:buFontTx/>
              <a:buChar char="-"/>
            </a:pPr>
            <a:endParaRPr lang="en-US" u="sng"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875223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870AE-3865-F1AB-150C-8D6D80BB345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7C62BB9-EDBC-DB0D-4528-CCB521F0C074}"/>
              </a:ext>
            </a:extLst>
          </p:cNvPr>
          <p:cNvPicPr>
            <a:picLocks noChangeAspect="1"/>
          </p:cNvPicPr>
          <p:nvPr/>
        </p:nvPicPr>
        <p:blipFill>
          <a:blip r:embed="rId3"/>
          <a:stretch>
            <a:fillRect/>
          </a:stretch>
        </p:blipFill>
        <p:spPr>
          <a:xfrm>
            <a:off x="1753754" y="1280968"/>
            <a:ext cx="2921000" cy="469900"/>
          </a:xfrm>
          <a:prstGeom prst="rect">
            <a:avLst/>
          </a:prstGeom>
        </p:spPr>
      </p:pic>
      <p:sp>
        <p:nvSpPr>
          <p:cNvPr id="6" name="TextBox 5">
            <a:extLst>
              <a:ext uri="{FF2B5EF4-FFF2-40B4-BE49-F238E27FC236}">
                <a16:creationId xmlns:a16="http://schemas.microsoft.com/office/drawing/2014/main" id="{1FFCA3A9-8760-E4CC-6256-2249C4A873BD}"/>
              </a:ext>
            </a:extLst>
          </p:cNvPr>
          <p:cNvSpPr txBox="1"/>
          <p:nvPr/>
        </p:nvSpPr>
        <p:spPr>
          <a:xfrm>
            <a:off x="517979" y="1652816"/>
            <a:ext cx="11156042" cy="44867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750" indent="-285750" defTabSz="2438400">
              <a:spcBef>
                <a:spcPts val="2900"/>
              </a:spcBef>
              <a:buSzPct val="100000"/>
              <a:buFontTx/>
              <a:buChar char="-"/>
            </a:pPr>
            <a:endParaRPr lang="en-US" u="sng" kern="0" dirty="0">
              <a:solidFill>
                <a:srgbClr val="000000"/>
              </a:solidFill>
              <a:ea typeface="+mj-ea"/>
              <a:cs typeface="+mj-cs"/>
              <a:sym typeface="IBM Plex Sans Light"/>
            </a:endParaRPr>
          </a:p>
        </p:txBody>
      </p:sp>
      <p:sp>
        <p:nvSpPr>
          <p:cNvPr id="2" name="Rounded Rectangle 1">
            <a:extLst>
              <a:ext uri="{FF2B5EF4-FFF2-40B4-BE49-F238E27FC236}">
                <a16:creationId xmlns:a16="http://schemas.microsoft.com/office/drawing/2014/main" id="{E46672BA-BA5C-06BE-EF9D-30CEEC623FA0}"/>
              </a:ext>
            </a:extLst>
          </p:cNvPr>
          <p:cNvSpPr/>
          <p:nvPr/>
        </p:nvSpPr>
        <p:spPr>
          <a:xfrm>
            <a:off x="332509" y="1122217"/>
            <a:ext cx="6650182" cy="501732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9432D8-29FD-F34C-60AD-7E977E63727B}"/>
              </a:ext>
            </a:extLst>
          </p:cNvPr>
          <p:cNvPicPr>
            <a:picLocks noChangeAspect="1"/>
          </p:cNvPicPr>
          <p:nvPr/>
        </p:nvPicPr>
        <p:blipFill>
          <a:blip r:embed="rId4"/>
          <a:stretch>
            <a:fillRect/>
          </a:stretch>
        </p:blipFill>
        <p:spPr>
          <a:xfrm>
            <a:off x="9147764" y="1356243"/>
            <a:ext cx="2222500" cy="787400"/>
          </a:xfrm>
          <a:prstGeom prst="rect">
            <a:avLst/>
          </a:prstGeom>
        </p:spPr>
      </p:pic>
      <p:sp>
        <p:nvSpPr>
          <p:cNvPr id="5" name="Rounded Rectangle 4">
            <a:extLst>
              <a:ext uri="{FF2B5EF4-FFF2-40B4-BE49-F238E27FC236}">
                <a16:creationId xmlns:a16="http://schemas.microsoft.com/office/drawing/2014/main" id="{739C57A1-A570-1347-519A-3E6EF9BF77BD}"/>
              </a:ext>
            </a:extLst>
          </p:cNvPr>
          <p:cNvSpPr/>
          <p:nvPr/>
        </p:nvSpPr>
        <p:spPr>
          <a:xfrm>
            <a:off x="517977" y="2472695"/>
            <a:ext cx="2920999" cy="23163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B204BF-A269-C2F2-FD95-F24D678A5ED6}"/>
              </a:ext>
            </a:extLst>
          </p:cNvPr>
          <p:cNvSpPr txBox="1"/>
          <p:nvPr/>
        </p:nvSpPr>
        <p:spPr>
          <a:xfrm>
            <a:off x="598565" y="2636320"/>
            <a:ext cx="2759825" cy="369332"/>
          </a:xfrm>
          <a:prstGeom prst="rect">
            <a:avLst/>
          </a:prstGeom>
          <a:noFill/>
        </p:spPr>
        <p:txBody>
          <a:bodyPr wrap="square" rtlCol="0">
            <a:spAutoFit/>
          </a:bodyPr>
          <a:lstStyle/>
          <a:p>
            <a:r>
              <a:rPr lang="en-US" dirty="0"/>
              <a:t>Deployment Space (Prod)</a:t>
            </a:r>
          </a:p>
        </p:txBody>
      </p:sp>
      <p:sp>
        <p:nvSpPr>
          <p:cNvPr id="8" name="TextBox 7">
            <a:extLst>
              <a:ext uri="{FF2B5EF4-FFF2-40B4-BE49-F238E27FC236}">
                <a16:creationId xmlns:a16="http://schemas.microsoft.com/office/drawing/2014/main" id="{A946723E-6639-FBAC-A11E-BEAA94C20E06}"/>
              </a:ext>
            </a:extLst>
          </p:cNvPr>
          <p:cNvSpPr txBox="1"/>
          <p:nvPr/>
        </p:nvSpPr>
        <p:spPr>
          <a:xfrm>
            <a:off x="1400882" y="3252184"/>
            <a:ext cx="1155190" cy="1200329"/>
          </a:xfrm>
          <a:prstGeom prst="rect">
            <a:avLst/>
          </a:prstGeom>
          <a:noFill/>
        </p:spPr>
        <p:txBody>
          <a:bodyPr wrap="square" rtlCol="0">
            <a:spAutoFit/>
          </a:bodyPr>
          <a:lstStyle/>
          <a:p>
            <a:r>
              <a:rPr lang="en-US" dirty="0"/>
              <a:t>Model 1</a:t>
            </a:r>
          </a:p>
          <a:p>
            <a:r>
              <a:rPr lang="en-US" dirty="0"/>
              <a:t>Model 2</a:t>
            </a:r>
          </a:p>
          <a:p>
            <a:r>
              <a:rPr lang="en-US" dirty="0"/>
              <a:t>….</a:t>
            </a:r>
          </a:p>
          <a:p>
            <a:r>
              <a:rPr lang="en-US" dirty="0"/>
              <a:t>Model X</a:t>
            </a:r>
          </a:p>
        </p:txBody>
      </p:sp>
      <p:sp>
        <p:nvSpPr>
          <p:cNvPr id="9" name="Rounded Rectangle 8">
            <a:extLst>
              <a:ext uri="{FF2B5EF4-FFF2-40B4-BE49-F238E27FC236}">
                <a16:creationId xmlns:a16="http://schemas.microsoft.com/office/drawing/2014/main" id="{4C3D8960-3ABA-E040-E9EB-CA9BC51C2CD2}"/>
              </a:ext>
            </a:extLst>
          </p:cNvPr>
          <p:cNvSpPr/>
          <p:nvPr/>
        </p:nvSpPr>
        <p:spPr>
          <a:xfrm>
            <a:off x="8661076" y="1122217"/>
            <a:ext cx="3195876" cy="525017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795CB1-2B6C-AC96-7CF5-1FAE6F6EC014}"/>
              </a:ext>
            </a:extLst>
          </p:cNvPr>
          <p:cNvSpPr txBox="1"/>
          <p:nvPr/>
        </p:nvSpPr>
        <p:spPr>
          <a:xfrm>
            <a:off x="986138" y="2938941"/>
            <a:ext cx="1910493" cy="369332"/>
          </a:xfrm>
          <a:prstGeom prst="rect">
            <a:avLst/>
          </a:prstGeom>
          <a:noFill/>
        </p:spPr>
        <p:txBody>
          <a:bodyPr wrap="square" rtlCol="0">
            <a:spAutoFit/>
          </a:bodyPr>
          <a:lstStyle/>
          <a:p>
            <a:r>
              <a:rPr lang="en-US" dirty="0"/>
              <a:t>Model Health API</a:t>
            </a:r>
          </a:p>
        </p:txBody>
      </p:sp>
      <p:pic>
        <p:nvPicPr>
          <p:cNvPr id="13" name="Graphic 12" descr="Morse Code with solid fill">
            <a:extLst>
              <a:ext uri="{FF2B5EF4-FFF2-40B4-BE49-F238E27FC236}">
                <a16:creationId xmlns:a16="http://schemas.microsoft.com/office/drawing/2014/main" id="{88A9247E-240F-C7FE-1D7C-4ACEEBF59C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8084" y="2515478"/>
            <a:ext cx="914400" cy="914400"/>
          </a:xfrm>
          <a:prstGeom prst="rect">
            <a:avLst/>
          </a:prstGeom>
        </p:spPr>
      </p:pic>
      <p:pic>
        <p:nvPicPr>
          <p:cNvPr id="14" name="Graphic 13" descr="Morse Code with solid fill">
            <a:extLst>
              <a:ext uri="{FF2B5EF4-FFF2-40B4-BE49-F238E27FC236}">
                <a16:creationId xmlns:a16="http://schemas.microsoft.com/office/drawing/2014/main" id="{6B05248C-F7A7-0AF5-F1D7-3BCDB8064A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8084" y="3331192"/>
            <a:ext cx="914400" cy="914400"/>
          </a:xfrm>
          <a:prstGeom prst="rect">
            <a:avLst/>
          </a:prstGeom>
        </p:spPr>
      </p:pic>
      <p:pic>
        <p:nvPicPr>
          <p:cNvPr id="15" name="Graphic 14" descr="Morse Code with solid fill">
            <a:extLst>
              <a:ext uri="{FF2B5EF4-FFF2-40B4-BE49-F238E27FC236}">
                <a16:creationId xmlns:a16="http://schemas.microsoft.com/office/drawing/2014/main" id="{081253EF-04F0-CC96-6DB8-1B8A9C7C1B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8084" y="4209308"/>
            <a:ext cx="914400" cy="914400"/>
          </a:xfrm>
          <a:prstGeom prst="rect">
            <a:avLst/>
          </a:prstGeom>
        </p:spPr>
      </p:pic>
      <p:sp>
        <p:nvSpPr>
          <p:cNvPr id="16" name="TextBox 15">
            <a:extLst>
              <a:ext uri="{FF2B5EF4-FFF2-40B4-BE49-F238E27FC236}">
                <a16:creationId xmlns:a16="http://schemas.microsoft.com/office/drawing/2014/main" id="{3B75C2E0-2E00-5CD2-52E5-30DB30806EDD}"/>
              </a:ext>
            </a:extLst>
          </p:cNvPr>
          <p:cNvSpPr txBox="1"/>
          <p:nvPr/>
        </p:nvSpPr>
        <p:spPr>
          <a:xfrm>
            <a:off x="4340547" y="2281467"/>
            <a:ext cx="2646217" cy="369332"/>
          </a:xfrm>
          <a:prstGeom prst="rect">
            <a:avLst/>
          </a:prstGeom>
          <a:noFill/>
        </p:spPr>
        <p:txBody>
          <a:bodyPr wrap="square" rtlCol="0">
            <a:spAutoFit/>
          </a:bodyPr>
          <a:lstStyle/>
          <a:p>
            <a:r>
              <a:rPr lang="en-US" dirty="0"/>
              <a:t>Python Jobs (Notebooks)</a:t>
            </a:r>
          </a:p>
        </p:txBody>
      </p:sp>
      <p:cxnSp>
        <p:nvCxnSpPr>
          <p:cNvPr id="18" name="Straight Arrow Connector 17">
            <a:extLst>
              <a:ext uri="{FF2B5EF4-FFF2-40B4-BE49-F238E27FC236}">
                <a16:creationId xmlns:a16="http://schemas.microsoft.com/office/drawing/2014/main" id="{65BC7EB2-4597-664F-E4C6-A6904D83DE21}"/>
              </a:ext>
            </a:extLst>
          </p:cNvPr>
          <p:cNvCxnSpPr/>
          <p:nvPr/>
        </p:nvCxnSpPr>
        <p:spPr>
          <a:xfrm flipV="1">
            <a:off x="2556072" y="3123607"/>
            <a:ext cx="2381688" cy="3053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63B8194-47F2-5CC7-9A0E-32A006D6AD94}"/>
              </a:ext>
            </a:extLst>
          </p:cNvPr>
          <p:cNvCxnSpPr>
            <a:cxnSpLocks/>
          </p:cNvCxnSpPr>
          <p:nvPr/>
        </p:nvCxnSpPr>
        <p:spPr>
          <a:xfrm>
            <a:off x="2582958" y="3680121"/>
            <a:ext cx="2354802" cy="58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F705022-A29D-9E87-838C-759C6295ECAE}"/>
              </a:ext>
            </a:extLst>
          </p:cNvPr>
          <p:cNvCxnSpPr>
            <a:cxnSpLocks/>
          </p:cNvCxnSpPr>
          <p:nvPr/>
        </p:nvCxnSpPr>
        <p:spPr>
          <a:xfrm>
            <a:off x="2480199" y="4312624"/>
            <a:ext cx="2494954" cy="369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5" name="Graphic 24" descr="Database outline">
            <a:extLst>
              <a:ext uri="{FF2B5EF4-FFF2-40B4-BE49-F238E27FC236}">
                <a16:creationId xmlns:a16="http://schemas.microsoft.com/office/drawing/2014/main" id="{BC84E4BA-5E56-C6A2-C397-7711CADB98B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89596" y="2873992"/>
            <a:ext cx="914400" cy="914400"/>
          </a:xfrm>
          <a:prstGeom prst="rect">
            <a:avLst/>
          </a:prstGeom>
        </p:spPr>
      </p:pic>
      <p:cxnSp>
        <p:nvCxnSpPr>
          <p:cNvPr id="26" name="Straight Arrow Connector 25">
            <a:extLst>
              <a:ext uri="{FF2B5EF4-FFF2-40B4-BE49-F238E27FC236}">
                <a16:creationId xmlns:a16="http://schemas.microsoft.com/office/drawing/2014/main" id="{60EFB3DE-E24B-AF0C-96DC-4DB7B35FBC2F}"/>
              </a:ext>
            </a:extLst>
          </p:cNvPr>
          <p:cNvCxnSpPr>
            <a:cxnSpLocks/>
          </p:cNvCxnSpPr>
          <p:nvPr/>
        </p:nvCxnSpPr>
        <p:spPr>
          <a:xfrm flipV="1">
            <a:off x="6039438" y="3452422"/>
            <a:ext cx="1215697" cy="1468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6B61E097-DA89-8C19-F4CC-21F0767A96CF}"/>
              </a:ext>
            </a:extLst>
          </p:cNvPr>
          <p:cNvSpPr txBox="1"/>
          <p:nvPr/>
        </p:nvSpPr>
        <p:spPr>
          <a:xfrm>
            <a:off x="7302507" y="3836398"/>
            <a:ext cx="1079475" cy="376519"/>
          </a:xfrm>
          <a:prstGeom prst="rect">
            <a:avLst/>
          </a:prstGeom>
          <a:noFill/>
        </p:spPr>
        <p:txBody>
          <a:bodyPr wrap="square" rtlCol="0">
            <a:spAutoFit/>
          </a:bodyPr>
          <a:lstStyle/>
          <a:p>
            <a:r>
              <a:rPr lang="en-US" dirty="0"/>
              <a:t>Storage</a:t>
            </a:r>
          </a:p>
        </p:txBody>
      </p:sp>
      <p:cxnSp>
        <p:nvCxnSpPr>
          <p:cNvPr id="29" name="Straight Arrow Connector 28">
            <a:extLst>
              <a:ext uri="{FF2B5EF4-FFF2-40B4-BE49-F238E27FC236}">
                <a16:creationId xmlns:a16="http://schemas.microsoft.com/office/drawing/2014/main" id="{CC4C498A-45E3-E6EA-2E60-1EE74361D45D}"/>
              </a:ext>
            </a:extLst>
          </p:cNvPr>
          <p:cNvCxnSpPr>
            <a:cxnSpLocks/>
          </p:cNvCxnSpPr>
          <p:nvPr/>
        </p:nvCxnSpPr>
        <p:spPr>
          <a:xfrm flipV="1">
            <a:off x="8226835" y="2630256"/>
            <a:ext cx="1636198" cy="753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CFF15528-EF40-8C9B-5B1E-B8CDAEAB9F02}"/>
              </a:ext>
            </a:extLst>
          </p:cNvPr>
          <p:cNvSpPr txBox="1"/>
          <p:nvPr/>
        </p:nvSpPr>
        <p:spPr>
          <a:xfrm>
            <a:off x="6039438" y="3599261"/>
            <a:ext cx="1079475" cy="646331"/>
          </a:xfrm>
          <a:prstGeom prst="rect">
            <a:avLst/>
          </a:prstGeom>
          <a:noFill/>
        </p:spPr>
        <p:txBody>
          <a:bodyPr wrap="square" rtlCol="0">
            <a:spAutoFit/>
          </a:bodyPr>
          <a:lstStyle/>
          <a:p>
            <a:pPr algn="ctr"/>
            <a:r>
              <a:rPr lang="en-US" dirty="0"/>
              <a:t>Token Counts</a:t>
            </a:r>
          </a:p>
        </p:txBody>
      </p:sp>
      <p:sp>
        <p:nvSpPr>
          <p:cNvPr id="32" name="TextBox 31">
            <a:extLst>
              <a:ext uri="{FF2B5EF4-FFF2-40B4-BE49-F238E27FC236}">
                <a16:creationId xmlns:a16="http://schemas.microsoft.com/office/drawing/2014/main" id="{372BE643-4716-8E9F-FE2E-80A6CE6F67F8}"/>
              </a:ext>
            </a:extLst>
          </p:cNvPr>
          <p:cNvSpPr txBox="1"/>
          <p:nvPr/>
        </p:nvSpPr>
        <p:spPr>
          <a:xfrm>
            <a:off x="3621907" y="4721391"/>
            <a:ext cx="1334700" cy="646331"/>
          </a:xfrm>
          <a:prstGeom prst="rect">
            <a:avLst/>
          </a:prstGeom>
          <a:noFill/>
        </p:spPr>
        <p:txBody>
          <a:bodyPr wrap="square" rtlCol="0">
            <a:spAutoFit/>
          </a:bodyPr>
          <a:lstStyle/>
          <a:p>
            <a:pPr algn="ctr"/>
            <a:r>
              <a:rPr lang="en-US" dirty="0"/>
              <a:t>Model Information</a:t>
            </a:r>
          </a:p>
        </p:txBody>
      </p:sp>
      <p:pic>
        <p:nvPicPr>
          <p:cNvPr id="33" name="Graphic 32" descr="Morse Code with solid fill">
            <a:extLst>
              <a:ext uri="{FF2B5EF4-FFF2-40B4-BE49-F238E27FC236}">
                <a16:creationId xmlns:a16="http://schemas.microsoft.com/office/drawing/2014/main" id="{B847B5F4-A0DD-640D-302E-FFC19872DD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0859" y="2173056"/>
            <a:ext cx="914400" cy="914400"/>
          </a:xfrm>
          <a:prstGeom prst="rect">
            <a:avLst/>
          </a:prstGeom>
        </p:spPr>
      </p:pic>
      <p:sp>
        <p:nvSpPr>
          <p:cNvPr id="35" name="TextBox 34">
            <a:extLst>
              <a:ext uri="{FF2B5EF4-FFF2-40B4-BE49-F238E27FC236}">
                <a16:creationId xmlns:a16="http://schemas.microsoft.com/office/drawing/2014/main" id="{5F9BB947-721F-5363-EE98-9FF1D57BCB02}"/>
              </a:ext>
            </a:extLst>
          </p:cNvPr>
          <p:cNvSpPr txBox="1"/>
          <p:nvPr/>
        </p:nvSpPr>
        <p:spPr>
          <a:xfrm>
            <a:off x="9326024" y="3018204"/>
            <a:ext cx="1897661" cy="923330"/>
          </a:xfrm>
          <a:prstGeom prst="rect">
            <a:avLst/>
          </a:prstGeom>
          <a:noFill/>
        </p:spPr>
        <p:txBody>
          <a:bodyPr wrap="square" rtlCol="0">
            <a:spAutoFit/>
          </a:bodyPr>
          <a:lstStyle/>
          <a:p>
            <a:pPr algn="ctr"/>
            <a:r>
              <a:rPr lang="en-US" dirty="0"/>
              <a:t>Calculations</a:t>
            </a:r>
          </a:p>
          <a:p>
            <a:pPr algn="ctr"/>
            <a:r>
              <a:rPr lang="en-US" dirty="0"/>
              <a:t>Price / Regressions</a:t>
            </a:r>
          </a:p>
        </p:txBody>
      </p:sp>
      <p:pic>
        <p:nvPicPr>
          <p:cNvPr id="37" name="Graphic 36" descr="Dollar with solid fill">
            <a:extLst>
              <a:ext uri="{FF2B5EF4-FFF2-40B4-BE49-F238E27FC236}">
                <a16:creationId xmlns:a16="http://schemas.microsoft.com/office/drawing/2014/main" id="{B2D82C08-BF9C-7DE8-F483-AD8C0BEFFA8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17654" y="4587357"/>
            <a:ext cx="914400" cy="914400"/>
          </a:xfrm>
          <a:prstGeom prst="rect">
            <a:avLst/>
          </a:prstGeom>
        </p:spPr>
      </p:pic>
      <p:sp>
        <p:nvSpPr>
          <p:cNvPr id="41" name="TextBox 40">
            <a:extLst>
              <a:ext uri="{FF2B5EF4-FFF2-40B4-BE49-F238E27FC236}">
                <a16:creationId xmlns:a16="http://schemas.microsoft.com/office/drawing/2014/main" id="{A86C4FC2-12D9-17A1-26EB-5115D68FF03F}"/>
              </a:ext>
            </a:extLst>
          </p:cNvPr>
          <p:cNvSpPr txBox="1"/>
          <p:nvPr/>
        </p:nvSpPr>
        <p:spPr>
          <a:xfrm>
            <a:off x="9607504" y="5449057"/>
            <a:ext cx="1334700" cy="923330"/>
          </a:xfrm>
          <a:prstGeom prst="rect">
            <a:avLst/>
          </a:prstGeom>
          <a:noFill/>
        </p:spPr>
        <p:txBody>
          <a:bodyPr wrap="square" rtlCol="0">
            <a:spAutoFit/>
          </a:bodyPr>
          <a:lstStyle/>
          <a:p>
            <a:pPr algn="ctr"/>
            <a:r>
              <a:rPr lang="en-US" dirty="0"/>
              <a:t>Model Cost Information Display</a:t>
            </a:r>
          </a:p>
        </p:txBody>
      </p:sp>
      <p:cxnSp>
        <p:nvCxnSpPr>
          <p:cNvPr id="42" name="Straight Arrow Connector 41">
            <a:extLst>
              <a:ext uri="{FF2B5EF4-FFF2-40B4-BE49-F238E27FC236}">
                <a16:creationId xmlns:a16="http://schemas.microsoft.com/office/drawing/2014/main" id="{58A12C64-52D5-47B2-1164-949694AB7D91}"/>
              </a:ext>
            </a:extLst>
          </p:cNvPr>
          <p:cNvCxnSpPr>
            <a:cxnSpLocks/>
            <a:stCxn id="35" idx="2"/>
            <a:endCxn id="37" idx="0"/>
          </p:cNvCxnSpPr>
          <p:nvPr/>
        </p:nvCxnSpPr>
        <p:spPr>
          <a:xfrm flipH="1">
            <a:off x="10274854" y="3941534"/>
            <a:ext cx="1" cy="6458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F880B2F4-F665-CB90-332A-64F227FA3590}"/>
              </a:ext>
            </a:extLst>
          </p:cNvPr>
          <p:cNvSpPr txBox="1"/>
          <p:nvPr/>
        </p:nvSpPr>
        <p:spPr>
          <a:xfrm>
            <a:off x="2584854" y="72088"/>
            <a:ext cx="7022650" cy="523220"/>
          </a:xfrm>
          <a:prstGeom prst="rect">
            <a:avLst/>
          </a:prstGeom>
          <a:noFill/>
        </p:spPr>
        <p:txBody>
          <a:bodyPr wrap="square" rtlCol="0">
            <a:spAutoFit/>
          </a:bodyPr>
          <a:lstStyle/>
          <a:p>
            <a:r>
              <a:rPr lang="en-US" sz="2800" b="1" dirty="0" err="1"/>
              <a:t>watsonx.governance</a:t>
            </a:r>
            <a:r>
              <a:rPr lang="en-US" sz="2800" b="1" dirty="0"/>
              <a:t> &amp; Apptio Integration </a:t>
            </a:r>
          </a:p>
        </p:txBody>
      </p:sp>
    </p:spTree>
    <p:extLst>
      <p:ext uri="{BB962C8B-B14F-4D97-AF65-F5344CB8AC3E}">
        <p14:creationId xmlns:p14="http://schemas.microsoft.com/office/powerpoint/2010/main" val="1890208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C377-4BC2-5850-8A72-DA1806A0156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CFC1175-4DA9-16A9-E533-0D87FEEC425A}"/>
              </a:ext>
            </a:extLst>
          </p:cNvPr>
          <p:cNvPicPr>
            <a:picLocks noChangeAspect="1"/>
          </p:cNvPicPr>
          <p:nvPr/>
        </p:nvPicPr>
        <p:blipFill>
          <a:blip r:embed="rId3"/>
          <a:stretch>
            <a:fillRect/>
          </a:stretch>
        </p:blipFill>
        <p:spPr>
          <a:xfrm>
            <a:off x="-1" y="-2500"/>
            <a:ext cx="12187557" cy="6860500"/>
          </a:xfrm>
          <a:prstGeom prst="rect">
            <a:avLst/>
          </a:prstGeom>
        </p:spPr>
      </p:pic>
    </p:spTree>
    <p:extLst>
      <p:ext uri="{BB962C8B-B14F-4D97-AF65-F5344CB8AC3E}">
        <p14:creationId xmlns:p14="http://schemas.microsoft.com/office/powerpoint/2010/main" val="3310898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C5DFF-6CC7-7D69-303F-457C4C0A883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135DA55-C7CC-0EE7-9E59-11F52F745BF1}"/>
              </a:ext>
            </a:extLst>
          </p:cNvPr>
          <p:cNvPicPr>
            <a:picLocks noChangeAspect="1"/>
          </p:cNvPicPr>
          <p:nvPr/>
        </p:nvPicPr>
        <p:blipFill>
          <a:blip r:embed="rId3"/>
          <a:stretch>
            <a:fillRect/>
          </a:stretch>
        </p:blipFill>
        <p:spPr>
          <a:xfrm>
            <a:off x="0" y="7912"/>
            <a:ext cx="12206100" cy="6850088"/>
          </a:xfrm>
          <a:prstGeom prst="rect">
            <a:avLst/>
          </a:prstGeom>
        </p:spPr>
      </p:pic>
    </p:spTree>
    <p:extLst>
      <p:ext uri="{BB962C8B-B14F-4D97-AF65-F5344CB8AC3E}">
        <p14:creationId xmlns:p14="http://schemas.microsoft.com/office/powerpoint/2010/main" val="665719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525E57-C0C0-ECFC-067C-97A90B4ABC35}"/>
              </a:ext>
            </a:extLst>
          </p:cNvPr>
          <p:cNvPicPr>
            <a:picLocks noChangeAspect="1"/>
          </p:cNvPicPr>
          <p:nvPr/>
        </p:nvPicPr>
        <p:blipFill>
          <a:blip r:embed="rId3"/>
          <a:stretch>
            <a:fillRect/>
          </a:stretch>
        </p:blipFill>
        <p:spPr>
          <a:xfrm>
            <a:off x="0" y="-10396"/>
            <a:ext cx="12173574" cy="6868396"/>
          </a:xfrm>
          <a:prstGeom prst="rect">
            <a:avLst/>
          </a:prstGeom>
        </p:spPr>
      </p:pic>
    </p:spTree>
    <p:extLst>
      <p:ext uri="{BB962C8B-B14F-4D97-AF65-F5344CB8AC3E}">
        <p14:creationId xmlns:p14="http://schemas.microsoft.com/office/powerpoint/2010/main" val="3710960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2C7172-B490-5EBB-E2C2-67A5691C2887}"/>
              </a:ext>
            </a:extLst>
          </p:cNvPr>
          <p:cNvPicPr>
            <a:picLocks noChangeAspect="1"/>
          </p:cNvPicPr>
          <p:nvPr/>
        </p:nvPicPr>
        <p:blipFill>
          <a:blip r:embed="rId3"/>
          <a:stretch>
            <a:fillRect/>
          </a:stretch>
        </p:blipFill>
        <p:spPr>
          <a:xfrm>
            <a:off x="-1" y="1530"/>
            <a:ext cx="12194721" cy="6856470"/>
          </a:xfrm>
          <a:prstGeom prst="rect">
            <a:avLst/>
          </a:prstGeom>
        </p:spPr>
      </p:pic>
    </p:spTree>
    <p:extLst>
      <p:ext uri="{BB962C8B-B14F-4D97-AF65-F5344CB8AC3E}">
        <p14:creationId xmlns:p14="http://schemas.microsoft.com/office/powerpoint/2010/main" val="314549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010C15-4CCD-343E-7DE5-8E681A335978}"/>
              </a:ext>
            </a:extLst>
          </p:cNvPr>
          <p:cNvPicPr>
            <a:picLocks noChangeAspect="1"/>
          </p:cNvPicPr>
          <p:nvPr/>
        </p:nvPicPr>
        <p:blipFill>
          <a:blip r:embed="rId3"/>
          <a:stretch>
            <a:fillRect/>
          </a:stretch>
        </p:blipFill>
        <p:spPr>
          <a:xfrm>
            <a:off x="-1" y="4282"/>
            <a:ext cx="12199621" cy="6853718"/>
          </a:xfrm>
          <a:prstGeom prst="rect">
            <a:avLst/>
          </a:prstGeom>
        </p:spPr>
      </p:pic>
    </p:spTree>
    <p:extLst>
      <p:ext uri="{BB962C8B-B14F-4D97-AF65-F5344CB8AC3E}">
        <p14:creationId xmlns:p14="http://schemas.microsoft.com/office/powerpoint/2010/main" val="817244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460229-A845-8D7E-7B1D-36851F60E8ED}"/>
              </a:ext>
            </a:extLst>
          </p:cNvPr>
          <p:cNvPicPr>
            <a:picLocks noChangeAspect="1"/>
          </p:cNvPicPr>
          <p:nvPr/>
        </p:nvPicPr>
        <p:blipFill>
          <a:blip r:embed="rId3"/>
          <a:stretch>
            <a:fillRect/>
          </a:stretch>
        </p:blipFill>
        <p:spPr>
          <a:xfrm>
            <a:off x="-1" y="-8889"/>
            <a:ext cx="12176239" cy="6866889"/>
          </a:xfrm>
          <a:prstGeom prst="rect">
            <a:avLst/>
          </a:prstGeom>
        </p:spPr>
      </p:pic>
    </p:spTree>
    <p:extLst>
      <p:ext uri="{BB962C8B-B14F-4D97-AF65-F5344CB8AC3E}">
        <p14:creationId xmlns:p14="http://schemas.microsoft.com/office/powerpoint/2010/main" val="3169082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6135FA-A7C3-7805-9201-81751490CE0D}"/>
              </a:ext>
            </a:extLst>
          </p:cNvPr>
          <p:cNvSpPr txBox="1"/>
          <p:nvPr/>
        </p:nvSpPr>
        <p:spPr>
          <a:xfrm>
            <a:off x="5622073" y="3546089"/>
            <a:ext cx="947854" cy="379812"/>
          </a:xfrm>
          <a:prstGeom prst="rect">
            <a:avLst/>
          </a:prstGeom>
          <a:noFill/>
        </p:spPr>
        <p:txBody>
          <a:bodyPr wrap="square" rtlCol="0">
            <a:spAutoFit/>
          </a:bodyPr>
          <a:lstStyle/>
          <a:p>
            <a:r>
              <a:rPr lang="en-US" dirty="0"/>
              <a:t>Demo</a:t>
            </a:r>
          </a:p>
        </p:txBody>
      </p:sp>
      <p:pic>
        <p:nvPicPr>
          <p:cNvPr id="4" name="Picture 3">
            <a:extLst>
              <a:ext uri="{FF2B5EF4-FFF2-40B4-BE49-F238E27FC236}">
                <a16:creationId xmlns:a16="http://schemas.microsoft.com/office/drawing/2014/main" id="{C9C07338-5032-8647-AD70-96CF049258B6}"/>
              </a:ext>
            </a:extLst>
          </p:cNvPr>
          <p:cNvPicPr>
            <a:picLocks noChangeAspect="1"/>
          </p:cNvPicPr>
          <p:nvPr/>
        </p:nvPicPr>
        <p:blipFill>
          <a:blip r:embed="rId3"/>
          <a:stretch>
            <a:fillRect/>
          </a:stretch>
        </p:blipFill>
        <p:spPr>
          <a:xfrm>
            <a:off x="4337050" y="2892812"/>
            <a:ext cx="3517900" cy="419100"/>
          </a:xfrm>
          <a:prstGeom prst="rect">
            <a:avLst/>
          </a:prstGeom>
        </p:spPr>
      </p:pic>
    </p:spTree>
    <p:extLst>
      <p:ext uri="{BB962C8B-B14F-4D97-AF65-F5344CB8AC3E}">
        <p14:creationId xmlns:p14="http://schemas.microsoft.com/office/powerpoint/2010/main" val="2206800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5C80C5-77CE-0B06-C4D6-23499F1B040D}"/>
              </a:ext>
            </a:extLst>
          </p:cNvPr>
          <p:cNvPicPr>
            <a:picLocks noChangeAspect="1"/>
          </p:cNvPicPr>
          <p:nvPr/>
        </p:nvPicPr>
        <p:blipFill>
          <a:blip r:embed="rId3"/>
          <a:stretch>
            <a:fillRect/>
          </a:stretch>
        </p:blipFill>
        <p:spPr>
          <a:xfrm>
            <a:off x="3309" y="358629"/>
            <a:ext cx="12188691" cy="6140741"/>
          </a:xfrm>
          <a:prstGeom prst="rect">
            <a:avLst/>
          </a:prstGeom>
        </p:spPr>
      </p:pic>
      <p:sp>
        <p:nvSpPr>
          <p:cNvPr id="5" name="Rectangle 4">
            <a:extLst>
              <a:ext uri="{FF2B5EF4-FFF2-40B4-BE49-F238E27FC236}">
                <a16:creationId xmlns:a16="http://schemas.microsoft.com/office/drawing/2014/main" id="{89B6F464-DD3A-E03D-B626-0A73880C4D8D}"/>
              </a:ext>
            </a:extLst>
          </p:cNvPr>
          <p:cNvSpPr/>
          <p:nvPr/>
        </p:nvSpPr>
        <p:spPr>
          <a:xfrm>
            <a:off x="0" y="3061980"/>
            <a:ext cx="3112316" cy="3437389"/>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51C095-A329-AC7C-AD2D-22611FBB1797}"/>
              </a:ext>
            </a:extLst>
          </p:cNvPr>
          <p:cNvSpPr/>
          <p:nvPr/>
        </p:nvSpPr>
        <p:spPr>
          <a:xfrm>
            <a:off x="5967370" y="1609637"/>
            <a:ext cx="3112316" cy="2282856"/>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0A1D77D-A5AC-062B-0787-32F0558EA621}"/>
              </a:ext>
            </a:extLst>
          </p:cNvPr>
          <p:cNvSpPr/>
          <p:nvPr/>
        </p:nvSpPr>
        <p:spPr>
          <a:xfrm>
            <a:off x="6096000" y="4001549"/>
            <a:ext cx="2983686" cy="1409350"/>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6EEDA28-6328-C2CF-020A-041AD62E2156}"/>
              </a:ext>
            </a:extLst>
          </p:cNvPr>
          <p:cNvSpPr txBox="1"/>
          <p:nvPr/>
        </p:nvSpPr>
        <p:spPr>
          <a:xfrm>
            <a:off x="1325461" y="3061979"/>
            <a:ext cx="293614" cy="369332"/>
          </a:xfrm>
          <a:prstGeom prst="rect">
            <a:avLst/>
          </a:prstGeom>
          <a:noFill/>
        </p:spPr>
        <p:txBody>
          <a:bodyPr wrap="square" rtlCol="0">
            <a:spAutoFit/>
          </a:bodyPr>
          <a:lstStyle/>
          <a:p>
            <a:r>
              <a:rPr lang="en-US" dirty="0"/>
              <a:t>1</a:t>
            </a:r>
          </a:p>
        </p:txBody>
      </p:sp>
      <p:sp>
        <p:nvSpPr>
          <p:cNvPr id="9" name="TextBox 8">
            <a:extLst>
              <a:ext uri="{FF2B5EF4-FFF2-40B4-BE49-F238E27FC236}">
                <a16:creationId xmlns:a16="http://schemas.microsoft.com/office/drawing/2014/main" id="{97DB2138-E7FC-0CB1-DB7B-FD2F1FBE2334}"/>
              </a:ext>
            </a:extLst>
          </p:cNvPr>
          <p:cNvSpPr txBox="1"/>
          <p:nvPr/>
        </p:nvSpPr>
        <p:spPr>
          <a:xfrm>
            <a:off x="7294229" y="4067396"/>
            <a:ext cx="293614" cy="369332"/>
          </a:xfrm>
          <a:prstGeom prst="rect">
            <a:avLst/>
          </a:prstGeom>
          <a:noFill/>
        </p:spPr>
        <p:txBody>
          <a:bodyPr wrap="square" rtlCol="0">
            <a:spAutoFit/>
          </a:bodyPr>
          <a:lstStyle/>
          <a:p>
            <a:r>
              <a:rPr lang="en-US" dirty="0"/>
              <a:t>2</a:t>
            </a:r>
          </a:p>
        </p:txBody>
      </p:sp>
      <p:sp>
        <p:nvSpPr>
          <p:cNvPr id="10" name="TextBox 9">
            <a:extLst>
              <a:ext uri="{FF2B5EF4-FFF2-40B4-BE49-F238E27FC236}">
                <a16:creationId xmlns:a16="http://schemas.microsoft.com/office/drawing/2014/main" id="{30553954-3757-63C2-0BED-4BEBEE3BD980}"/>
              </a:ext>
            </a:extLst>
          </p:cNvPr>
          <p:cNvSpPr txBox="1"/>
          <p:nvPr/>
        </p:nvSpPr>
        <p:spPr>
          <a:xfrm>
            <a:off x="7441036" y="1771473"/>
            <a:ext cx="29361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215477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0FCC-F455-0D1C-4EEE-47D17E03F7F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2BC7BB1-9E5E-F9EA-047D-080FDD56E8C6}"/>
              </a:ext>
            </a:extLst>
          </p:cNvPr>
          <p:cNvPicPr>
            <a:picLocks noChangeAspect="1"/>
          </p:cNvPicPr>
          <p:nvPr/>
        </p:nvPicPr>
        <p:blipFill>
          <a:blip r:embed="rId3"/>
          <a:stretch>
            <a:fillRect/>
          </a:stretch>
        </p:blipFill>
        <p:spPr>
          <a:xfrm>
            <a:off x="20079" y="664408"/>
            <a:ext cx="12151842" cy="5107218"/>
          </a:xfrm>
          <a:prstGeom prst="rect">
            <a:avLst/>
          </a:prstGeom>
        </p:spPr>
      </p:pic>
      <p:sp>
        <p:nvSpPr>
          <p:cNvPr id="5" name="Rectangle 4">
            <a:extLst>
              <a:ext uri="{FF2B5EF4-FFF2-40B4-BE49-F238E27FC236}">
                <a16:creationId xmlns:a16="http://schemas.microsoft.com/office/drawing/2014/main" id="{83F93D5C-680C-0E88-EBCA-8F19B0D62ACE}"/>
              </a:ext>
            </a:extLst>
          </p:cNvPr>
          <p:cNvSpPr/>
          <p:nvPr/>
        </p:nvSpPr>
        <p:spPr>
          <a:xfrm>
            <a:off x="62917" y="1710305"/>
            <a:ext cx="3871520" cy="4304601"/>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8FAFF-9812-4331-AF5E-A1B1D7AD348C}"/>
              </a:ext>
            </a:extLst>
          </p:cNvPr>
          <p:cNvSpPr/>
          <p:nvPr/>
        </p:nvSpPr>
        <p:spPr>
          <a:xfrm>
            <a:off x="8100969" y="1808667"/>
            <a:ext cx="2846666" cy="3711289"/>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405FA8A-CE1D-2C3B-3A89-D61C5752001F}"/>
              </a:ext>
            </a:extLst>
          </p:cNvPr>
          <p:cNvSpPr txBox="1"/>
          <p:nvPr/>
        </p:nvSpPr>
        <p:spPr>
          <a:xfrm>
            <a:off x="1619076" y="1808667"/>
            <a:ext cx="293614" cy="369332"/>
          </a:xfrm>
          <a:prstGeom prst="rect">
            <a:avLst/>
          </a:prstGeom>
          <a:noFill/>
        </p:spPr>
        <p:txBody>
          <a:bodyPr wrap="square" rtlCol="0">
            <a:spAutoFit/>
          </a:bodyPr>
          <a:lstStyle/>
          <a:p>
            <a:r>
              <a:rPr lang="en-US" dirty="0"/>
              <a:t>1</a:t>
            </a:r>
          </a:p>
        </p:txBody>
      </p:sp>
      <p:sp>
        <p:nvSpPr>
          <p:cNvPr id="9" name="TextBox 8">
            <a:extLst>
              <a:ext uri="{FF2B5EF4-FFF2-40B4-BE49-F238E27FC236}">
                <a16:creationId xmlns:a16="http://schemas.microsoft.com/office/drawing/2014/main" id="{63B6F82C-3F97-8DC0-8BED-7AACF0B453C1}"/>
              </a:ext>
            </a:extLst>
          </p:cNvPr>
          <p:cNvSpPr txBox="1"/>
          <p:nvPr/>
        </p:nvSpPr>
        <p:spPr>
          <a:xfrm>
            <a:off x="7294229" y="4067396"/>
            <a:ext cx="293614" cy="369332"/>
          </a:xfrm>
          <a:prstGeom prst="rect">
            <a:avLst/>
          </a:prstGeom>
          <a:noFill/>
        </p:spPr>
        <p:txBody>
          <a:bodyPr wrap="square" rtlCol="0">
            <a:spAutoFit/>
          </a:bodyPr>
          <a:lstStyle/>
          <a:p>
            <a:r>
              <a:rPr lang="en-US" dirty="0"/>
              <a:t>2</a:t>
            </a:r>
          </a:p>
        </p:txBody>
      </p:sp>
      <p:sp>
        <p:nvSpPr>
          <p:cNvPr id="10" name="TextBox 9">
            <a:extLst>
              <a:ext uri="{FF2B5EF4-FFF2-40B4-BE49-F238E27FC236}">
                <a16:creationId xmlns:a16="http://schemas.microsoft.com/office/drawing/2014/main" id="{292A80AB-6E72-7CDF-98D8-49E64C7B445C}"/>
              </a:ext>
            </a:extLst>
          </p:cNvPr>
          <p:cNvSpPr txBox="1"/>
          <p:nvPr/>
        </p:nvSpPr>
        <p:spPr>
          <a:xfrm>
            <a:off x="9524302" y="1830695"/>
            <a:ext cx="293614"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693989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2C16DF-1216-4557-0BE8-596530D0C5A7}"/>
              </a:ext>
            </a:extLst>
          </p:cNvPr>
          <p:cNvPicPr>
            <a:picLocks noChangeAspect="1"/>
          </p:cNvPicPr>
          <p:nvPr/>
        </p:nvPicPr>
        <p:blipFill>
          <a:blip r:embed="rId3"/>
          <a:stretch>
            <a:fillRect/>
          </a:stretch>
        </p:blipFill>
        <p:spPr>
          <a:xfrm>
            <a:off x="0" y="0"/>
            <a:ext cx="7772400" cy="4981465"/>
          </a:xfrm>
          <a:prstGeom prst="rect">
            <a:avLst/>
          </a:prstGeom>
        </p:spPr>
      </p:pic>
      <p:sp>
        <p:nvSpPr>
          <p:cNvPr id="5" name="Rectangle 4">
            <a:extLst>
              <a:ext uri="{FF2B5EF4-FFF2-40B4-BE49-F238E27FC236}">
                <a16:creationId xmlns:a16="http://schemas.microsoft.com/office/drawing/2014/main" id="{FF8597ED-2B49-4634-132F-348682322D32}"/>
              </a:ext>
            </a:extLst>
          </p:cNvPr>
          <p:cNvSpPr/>
          <p:nvPr/>
        </p:nvSpPr>
        <p:spPr>
          <a:xfrm>
            <a:off x="85494" y="1552262"/>
            <a:ext cx="7579661" cy="1078049"/>
          </a:xfrm>
          <a:prstGeom prst="rect">
            <a:avLst/>
          </a:prstGeom>
          <a:noFill/>
          <a:ln w="635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4CC60BF-1ED7-06A5-28A4-0590D00C9AB5}"/>
              </a:ext>
            </a:extLst>
          </p:cNvPr>
          <p:cNvSpPr txBox="1"/>
          <p:nvPr/>
        </p:nvSpPr>
        <p:spPr>
          <a:xfrm>
            <a:off x="1619076" y="1808667"/>
            <a:ext cx="293614" cy="369332"/>
          </a:xfrm>
          <a:prstGeom prst="rect">
            <a:avLst/>
          </a:prstGeom>
          <a:noFill/>
        </p:spPr>
        <p:txBody>
          <a:bodyPr wrap="square" rtlCol="0">
            <a:spAutoFit/>
          </a:bodyPr>
          <a:lstStyle/>
          <a:p>
            <a:r>
              <a:rPr lang="en-US" dirty="0"/>
              <a:t>1</a:t>
            </a:r>
          </a:p>
        </p:txBody>
      </p:sp>
      <p:cxnSp>
        <p:nvCxnSpPr>
          <p:cNvPr id="10" name="Straight Arrow Connector 9">
            <a:extLst>
              <a:ext uri="{FF2B5EF4-FFF2-40B4-BE49-F238E27FC236}">
                <a16:creationId xmlns:a16="http://schemas.microsoft.com/office/drawing/2014/main" id="{F8FE2E7C-87B4-B3D7-604E-7BDAF9064500}"/>
              </a:ext>
            </a:extLst>
          </p:cNvPr>
          <p:cNvCxnSpPr/>
          <p:nvPr/>
        </p:nvCxnSpPr>
        <p:spPr>
          <a:xfrm flipH="1">
            <a:off x="7772400" y="2923822"/>
            <a:ext cx="9764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BBC8039-DE36-69AB-BC95-67BFD5AB3782}"/>
              </a:ext>
            </a:extLst>
          </p:cNvPr>
          <p:cNvSpPr txBox="1"/>
          <p:nvPr/>
        </p:nvSpPr>
        <p:spPr>
          <a:xfrm>
            <a:off x="8860899" y="2739156"/>
            <a:ext cx="293614" cy="369332"/>
          </a:xfrm>
          <a:prstGeom prst="rect">
            <a:avLst/>
          </a:prstGeom>
          <a:noFill/>
        </p:spPr>
        <p:txBody>
          <a:bodyPr wrap="square" rtlCol="0">
            <a:spAutoFit/>
          </a:bodyPr>
          <a:lstStyle/>
          <a:p>
            <a:r>
              <a:rPr lang="en-US" dirty="0"/>
              <a:t>2</a:t>
            </a:r>
          </a:p>
        </p:txBody>
      </p:sp>
      <p:pic>
        <p:nvPicPr>
          <p:cNvPr id="12" name="Picture 11">
            <a:extLst>
              <a:ext uri="{FF2B5EF4-FFF2-40B4-BE49-F238E27FC236}">
                <a16:creationId xmlns:a16="http://schemas.microsoft.com/office/drawing/2014/main" id="{D905ABDA-62E5-BE3D-CD36-1FE4BDC6BE59}"/>
              </a:ext>
            </a:extLst>
          </p:cNvPr>
          <p:cNvPicPr>
            <a:picLocks noChangeAspect="1"/>
          </p:cNvPicPr>
          <p:nvPr/>
        </p:nvPicPr>
        <p:blipFill>
          <a:blip r:embed="rId4"/>
          <a:stretch>
            <a:fillRect/>
          </a:stretch>
        </p:blipFill>
        <p:spPr>
          <a:xfrm>
            <a:off x="6750804" y="4349561"/>
            <a:ext cx="7772400" cy="5412085"/>
          </a:xfrm>
          <a:prstGeom prst="rect">
            <a:avLst/>
          </a:prstGeom>
        </p:spPr>
      </p:pic>
      <p:cxnSp>
        <p:nvCxnSpPr>
          <p:cNvPr id="13" name="Straight Arrow Connector 12">
            <a:extLst>
              <a:ext uri="{FF2B5EF4-FFF2-40B4-BE49-F238E27FC236}">
                <a16:creationId xmlns:a16="http://schemas.microsoft.com/office/drawing/2014/main" id="{78725229-898B-BC45-5D6F-B0E70D8A60FE}"/>
              </a:ext>
            </a:extLst>
          </p:cNvPr>
          <p:cNvCxnSpPr>
            <a:cxnSpLocks/>
          </p:cNvCxnSpPr>
          <p:nvPr/>
        </p:nvCxnSpPr>
        <p:spPr>
          <a:xfrm>
            <a:off x="573437" y="4788976"/>
            <a:ext cx="6177367" cy="876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87A3A8D-DDA1-70F8-ABB3-BA908DCC6385}"/>
              </a:ext>
            </a:extLst>
          </p:cNvPr>
          <p:cNvSpPr txBox="1"/>
          <p:nvPr/>
        </p:nvSpPr>
        <p:spPr>
          <a:xfrm>
            <a:off x="2767482" y="5420880"/>
            <a:ext cx="29361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471564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5D8FD4-CB0A-AE78-F34D-BB2D71D4EC2D}"/>
              </a:ext>
            </a:extLst>
          </p:cNvPr>
          <p:cNvPicPr>
            <a:picLocks noChangeAspect="1"/>
          </p:cNvPicPr>
          <p:nvPr/>
        </p:nvPicPr>
        <p:blipFill>
          <a:blip r:embed="rId3"/>
          <a:stretch>
            <a:fillRect/>
          </a:stretch>
        </p:blipFill>
        <p:spPr>
          <a:xfrm>
            <a:off x="0" y="0"/>
            <a:ext cx="10048435" cy="5362414"/>
          </a:xfrm>
          <a:prstGeom prst="rect">
            <a:avLst/>
          </a:prstGeom>
        </p:spPr>
      </p:pic>
      <p:cxnSp>
        <p:nvCxnSpPr>
          <p:cNvPr id="5" name="Straight Arrow Connector 4">
            <a:extLst>
              <a:ext uri="{FF2B5EF4-FFF2-40B4-BE49-F238E27FC236}">
                <a16:creationId xmlns:a16="http://schemas.microsoft.com/office/drawing/2014/main" id="{DEA637A5-4371-7E08-CA25-E7B95E745BCF}"/>
              </a:ext>
            </a:extLst>
          </p:cNvPr>
          <p:cNvCxnSpPr>
            <a:cxnSpLocks/>
          </p:cNvCxnSpPr>
          <p:nvPr/>
        </p:nvCxnSpPr>
        <p:spPr>
          <a:xfrm flipH="1" flipV="1">
            <a:off x="1859797" y="2882685"/>
            <a:ext cx="1518834" cy="30221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9381C72-D060-474A-8DF9-43214570BE11}"/>
              </a:ext>
            </a:extLst>
          </p:cNvPr>
          <p:cNvSpPr txBox="1"/>
          <p:nvPr/>
        </p:nvSpPr>
        <p:spPr>
          <a:xfrm>
            <a:off x="3378631" y="5904854"/>
            <a:ext cx="293614" cy="369332"/>
          </a:xfrm>
          <a:prstGeom prst="rect">
            <a:avLst/>
          </a:prstGeom>
          <a:noFill/>
        </p:spPr>
        <p:txBody>
          <a:bodyPr wrap="square" rtlCol="0">
            <a:spAutoFit/>
          </a:bodyPr>
          <a:lstStyle/>
          <a:p>
            <a:r>
              <a:rPr lang="en-US" dirty="0"/>
              <a:t>1</a:t>
            </a:r>
          </a:p>
        </p:txBody>
      </p:sp>
      <p:pic>
        <p:nvPicPr>
          <p:cNvPr id="10" name="Picture 9">
            <a:extLst>
              <a:ext uri="{FF2B5EF4-FFF2-40B4-BE49-F238E27FC236}">
                <a16:creationId xmlns:a16="http://schemas.microsoft.com/office/drawing/2014/main" id="{CAEA1814-4184-E58A-C3C0-7772742BF85C}"/>
              </a:ext>
            </a:extLst>
          </p:cNvPr>
          <p:cNvPicPr>
            <a:picLocks noChangeAspect="1"/>
          </p:cNvPicPr>
          <p:nvPr/>
        </p:nvPicPr>
        <p:blipFill>
          <a:blip r:embed="rId4"/>
          <a:stretch>
            <a:fillRect/>
          </a:stretch>
        </p:blipFill>
        <p:spPr>
          <a:xfrm>
            <a:off x="4484359" y="2880605"/>
            <a:ext cx="7772400" cy="4014572"/>
          </a:xfrm>
          <a:prstGeom prst="rect">
            <a:avLst/>
          </a:prstGeom>
        </p:spPr>
      </p:pic>
      <p:cxnSp>
        <p:nvCxnSpPr>
          <p:cNvPr id="11" name="Straight Arrow Connector 10">
            <a:extLst>
              <a:ext uri="{FF2B5EF4-FFF2-40B4-BE49-F238E27FC236}">
                <a16:creationId xmlns:a16="http://schemas.microsoft.com/office/drawing/2014/main" id="{D432EEE2-9BAA-6823-6102-D907F16D4E16}"/>
              </a:ext>
            </a:extLst>
          </p:cNvPr>
          <p:cNvCxnSpPr>
            <a:cxnSpLocks/>
          </p:cNvCxnSpPr>
          <p:nvPr/>
        </p:nvCxnSpPr>
        <p:spPr>
          <a:xfrm flipH="1">
            <a:off x="7798415" y="2995047"/>
            <a:ext cx="294467" cy="867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257BA63-C8AD-904E-6659-D6C6C4F7329C}"/>
              </a:ext>
            </a:extLst>
          </p:cNvPr>
          <p:cNvCxnSpPr>
            <a:cxnSpLocks/>
          </p:cNvCxnSpPr>
          <p:nvPr/>
        </p:nvCxnSpPr>
        <p:spPr>
          <a:xfrm flipV="1">
            <a:off x="3525438" y="4887891"/>
            <a:ext cx="6037016" cy="1687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12247E1-7480-9758-E814-6FD2D8F74A68}"/>
              </a:ext>
            </a:extLst>
          </p:cNvPr>
          <p:cNvSpPr txBox="1"/>
          <p:nvPr/>
        </p:nvSpPr>
        <p:spPr>
          <a:xfrm>
            <a:off x="3084164" y="6390379"/>
            <a:ext cx="293614"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D4F5802B-620B-FDDA-46F9-D33E9700A769}"/>
              </a:ext>
            </a:extLst>
          </p:cNvPr>
          <p:cNvSpPr txBox="1"/>
          <p:nvPr/>
        </p:nvSpPr>
        <p:spPr>
          <a:xfrm>
            <a:off x="7946075" y="2674915"/>
            <a:ext cx="29361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193395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BC757A-1712-EAE3-32B9-39B95E99A106}"/>
              </a:ext>
            </a:extLst>
          </p:cNvPr>
          <p:cNvPicPr>
            <a:picLocks noChangeAspect="1"/>
          </p:cNvPicPr>
          <p:nvPr/>
        </p:nvPicPr>
        <p:blipFill>
          <a:blip r:embed="rId3"/>
          <a:stretch>
            <a:fillRect/>
          </a:stretch>
        </p:blipFill>
        <p:spPr>
          <a:xfrm>
            <a:off x="-1" y="0"/>
            <a:ext cx="9706237" cy="4525505"/>
          </a:xfrm>
          <a:prstGeom prst="rect">
            <a:avLst/>
          </a:prstGeom>
        </p:spPr>
      </p:pic>
      <p:pic>
        <p:nvPicPr>
          <p:cNvPr id="5" name="Picture 4">
            <a:extLst>
              <a:ext uri="{FF2B5EF4-FFF2-40B4-BE49-F238E27FC236}">
                <a16:creationId xmlns:a16="http://schemas.microsoft.com/office/drawing/2014/main" id="{566B2796-90A4-78BE-BC24-8C74E61C1FD4}"/>
              </a:ext>
            </a:extLst>
          </p:cNvPr>
          <p:cNvPicPr>
            <a:picLocks noChangeAspect="1"/>
          </p:cNvPicPr>
          <p:nvPr/>
        </p:nvPicPr>
        <p:blipFill>
          <a:blip r:embed="rId4"/>
          <a:stretch>
            <a:fillRect/>
          </a:stretch>
        </p:blipFill>
        <p:spPr>
          <a:xfrm>
            <a:off x="1165685" y="3719593"/>
            <a:ext cx="11026315" cy="3138407"/>
          </a:xfrm>
          <a:prstGeom prst="rect">
            <a:avLst/>
          </a:prstGeom>
        </p:spPr>
      </p:pic>
      <p:cxnSp>
        <p:nvCxnSpPr>
          <p:cNvPr id="6" name="Straight Arrow Connector 5">
            <a:extLst>
              <a:ext uri="{FF2B5EF4-FFF2-40B4-BE49-F238E27FC236}">
                <a16:creationId xmlns:a16="http://schemas.microsoft.com/office/drawing/2014/main" id="{D87FAC1B-7F7F-188D-6E49-D99A9836D075}"/>
              </a:ext>
            </a:extLst>
          </p:cNvPr>
          <p:cNvCxnSpPr>
            <a:cxnSpLocks/>
          </p:cNvCxnSpPr>
          <p:nvPr/>
        </p:nvCxnSpPr>
        <p:spPr>
          <a:xfrm flipH="1">
            <a:off x="5300420" y="2154264"/>
            <a:ext cx="5362414" cy="9841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16CFD6C-4775-576F-B9F1-75030A25CB06}"/>
              </a:ext>
            </a:extLst>
          </p:cNvPr>
          <p:cNvCxnSpPr>
            <a:cxnSpLocks/>
          </p:cNvCxnSpPr>
          <p:nvPr/>
        </p:nvCxnSpPr>
        <p:spPr>
          <a:xfrm>
            <a:off x="238510" y="5796366"/>
            <a:ext cx="22472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CAB3E78-F45F-E801-9868-2E822882C588}"/>
              </a:ext>
            </a:extLst>
          </p:cNvPr>
          <p:cNvSpPr txBox="1"/>
          <p:nvPr/>
        </p:nvSpPr>
        <p:spPr>
          <a:xfrm>
            <a:off x="10802311" y="1969598"/>
            <a:ext cx="293614" cy="369332"/>
          </a:xfrm>
          <a:prstGeom prst="rect">
            <a:avLst/>
          </a:prstGeom>
          <a:noFill/>
        </p:spPr>
        <p:txBody>
          <a:bodyPr wrap="square" rtlCol="0">
            <a:spAutoFit/>
          </a:bodyPr>
          <a:lstStyle/>
          <a:p>
            <a:r>
              <a:rPr lang="en-US" dirty="0"/>
              <a:t>1</a:t>
            </a:r>
          </a:p>
        </p:txBody>
      </p:sp>
      <p:sp>
        <p:nvSpPr>
          <p:cNvPr id="12" name="TextBox 11">
            <a:extLst>
              <a:ext uri="{FF2B5EF4-FFF2-40B4-BE49-F238E27FC236}">
                <a16:creationId xmlns:a16="http://schemas.microsoft.com/office/drawing/2014/main" id="{0083F094-9F7D-FFE6-30A6-45F594816ACC}"/>
              </a:ext>
            </a:extLst>
          </p:cNvPr>
          <p:cNvSpPr txBox="1"/>
          <p:nvPr/>
        </p:nvSpPr>
        <p:spPr>
          <a:xfrm>
            <a:off x="-40467" y="5611700"/>
            <a:ext cx="293614"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4041801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FD26E-FD09-EF23-FBCA-020E2E866A2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55BB72F-D17D-1194-948A-E07F62EB9A43}"/>
              </a:ext>
            </a:extLst>
          </p:cNvPr>
          <p:cNvPicPr>
            <a:picLocks noChangeAspect="1"/>
          </p:cNvPicPr>
          <p:nvPr/>
        </p:nvPicPr>
        <p:blipFill>
          <a:blip r:embed="rId3"/>
          <a:stretch>
            <a:fillRect/>
          </a:stretch>
        </p:blipFill>
        <p:spPr>
          <a:xfrm>
            <a:off x="557938" y="1794236"/>
            <a:ext cx="11470037" cy="3269527"/>
          </a:xfrm>
          <a:prstGeom prst="rect">
            <a:avLst/>
          </a:prstGeom>
        </p:spPr>
      </p:pic>
    </p:spTree>
    <p:extLst>
      <p:ext uri="{BB962C8B-B14F-4D97-AF65-F5344CB8AC3E}">
        <p14:creationId xmlns:p14="http://schemas.microsoft.com/office/powerpoint/2010/main" val="3728908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B89821-6F35-86C9-6693-138634333DA6}"/>
              </a:ext>
            </a:extLst>
          </p:cNvPr>
          <p:cNvPicPr>
            <a:picLocks noChangeAspect="1"/>
          </p:cNvPicPr>
          <p:nvPr/>
        </p:nvPicPr>
        <p:blipFill>
          <a:blip r:embed="rId3"/>
          <a:stretch>
            <a:fillRect/>
          </a:stretch>
        </p:blipFill>
        <p:spPr>
          <a:xfrm>
            <a:off x="85987" y="-24530"/>
            <a:ext cx="12106013" cy="6907060"/>
          </a:xfrm>
          <a:prstGeom prst="rect">
            <a:avLst/>
          </a:prstGeom>
        </p:spPr>
      </p:pic>
    </p:spTree>
    <p:extLst>
      <p:ext uri="{BB962C8B-B14F-4D97-AF65-F5344CB8AC3E}">
        <p14:creationId xmlns:p14="http://schemas.microsoft.com/office/powerpoint/2010/main" val="36831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38D1F4-9597-44BB-B6E7-E38BC9330BE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752137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B94559-66F0-60D3-8F7A-C8279C8F4538}"/>
              </a:ext>
            </a:extLst>
          </p:cNvPr>
          <p:cNvPicPr>
            <a:picLocks noChangeAspect="1"/>
          </p:cNvPicPr>
          <p:nvPr/>
        </p:nvPicPr>
        <p:blipFill>
          <a:blip r:embed="rId3"/>
          <a:stretch>
            <a:fillRect/>
          </a:stretch>
        </p:blipFill>
        <p:spPr>
          <a:xfrm>
            <a:off x="-60863" y="-60960"/>
            <a:ext cx="12313725" cy="6918960"/>
          </a:xfrm>
          <a:prstGeom prst="rect">
            <a:avLst/>
          </a:prstGeom>
        </p:spPr>
      </p:pic>
    </p:spTree>
    <p:extLst>
      <p:ext uri="{BB962C8B-B14F-4D97-AF65-F5344CB8AC3E}">
        <p14:creationId xmlns:p14="http://schemas.microsoft.com/office/powerpoint/2010/main" val="3116576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background with black text&#10;&#10;Description automatically generated">
            <a:extLst>
              <a:ext uri="{FF2B5EF4-FFF2-40B4-BE49-F238E27FC236}">
                <a16:creationId xmlns:a16="http://schemas.microsoft.com/office/drawing/2014/main" id="{B0238E52-CA82-C81A-626C-2BB3942F9B43}"/>
              </a:ext>
            </a:extLst>
          </p:cNvPr>
          <p:cNvPicPr>
            <a:picLocks noChangeAspect="1"/>
          </p:cNvPicPr>
          <p:nvPr/>
        </p:nvPicPr>
        <p:blipFill>
          <a:blip r:embed="rId3"/>
          <a:stretch>
            <a:fillRect/>
          </a:stretch>
        </p:blipFill>
        <p:spPr>
          <a:xfrm>
            <a:off x="152400" y="183832"/>
            <a:ext cx="5943600" cy="836295"/>
          </a:xfrm>
          <a:prstGeom prst="rect">
            <a:avLst/>
          </a:prstGeom>
        </p:spPr>
      </p:pic>
      <p:pic>
        <p:nvPicPr>
          <p:cNvPr id="7" name="Picture 6">
            <a:extLst>
              <a:ext uri="{FF2B5EF4-FFF2-40B4-BE49-F238E27FC236}">
                <a16:creationId xmlns:a16="http://schemas.microsoft.com/office/drawing/2014/main" id="{9123DE96-D392-C582-7EF6-D378D9EAA0B7}"/>
              </a:ext>
            </a:extLst>
          </p:cNvPr>
          <p:cNvPicPr>
            <a:picLocks noChangeAspect="1"/>
          </p:cNvPicPr>
          <p:nvPr/>
        </p:nvPicPr>
        <p:blipFill>
          <a:blip r:embed="rId4"/>
          <a:stretch>
            <a:fillRect/>
          </a:stretch>
        </p:blipFill>
        <p:spPr>
          <a:xfrm>
            <a:off x="1318260" y="1088313"/>
            <a:ext cx="9783608" cy="5182947"/>
          </a:xfrm>
          <a:prstGeom prst="rect">
            <a:avLst/>
          </a:prstGeom>
        </p:spPr>
      </p:pic>
    </p:spTree>
    <p:extLst>
      <p:ext uri="{BB962C8B-B14F-4D97-AF65-F5344CB8AC3E}">
        <p14:creationId xmlns:p14="http://schemas.microsoft.com/office/powerpoint/2010/main" val="1487408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DBE686E9-44F5-9E1C-AA9D-D53A61326981}"/>
              </a:ext>
            </a:extLst>
          </p:cNvPr>
          <p:cNvPicPr>
            <a:picLocks noChangeAspect="1"/>
          </p:cNvPicPr>
          <p:nvPr/>
        </p:nvPicPr>
        <p:blipFill>
          <a:blip r:embed="rId3"/>
          <a:stretch>
            <a:fillRect/>
          </a:stretch>
        </p:blipFill>
        <p:spPr>
          <a:xfrm>
            <a:off x="152400" y="205105"/>
            <a:ext cx="5943600" cy="1342390"/>
          </a:xfrm>
          <a:prstGeom prst="rect">
            <a:avLst/>
          </a:prstGeom>
        </p:spPr>
      </p:pic>
      <p:pic>
        <p:nvPicPr>
          <p:cNvPr id="5" name="Picture 4">
            <a:extLst>
              <a:ext uri="{FF2B5EF4-FFF2-40B4-BE49-F238E27FC236}">
                <a16:creationId xmlns:a16="http://schemas.microsoft.com/office/drawing/2014/main" id="{54854884-0F86-946B-E0E2-E74DB6C9A464}"/>
              </a:ext>
            </a:extLst>
          </p:cNvPr>
          <p:cNvPicPr>
            <a:picLocks noChangeAspect="1"/>
          </p:cNvPicPr>
          <p:nvPr/>
        </p:nvPicPr>
        <p:blipFill>
          <a:blip r:embed="rId4"/>
          <a:stretch>
            <a:fillRect/>
          </a:stretch>
        </p:blipFill>
        <p:spPr>
          <a:xfrm>
            <a:off x="1065953" y="802428"/>
            <a:ext cx="9064435" cy="4812313"/>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0EDDEF53-0F69-F8B9-8DFC-CABC4D5C45A4}"/>
              </a:ext>
            </a:extLst>
          </p:cNvPr>
          <p:cNvPicPr>
            <a:picLocks noChangeAspect="1"/>
          </p:cNvPicPr>
          <p:nvPr/>
        </p:nvPicPr>
        <p:blipFill>
          <a:blip r:embed="rId5"/>
          <a:stretch>
            <a:fillRect/>
          </a:stretch>
        </p:blipFill>
        <p:spPr>
          <a:xfrm>
            <a:off x="9203266" y="4116813"/>
            <a:ext cx="2349499" cy="2648054"/>
          </a:xfrm>
          <a:prstGeom prst="rect">
            <a:avLst/>
          </a:prstGeom>
        </p:spPr>
      </p:pic>
    </p:spTree>
    <p:extLst>
      <p:ext uri="{BB962C8B-B14F-4D97-AF65-F5344CB8AC3E}">
        <p14:creationId xmlns:p14="http://schemas.microsoft.com/office/powerpoint/2010/main" val="605601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EB9B1F-7834-E19C-4EF1-7771BA881589}"/>
              </a:ext>
            </a:extLst>
          </p:cNvPr>
          <p:cNvPicPr>
            <a:picLocks noChangeAspect="1"/>
          </p:cNvPicPr>
          <p:nvPr/>
        </p:nvPicPr>
        <p:blipFill>
          <a:blip r:embed="rId3"/>
          <a:stretch>
            <a:fillRect/>
          </a:stretch>
        </p:blipFill>
        <p:spPr>
          <a:xfrm>
            <a:off x="214212" y="256527"/>
            <a:ext cx="7744455" cy="4177144"/>
          </a:xfrm>
          <a:prstGeom prst="rect">
            <a:avLst/>
          </a:prstGeom>
        </p:spPr>
      </p:pic>
      <p:pic>
        <p:nvPicPr>
          <p:cNvPr id="5" name="Picture 4">
            <a:extLst>
              <a:ext uri="{FF2B5EF4-FFF2-40B4-BE49-F238E27FC236}">
                <a16:creationId xmlns:a16="http://schemas.microsoft.com/office/drawing/2014/main" id="{809A0675-4580-11D6-1B53-24727E0B9B32}"/>
              </a:ext>
            </a:extLst>
          </p:cNvPr>
          <p:cNvPicPr>
            <a:picLocks noChangeAspect="1"/>
          </p:cNvPicPr>
          <p:nvPr/>
        </p:nvPicPr>
        <p:blipFill>
          <a:blip r:embed="rId4"/>
          <a:stretch>
            <a:fillRect/>
          </a:stretch>
        </p:blipFill>
        <p:spPr>
          <a:xfrm>
            <a:off x="1445076" y="3429000"/>
            <a:ext cx="10532712" cy="3085934"/>
          </a:xfrm>
          <a:prstGeom prst="rect">
            <a:avLst/>
          </a:prstGeom>
        </p:spPr>
      </p:pic>
    </p:spTree>
    <p:extLst>
      <p:ext uri="{BB962C8B-B14F-4D97-AF65-F5344CB8AC3E}">
        <p14:creationId xmlns:p14="http://schemas.microsoft.com/office/powerpoint/2010/main" val="3603400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E1352E-622D-6B7D-6002-E6132EC3E3D3}"/>
              </a:ext>
            </a:extLst>
          </p:cNvPr>
          <p:cNvPicPr>
            <a:picLocks noChangeAspect="1"/>
          </p:cNvPicPr>
          <p:nvPr/>
        </p:nvPicPr>
        <p:blipFill>
          <a:blip r:embed="rId3"/>
          <a:stretch>
            <a:fillRect/>
          </a:stretch>
        </p:blipFill>
        <p:spPr>
          <a:xfrm>
            <a:off x="346207" y="368300"/>
            <a:ext cx="11499585" cy="6121400"/>
          </a:xfrm>
          <a:prstGeom prst="rect">
            <a:avLst/>
          </a:prstGeom>
        </p:spPr>
      </p:pic>
    </p:spTree>
    <p:extLst>
      <p:ext uri="{BB962C8B-B14F-4D97-AF65-F5344CB8AC3E}">
        <p14:creationId xmlns:p14="http://schemas.microsoft.com/office/powerpoint/2010/main" val="1276581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hat&#10;&#10;Description automatically generated">
            <a:extLst>
              <a:ext uri="{FF2B5EF4-FFF2-40B4-BE49-F238E27FC236}">
                <a16:creationId xmlns:a16="http://schemas.microsoft.com/office/drawing/2014/main" id="{D261574D-9751-B9A3-7F87-67EA6EFBD35D}"/>
              </a:ext>
            </a:extLst>
          </p:cNvPr>
          <p:cNvPicPr>
            <a:picLocks noChangeAspect="1"/>
          </p:cNvPicPr>
          <p:nvPr/>
        </p:nvPicPr>
        <p:blipFill>
          <a:blip r:embed="rId3"/>
          <a:stretch>
            <a:fillRect/>
          </a:stretch>
        </p:blipFill>
        <p:spPr>
          <a:xfrm>
            <a:off x="152400" y="127952"/>
            <a:ext cx="5943600" cy="1694815"/>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8867A828-4EB1-11F2-7A94-1941F32D5C97}"/>
              </a:ext>
            </a:extLst>
          </p:cNvPr>
          <p:cNvPicPr>
            <a:picLocks noChangeAspect="1"/>
          </p:cNvPicPr>
          <p:nvPr/>
        </p:nvPicPr>
        <p:blipFill>
          <a:blip r:embed="rId4"/>
          <a:stretch>
            <a:fillRect/>
          </a:stretch>
        </p:blipFill>
        <p:spPr>
          <a:xfrm>
            <a:off x="2857499" y="1730692"/>
            <a:ext cx="8511467" cy="4776788"/>
          </a:xfrm>
          <a:prstGeom prst="rect">
            <a:avLst/>
          </a:prstGeom>
        </p:spPr>
      </p:pic>
    </p:spTree>
    <p:extLst>
      <p:ext uri="{BB962C8B-B14F-4D97-AF65-F5344CB8AC3E}">
        <p14:creationId xmlns:p14="http://schemas.microsoft.com/office/powerpoint/2010/main" val="4027886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66C71AAD-E18D-9EBD-F9A9-F78EA26B715A}"/>
              </a:ext>
            </a:extLst>
          </p:cNvPr>
          <p:cNvPicPr>
            <a:picLocks noChangeAspect="1"/>
          </p:cNvPicPr>
          <p:nvPr/>
        </p:nvPicPr>
        <p:blipFill>
          <a:blip r:embed="rId3"/>
          <a:stretch>
            <a:fillRect/>
          </a:stretch>
        </p:blipFill>
        <p:spPr>
          <a:xfrm>
            <a:off x="0" y="0"/>
            <a:ext cx="7398113" cy="5151015"/>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A66C677B-5AD3-FF78-C85D-36999D19EFEA}"/>
              </a:ext>
            </a:extLst>
          </p:cNvPr>
          <p:cNvPicPr>
            <a:picLocks noChangeAspect="1"/>
          </p:cNvPicPr>
          <p:nvPr/>
        </p:nvPicPr>
        <p:blipFill>
          <a:blip r:embed="rId4"/>
          <a:stretch>
            <a:fillRect/>
          </a:stretch>
        </p:blipFill>
        <p:spPr>
          <a:xfrm>
            <a:off x="5494077" y="3588967"/>
            <a:ext cx="6621723" cy="3124095"/>
          </a:xfrm>
          <a:prstGeom prst="rect">
            <a:avLst/>
          </a:prstGeom>
        </p:spPr>
      </p:pic>
    </p:spTree>
    <p:extLst>
      <p:ext uri="{BB962C8B-B14F-4D97-AF65-F5344CB8AC3E}">
        <p14:creationId xmlns:p14="http://schemas.microsoft.com/office/powerpoint/2010/main" val="1336357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AABB09-9D6C-B71B-2608-83D35ACDCCB1}"/>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6105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3829"/>
            <a:ext cx="8792210" cy="695960"/>
          </a:xfrm>
          <a:prstGeom prst="rect">
            <a:avLst/>
          </a:prstGeom>
        </p:spPr>
        <p:txBody>
          <a:bodyPr vert="horz" wrap="square" lIns="0" tIns="12700" rIns="0" bIns="0" rtlCol="0">
            <a:spAutoFit/>
          </a:bodyPr>
          <a:lstStyle/>
          <a:p>
            <a:pPr marL="12700">
              <a:lnSpc>
                <a:spcPct val="100000"/>
              </a:lnSpc>
              <a:spcBef>
                <a:spcPts val="100"/>
              </a:spcBef>
            </a:pPr>
            <a:r>
              <a:rPr sz="4400" dirty="0">
                <a:latin typeface="Trebuchet MS"/>
                <a:cs typeface="Trebuchet MS"/>
              </a:rPr>
              <a:t>ROUGE-</a:t>
            </a:r>
            <a:r>
              <a:rPr sz="4400" spc="-275" dirty="0">
                <a:latin typeface="Trebuchet MS"/>
                <a:cs typeface="Trebuchet MS"/>
              </a:rPr>
              <a:t>2,</a:t>
            </a:r>
            <a:r>
              <a:rPr sz="4400" spc="-280" dirty="0">
                <a:latin typeface="Trebuchet MS"/>
                <a:cs typeface="Trebuchet MS"/>
              </a:rPr>
              <a:t> </a:t>
            </a:r>
            <a:r>
              <a:rPr sz="4400" dirty="0">
                <a:latin typeface="Trebuchet MS"/>
                <a:cs typeface="Trebuchet MS"/>
              </a:rPr>
              <a:t>ROUGE-</a:t>
            </a:r>
            <a:r>
              <a:rPr sz="4400" spc="-220" dirty="0">
                <a:latin typeface="Trebuchet MS"/>
                <a:cs typeface="Trebuchet MS"/>
              </a:rPr>
              <a:t>L,</a:t>
            </a:r>
            <a:r>
              <a:rPr sz="4400" spc="-280" dirty="0">
                <a:latin typeface="Trebuchet MS"/>
                <a:cs typeface="Trebuchet MS"/>
              </a:rPr>
              <a:t> </a:t>
            </a:r>
            <a:r>
              <a:rPr sz="4400" dirty="0">
                <a:latin typeface="Trebuchet MS"/>
                <a:cs typeface="Trebuchet MS"/>
              </a:rPr>
              <a:t>ROUGE-</a:t>
            </a:r>
            <a:r>
              <a:rPr sz="4400" spc="225" dirty="0">
                <a:latin typeface="Trebuchet MS"/>
                <a:cs typeface="Trebuchet MS"/>
              </a:rPr>
              <a:t>N</a:t>
            </a:r>
            <a:r>
              <a:rPr sz="4400" spc="-285" dirty="0">
                <a:latin typeface="Trebuchet MS"/>
                <a:cs typeface="Trebuchet MS"/>
              </a:rPr>
              <a:t> </a:t>
            </a:r>
            <a:r>
              <a:rPr sz="4400" spc="-60" dirty="0">
                <a:latin typeface="Trebuchet MS"/>
                <a:cs typeface="Trebuchet MS"/>
              </a:rPr>
              <a:t>score</a:t>
            </a:r>
            <a:endParaRPr sz="4400">
              <a:latin typeface="Trebuchet MS"/>
              <a:cs typeface="Trebuchet MS"/>
            </a:endParaRPr>
          </a:p>
        </p:txBody>
      </p:sp>
      <p:sp>
        <p:nvSpPr>
          <p:cNvPr id="3" name="object 3"/>
          <p:cNvSpPr txBox="1"/>
          <p:nvPr/>
        </p:nvSpPr>
        <p:spPr>
          <a:xfrm>
            <a:off x="916939" y="1734828"/>
            <a:ext cx="8312784" cy="1913889"/>
          </a:xfrm>
          <a:prstGeom prst="rect">
            <a:avLst/>
          </a:prstGeom>
        </p:spPr>
        <p:txBody>
          <a:bodyPr vert="horz" wrap="square" lIns="0" tIns="102235" rIns="0" bIns="0" rtlCol="0">
            <a:spAutoFit/>
          </a:bodyPr>
          <a:lstStyle/>
          <a:p>
            <a:pPr marL="12700" marR="0" lvl="0" indent="0" algn="l" defTabSz="914400" rtl="0" eaLnBrk="1" fontAlgn="auto" latinLnBrk="0" hangingPunct="1">
              <a:lnSpc>
                <a:spcPct val="100000"/>
              </a:lnSpc>
              <a:spcBef>
                <a:spcPts val="805"/>
              </a:spcBef>
              <a:spcAft>
                <a:spcPts val="0"/>
              </a:spcAft>
              <a:buClrTx/>
              <a:buSzTx/>
              <a:buFontTx/>
              <a:buNone/>
              <a:tabLst/>
              <a:defRPr/>
            </a:pPr>
            <a:r>
              <a:rPr kumimoji="0" sz="1800" b="1" i="0" u="none" strike="noStrike" kern="1200" cap="none" spc="-30" normalizeH="0" baseline="0" noProof="0" dirty="0">
                <a:ln>
                  <a:noFill/>
                </a:ln>
                <a:solidFill>
                  <a:prstClr val="black"/>
                </a:solidFill>
                <a:effectLst/>
                <a:uLnTx/>
                <a:uFillTx/>
                <a:latin typeface="Trebuchet MS"/>
                <a:ea typeface="+mn-ea"/>
                <a:cs typeface="Trebuchet MS"/>
              </a:rPr>
              <a:t>System</a:t>
            </a:r>
            <a:r>
              <a:rPr kumimoji="0" sz="1800" b="1" i="0" u="none" strike="noStrike" kern="1200" cap="none" spc="-170" normalizeH="0" baseline="0" noProof="0" dirty="0">
                <a:ln>
                  <a:noFill/>
                </a:ln>
                <a:solidFill>
                  <a:prstClr val="black"/>
                </a:solidFill>
                <a:effectLst/>
                <a:uLnTx/>
                <a:uFillTx/>
                <a:latin typeface="Trebuchet MS"/>
                <a:ea typeface="+mn-ea"/>
                <a:cs typeface="Trebuchet MS"/>
              </a:rPr>
              <a:t> </a:t>
            </a:r>
            <a:r>
              <a:rPr kumimoji="0" sz="1800" b="1" i="0" u="none" strike="noStrike" kern="1200" cap="none" spc="-50" normalizeH="0" baseline="0" noProof="0" dirty="0">
                <a:ln>
                  <a:noFill/>
                </a:ln>
                <a:solidFill>
                  <a:prstClr val="black"/>
                </a:solidFill>
                <a:effectLst/>
                <a:uLnTx/>
                <a:uFillTx/>
                <a:latin typeface="Trebuchet MS"/>
                <a:ea typeface="+mn-ea"/>
                <a:cs typeface="Trebuchet MS"/>
              </a:rPr>
              <a:t>Summary</a:t>
            </a:r>
            <a:r>
              <a:rPr kumimoji="0" sz="1800" b="1" i="0" u="none" strike="noStrike" kern="1200" cap="none" spc="-120" normalizeH="0" baseline="0" noProof="0" dirty="0">
                <a:ln>
                  <a:noFill/>
                </a:ln>
                <a:solidFill>
                  <a:prstClr val="black"/>
                </a:solidFill>
                <a:effectLst/>
                <a:uLnTx/>
                <a:uFillTx/>
                <a:latin typeface="Trebuchet MS"/>
                <a:ea typeface="+mn-ea"/>
                <a:cs typeface="Trebuchet MS"/>
              </a:rPr>
              <a:t> </a:t>
            </a:r>
            <a:r>
              <a:rPr kumimoji="0" sz="1800" b="1" i="0" u="none" strike="noStrike" kern="1200" cap="none" spc="-80" normalizeH="0" baseline="0" noProof="0" dirty="0">
                <a:ln>
                  <a:noFill/>
                </a:ln>
                <a:solidFill>
                  <a:prstClr val="black"/>
                </a:solidFill>
                <a:effectLst/>
                <a:uLnTx/>
                <a:uFillTx/>
                <a:latin typeface="Trebuchet MS"/>
                <a:ea typeface="+mn-ea"/>
                <a:cs typeface="Trebuchet MS"/>
              </a:rPr>
              <a:t>bi-</a:t>
            </a:r>
            <a:r>
              <a:rPr kumimoji="0" sz="1800" b="1" i="0" u="none" strike="noStrike" kern="1200" cap="none" spc="-40" normalizeH="0" baseline="0" noProof="0" dirty="0">
                <a:ln>
                  <a:noFill/>
                </a:ln>
                <a:solidFill>
                  <a:prstClr val="black"/>
                </a:solidFill>
                <a:effectLst/>
                <a:uLnTx/>
                <a:uFillTx/>
                <a:latin typeface="Trebuchet MS"/>
                <a:ea typeface="+mn-ea"/>
                <a:cs typeface="Trebuchet MS"/>
              </a:rPr>
              <a:t>grams</a:t>
            </a:r>
            <a:r>
              <a:rPr kumimoji="0" sz="1800" b="1" i="0" u="none" strike="noStrike" kern="1200" cap="none" spc="-120" normalizeH="0" baseline="0" noProof="0" dirty="0">
                <a:ln>
                  <a:noFill/>
                </a:ln>
                <a:solidFill>
                  <a:prstClr val="black"/>
                </a:solidFill>
                <a:effectLst/>
                <a:uLnTx/>
                <a:uFillTx/>
                <a:latin typeface="Trebuchet MS"/>
                <a:ea typeface="+mn-ea"/>
                <a:cs typeface="Trebuchet MS"/>
              </a:rPr>
              <a:t> </a:t>
            </a:r>
            <a:r>
              <a:rPr kumimoji="0" sz="1800" b="1" i="0" u="none" strike="noStrike" kern="1200" cap="none" spc="-75" normalizeH="0" baseline="0" noProof="0" dirty="0">
                <a:ln>
                  <a:noFill/>
                </a:ln>
                <a:solidFill>
                  <a:prstClr val="black"/>
                </a:solidFill>
                <a:effectLst/>
                <a:uLnTx/>
                <a:uFillTx/>
                <a:latin typeface="Trebuchet MS"/>
                <a:ea typeface="+mn-ea"/>
                <a:cs typeface="Trebuchet MS"/>
              </a:rPr>
              <a:t>(what</a:t>
            </a:r>
            <a:r>
              <a:rPr kumimoji="0" sz="1800" b="1" i="0" u="none" strike="noStrike" kern="1200" cap="none" spc="-114" normalizeH="0" baseline="0" noProof="0" dirty="0">
                <a:ln>
                  <a:noFill/>
                </a:ln>
                <a:solidFill>
                  <a:prstClr val="black"/>
                </a:solidFill>
                <a:effectLst/>
                <a:uLnTx/>
                <a:uFillTx/>
                <a:latin typeface="Trebuchet MS"/>
                <a:ea typeface="+mn-ea"/>
                <a:cs typeface="Trebuchet MS"/>
              </a:rPr>
              <a:t> </a:t>
            </a:r>
            <a:r>
              <a:rPr kumimoji="0" sz="1800" b="1" i="0" u="none" strike="noStrike" kern="1200" cap="none" spc="-80" normalizeH="0" baseline="0" noProof="0" dirty="0">
                <a:ln>
                  <a:noFill/>
                </a:ln>
                <a:solidFill>
                  <a:prstClr val="black"/>
                </a:solidFill>
                <a:effectLst/>
                <a:uLnTx/>
                <a:uFillTx/>
                <a:latin typeface="Trebuchet MS"/>
                <a:ea typeface="+mn-ea"/>
                <a:cs typeface="Trebuchet MS"/>
              </a:rPr>
              <a:t>the</a:t>
            </a:r>
            <a:r>
              <a:rPr kumimoji="0" sz="1800" b="1" i="0" u="none" strike="noStrike" kern="1200" cap="none" spc="-125" normalizeH="0" baseline="0" noProof="0" dirty="0">
                <a:ln>
                  <a:noFill/>
                </a:ln>
                <a:solidFill>
                  <a:prstClr val="black"/>
                </a:solidFill>
                <a:effectLst/>
                <a:uLnTx/>
                <a:uFillTx/>
                <a:latin typeface="Trebuchet MS"/>
                <a:ea typeface="+mn-ea"/>
                <a:cs typeface="Trebuchet MS"/>
              </a:rPr>
              <a:t> </a:t>
            </a:r>
            <a:r>
              <a:rPr kumimoji="0" sz="1800" b="1" i="0" u="none" strike="noStrike" kern="1200" cap="none" spc="-90" normalizeH="0" baseline="0" noProof="0" dirty="0">
                <a:ln>
                  <a:noFill/>
                </a:ln>
                <a:solidFill>
                  <a:prstClr val="black"/>
                </a:solidFill>
                <a:effectLst/>
                <a:uLnTx/>
                <a:uFillTx/>
                <a:latin typeface="Trebuchet MS"/>
                <a:ea typeface="+mn-ea"/>
                <a:cs typeface="Trebuchet MS"/>
              </a:rPr>
              <a:t>machine</a:t>
            </a:r>
            <a:r>
              <a:rPr kumimoji="0" sz="1800" b="1" i="0" u="none" strike="noStrike" kern="1200" cap="none" spc="-120" normalizeH="0" baseline="0" noProof="0" dirty="0">
                <a:ln>
                  <a:noFill/>
                </a:ln>
                <a:solidFill>
                  <a:prstClr val="black"/>
                </a:solidFill>
                <a:effectLst/>
                <a:uLnTx/>
                <a:uFillTx/>
                <a:latin typeface="Trebuchet MS"/>
                <a:ea typeface="+mn-ea"/>
                <a:cs typeface="Trebuchet MS"/>
              </a:rPr>
              <a:t> </a:t>
            </a:r>
            <a:r>
              <a:rPr kumimoji="0" sz="1800" b="1" i="0" u="none" strike="noStrike" kern="1200" cap="none" spc="-10" normalizeH="0" baseline="0" noProof="0" dirty="0">
                <a:ln>
                  <a:noFill/>
                </a:ln>
                <a:solidFill>
                  <a:prstClr val="black"/>
                </a:solidFill>
                <a:effectLst/>
                <a:uLnTx/>
                <a:uFillTx/>
                <a:latin typeface="Trebuchet MS"/>
                <a:ea typeface="+mn-ea"/>
                <a:cs typeface="Trebuchet MS"/>
              </a:rPr>
              <a:t>produced)</a:t>
            </a:r>
            <a:endParaRPr kumimoji="0" sz="1800" b="0" i="0" u="none" strike="noStrike" kern="1200" cap="none" spc="0" normalizeH="0" baseline="0" noProof="0">
              <a:ln>
                <a:noFill/>
              </a:ln>
              <a:solidFill>
                <a:prstClr val="black"/>
              </a:solidFill>
              <a:effectLst/>
              <a:uLnTx/>
              <a:uFillTx/>
              <a:latin typeface="Trebuchet MS"/>
              <a:ea typeface="+mn-ea"/>
              <a:cs typeface="Trebuchet MS"/>
            </a:endParaRPr>
          </a:p>
          <a:p>
            <a:pPr marL="12700" marR="0" lvl="0" indent="0" algn="l" defTabSz="914400" rtl="0" eaLnBrk="1" fontAlgn="auto" latinLnBrk="0" hangingPunct="1">
              <a:lnSpc>
                <a:spcPct val="100000"/>
              </a:lnSpc>
              <a:spcBef>
                <a:spcPts val="705"/>
              </a:spcBef>
              <a:spcAft>
                <a:spcPts val="0"/>
              </a:spcAft>
              <a:buClrTx/>
              <a:buSzTx/>
              <a:buFontTx/>
              <a:buNone/>
              <a:tabLst/>
              <a:defRPr/>
            </a:pP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cat,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cat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was,</a:t>
            </a:r>
            <a:r>
              <a:rPr kumimoji="0" sz="1800" b="0" i="0" u="none" strike="noStrike" kern="1200" cap="none" spc="5"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was</a:t>
            </a:r>
            <a:r>
              <a:rPr kumimoji="0" sz="1800" b="0" i="0" u="none" strike="noStrike" kern="1200" cap="none" spc="10" normalizeH="0" baseline="0" noProof="0" dirty="0">
                <a:ln>
                  <a:noFill/>
                </a:ln>
                <a:solidFill>
                  <a:srgbClr val="FF0000"/>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found</a:t>
            </a:r>
            <a:r>
              <a:rPr kumimoji="0" sz="1800" b="0" i="0" u="none" strike="noStrike" kern="1200" cap="none" spc="0" normalizeH="0" baseline="0" noProof="0" dirty="0">
                <a:ln>
                  <a:noFill/>
                </a:ln>
                <a:solidFill>
                  <a:srgbClr val="70AD47"/>
                </a:solidFill>
                <a:effectLst/>
                <a:uLnTx/>
                <a:uFillTx/>
                <a:latin typeface="Courier New"/>
                <a:ea typeface="+mn-ea"/>
                <a:cs typeface="Courier New"/>
              </a:rPr>
              <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found</a:t>
            </a:r>
            <a:r>
              <a:rPr kumimoji="0" sz="1800" b="0" i="0" u="none" strike="noStrike" kern="1200" cap="none" spc="10" normalizeH="0" baseline="0" noProof="0" dirty="0">
                <a:ln>
                  <a:noFill/>
                </a:ln>
                <a:solidFill>
                  <a:srgbClr val="FF0000"/>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under</a:t>
            </a:r>
            <a:r>
              <a:rPr kumimoji="0" sz="1800" b="0" i="0" u="none" strike="noStrike" kern="1200" cap="none" spc="0" normalizeH="0" baseline="0" noProof="0" dirty="0">
                <a:ln>
                  <a:noFill/>
                </a:ln>
                <a:solidFill>
                  <a:srgbClr val="70AD47"/>
                </a:solidFill>
                <a:effectLst/>
                <a:uLnTx/>
                <a:uFillTx/>
                <a:latin typeface="Courier New"/>
                <a:ea typeface="+mn-ea"/>
                <a:cs typeface="Courier New"/>
              </a:rPr>
              <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under</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25" normalizeH="0" baseline="0" noProof="0" dirty="0">
                <a:ln>
                  <a:noFill/>
                </a:ln>
                <a:solidFill>
                  <a:srgbClr val="70AD47"/>
                </a:solidFill>
                <a:effectLst/>
                <a:uLnTx/>
                <a:uFillTx/>
                <a:latin typeface="Courier New"/>
                <a:ea typeface="+mn-ea"/>
                <a:cs typeface="Courier New"/>
              </a:rPr>
              <a:t>bed</a:t>
            </a:r>
            <a:endParaRPr kumimoji="0" sz="1800" b="0" i="0" u="none" strike="noStrike" kern="1200" cap="none" spc="0" normalizeH="0" baseline="0" noProof="0">
              <a:ln>
                <a:noFill/>
              </a:ln>
              <a:solidFill>
                <a:prstClr val="black"/>
              </a:solidFill>
              <a:effectLst/>
              <a:uLnTx/>
              <a:uFillTx/>
              <a:latin typeface="Courier New"/>
              <a:ea typeface="+mn-ea"/>
              <a:cs typeface="Courier New"/>
            </a:endParaRPr>
          </a:p>
          <a:p>
            <a:pPr marL="0" marR="0" lvl="0" indent="0" algn="l" defTabSz="914400" rtl="0" eaLnBrk="1" fontAlgn="auto" latinLnBrk="0" hangingPunct="1">
              <a:lnSpc>
                <a:spcPct val="100000"/>
              </a:lnSpc>
              <a:spcBef>
                <a:spcPts val="200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ourier New"/>
              <a:ea typeface="+mn-ea"/>
              <a:cs typeface="Courier New"/>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800" b="1" i="0" u="none" strike="noStrike" kern="1200" cap="none" spc="0" normalizeH="0" baseline="0" noProof="0" dirty="0">
                <a:ln>
                  <a:noFill/>
                </a:ln>
                <a:solidFill>
                  <a:prstClr val="black"/>
                </a:solidFill>
                <a:effectLst/>
                <a:uLnTx/>
                <a:uFillTx/>
                <a:latin typeface="Lato"/>
                <a:ea typeface="+mn-ea"/>
                <a:cs typeface="Lato"/>
              </a:rPr>
              <a:t>Reference</a:t>
            </a:r>
            <a:r>
              <a:rPr kumimoji="0" sz="1800" b="1" i="0" u="none" strike="noStrike" kern="1200" cap="none" spc="-45"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Summary</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10" normalizeH="0" baseline="0" noProof="0" dirty="0">
                <a:ln>
                  <a:noFill/>
                </a:ln>
                <a:solidFill>
                  <a:prstClr val="black"/>
                </a:solidFill>
                <a:effectLst/>
                <a:uLnTx/>
                <a:uFillTx/>
                <a:latin typeface="Lato"/>
                <a:ea typeface="+mn-ea"/>
                <a:cs typeface="Lato"/>
              </a:rPr>
              <a:t>bi-</a:t>
            </a:r>
            <a:r>
              <a:rPr kumimoji="0" sz="1800" b="1" i="0" u="none" strike="noStrike" kern="1200" cap="none" spc="0" normalizeH="0" baseline="0" noProof="0" dirty="0">
                <a:ln>
                  <a:noFill/>
                </a:ln>
                <a:solidFill>
                  <a:prstClr val="black"/>
                </a:solidFill>
                <a:effectLst/>
                <a:uLnTx/>
                <a:uFillTx/>
                <a:latin typeface="Lato"/>
                <a:ea typeface="+mn-ea"/>
                <a:cs typeface="Lato"/>
              </a:rPr>
              <a:t>grams</a:t>
            </a:r>
            <a:r>
              <a:rPr kumimoji="0" sz="1800" b="1" i="0" u="none" strike="noStrike" kern="1200" cap="none" spc="-45"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(gold</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standard</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usually</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0" normalizeH="0" baseline="0" noProof="0" dirty="0">
                <a:ln>
                  <a:noFill/>
                </a:ln>
                <a:solidFill>
                  <a:prstClr val="black"/>
                </a:solidFill>
                <a:effectLst/>
                <a:uLnTx/>
                <a:uFillTx/>
                <a:latin typeface="Lato"/>
                <a:ea typeface="+mn-ea"/>
                <a:cs typeface="Lato"/>
              </a:rPr>
              <a:t>by</a:t>
            </a:r>
            <a:r>
              <a:rPr kumimoji="0" sz="1800" b="1" i="0" u="none" strike="noStrike" kern="1200" cap="none" spc="-40" normalizeH="0" baseline="0" noProof="0" dirty="0">
                <a:ln>
                  <a:noFill/>
                </a:ln>
                <a:solidFill>
                  <a:prstClr val="black"/>
                </a:solidFill>
                <a:effectLst/>
                <a:uLnTx/>
                <a:uFillTx/>
                <a:latin typeface="Lato"/>
                <a:ea typeface="+mn-ea"/>
                <a:cs typeface="Lato"/>
              </a:rPr>
              <a:t> </a:t>
            </a:r>
            <a:r>
              <a:rPr kumimoji="0" sz="1800" b="1" i="0" u="none" strike="noStrike" kern="1200" cap="none" spc="-10" normalizeH="0" baseline="0" noProof="0" dirty="0">
                <a:ln>
                  <a:noFill/>
                </a:ln>
                <a:solidFill>
                  <a:prstClr val="black"/>
                </a:solidFill>
                <a:effectLst/>
                <a:uLnTx/>
                <a:uFillTx/>
                <a:latin typeface="Lato"/>
                <a:ea typeface="+mn-ea"/>
                <a:cs typeface="Lato"/>
              </a:rPr>
              <a:t>humans)</a:t>
            </a:r>
            <a:endParaRPr kumimoji="0" sz="1800" b="0" i="0" u="none" strike="noStrike" kern="1200" cap="none" spc="0" normalizeH="0" baseline="0" noProof="0">
              <a:ln>
                <a:noFill/>
              </a:ln>
              <a:solidFill>
                <a:prstClr val="black"/>
              </a:solidFill>
              <a:effectLst/>
              <a:uLnTx/>
              <a:uFillTx/>
              <a:latin typeface="Lato"/>
              <a:ea typeface="+mn-ea"/>
              <a:cs typeface="Lato"/>
            </a:endParaRPr>
          </a:p>
          <a:p>
            <a:pPr marL="12700" marR="0" lvl="0" indent="0" algn="l" defTabSz="914400" rtl="0" eaLnBrk="1" fontAlgn="auto" latinLnBrk="0" hangingPunct="1">
              <a:lnSpc>
                <a:spcPct val="100000"/>
              </a:lnSpc>
              <a:spcBef>
                <a:spcPts val="770"/>
              </a:spcBef>
              <a:spcAft>
                <a:spcPts val="0"/>
              </a:spcAft>
              <a:buClrTx/>
              <a:buSzTx/>
              <a:buFontTx/>
              <a:buNone/>
              <a:tabLst/>
              <a:defRPr/>
            </a:pP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cat,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cat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was,</a:t>
            </a:r>
            <a:r>
              <a:rPr kumimoji="0" sz="1800" b="0" i="0" u="none" strike="noStrike" kern="1200" cap="none" spc="5"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was</a:t>
            </a:r>
            <a:r>
              <a:rPr kumimoji="0" sz="1800" b="0" i="0" u="none" strike="noStrike" kern="1200" cap="none" spc="10" normalizeH="0" baseline="0" noProof="0" dirty="0">
                <a:ln>
                  <a:noFill/>
                </a:ln>
                <a:solidFill>
                  <a:srgbClr val="FF0000"/>
                </a:solidFill>
                <a:effectLst/>
                <a:uLnTx/>
                <a:uFillTx/>
                <a:latin typeface="Courier New"/>
                <a:ea typeface="+mn-ea"/>
                <a:cs typeface="Courier New"/>
              </a:rPr>
              <a:t> </a:t>
            </a:r>
            <a:r>
              <a:rPr kumimoji="0" sz="1800" b="0" i="0" u="none" strike="noStrike" kern="1200" cap="none" spc="0" normalizeH="0" baseline="0" noProof="0" dirty="0">
                <a:ln>
                  <a:noFill/>
                </a:ln>
                <a:solidFill>
                  <a:srgbClr val="FF0000"/>
                </a:solidFill>
                <a:effectLst/>
                <a:uLnTx/>
                <a:uFillTx/>
                <a:latin typeface="Courier New"/>
                <a:ea typeface="+mn-ea"/>
                <a:cs typeface="Courier New"/>
              </a:rPr>
              <a:t>under</a:t>
            </a:r>
            <a:r>
              <a:rPr kumimoji="0" sz="1800" b="0" i="0" u="none" strike="noStrike" kern="1200" cap="none" spc="0" normalizeH="0" baseline="0" noProof="0" dirty="0">
                <a:ln>
                  <a:noFill/>
                </a:ln>
                <a:solidFill>
                  <a:srgbClr val="70AD47"/>
                </a:solidFill>
                <a:effectLst/>
                <a:uLnTx/>
                <a:uFillTx/>
                <a:latin typeface="Courier New"/>
                <a:ea typeface="+mn-ea"/>
                <a:cs typeface="Courier New"/>
              </a:rPr>
              <a:t>,</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under</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0" normalizeH="0" baseline="0" noProof="0" dirty="0">
                <a:ln>
                  <a:noFill/>
                </a:ln>
                <a:solidFill>
                  <a:srgbClr val="70AD47"/>
                </a:solidFill>
                <a:effectLst/>
                <a:uLnTx/>
                <a:uFillTx/>
                <a:latin typeface="Courier New"/>
                <a:ea typeface="+mn-ea"/>
                <a:cs typeface="Courier New"/>
              </a:rPr>
              <a:t>the</a:t>
            </a:r>
            <a:r>
              <a:rPr kumimoji="0" sz="1800" b="0" i="0" u="none" strike="noStrike" kern="1200" cap="none" spc="10" normalizeH="0" baseline="0" noProof="0" dirty="0">
                <a:ln>
                  <a:noFill/>
                </a:ln>
                <a:solidFill>
                  <a:srgbClr val="70AD47"/>
                </a:solidFill>
                <a:effectLst/>
                <a:uLnTx/>
                <a:uFillTx/>
                <a:latin typeface="Courier New"/>
                <a:ea typeface="+mn-ea"/>
                <a:cs typeface="Courier New"/>
              </a:rPr>
              <a:t> </a:t>
            </a:r>
            <a:r>
              <a:rPr kumimoji="0" sz="1800" b="0" i="0" u="none" strike="noStrike" kern="1200" cap="none" spc="-25" normalizeH="0" baseline="0" noProof="0" dirty="0">
                <a:ln>
                  <a:noFill/>
                </a:ln>
                <a:solidFill>
                  <a:srgbClr val="70AD47"/>
                </a:solidFill>
                <a:effectLst/>
                <a:uLnTx/>
                <a:uFillTx/>
                <a:latin typeface="Courier New"/>
                <a:ea typeface="+mn-ea"/>
                <a:cs typeface="Courier New"/>
              </a:rPr>
              <a:t>bed</a:t>
            </a:r>
            <a:endParaRPr kumimoji="0" sz="1800" b="0" i="0" u="none" strike="noStrike" kern="1200" cap="none" spc="0" normalizeH="0" baseline="0" noProof="0">
              <a:ln>
                <a:noFill/>
              </a:ln>
              <a:solidFill>
                <a:prstClr val="black"/>
              </a:solidFill>
              <a:effectLst/>
              <a:uLnTx/>
              <a:uFillTx/>
              <a:latin typeface="Courier New"/>
              <a:ea typeface="+mn-ea"/>
              <a:cs typeface="Courier New"/>
            </a:endParaRPr>
          </a:p>
        </p:txBody>
      </p:sp>
      <p:sp>
        <p:nvSpPr>
          <p:cNvPr id="4" name="object 4"/>
          <p:cNvSpPr txBox="1"/>
          <p:nvPr/>
        </p:nvSpPr>
        <p:spPr>
          <a:xfrm>
            <a:off x="702080" y="4237567"/>
            <a:ext cx="10306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DejaVu Serif Condensed"/>
                <a:ea typeface="+mn-ea"/>
                <a:cs typeface="DejaVu Serif Condensed"/>
              </a:rPr>
              <a:t>ROUGE−2</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5" name="object 5"/>
          <p:cNvSpPr txBox="1"/>
          <p:nvPr/>
        </p:nvSpPr>
        <p:spPr>
          <a:xfrm>
            <a:off x="1706968" y="4351867"/>
            <a:ext cx="531495" cy="2235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300" b="0" i="0" u="none" strike="noStrike" kern="1200" cap="none" spc="105" normalizeH="0" baseline="0" noProof="0" dirty="0">
                <a:ln>
                  <a:noFill/>
                </a:ln>
                <a:solidFill>
                  <a:prstClr val="black"/>
                </a:solidFill>
                <a:effectLst/>
                <a:uLnTx/>
                <a:uFillTx/>
                <a:latin typeface="Noto Sans Math"/>
                <a:ea typeface="+mn-ea"/>
                <a:cs typeface="Noto Sans Math"/>
              </a:rPr>
              <a:t>𝑅𝑒𝑐𝑎𝑙𝑙</a:t>
            </a:r>
            <a:endParaRPr kumimoji="0" sz="1300" b="0" i="0" u="none" strike="noStrike" kern="1200" cap="none" spc="0" normalizeH="0" baseline="0" noProof="0">
              <a:ln>
                <a:noFill/>
              </a:ln>
              <a:solidFill>
                <a:prstClr val="black"/>
              </a:solidFill>
              <a:effectLst/>
              <a:uLnTx/>
              <a:uFillTx/>
              <a:latin typeface="Noto Sans Math"/>
              <a:ea typeface="+mn-ea"/>
              <a:cs typeface="Noto Sans Math"/>
            </a:endParaRPr>
          </a:p>
        </p:txBody>
      </p:sp>
      <p:sp>
        <p:nvSpPr>
          <p:cNvPr id="6" name="object 6"/>
          <p:cNvSpPr txBox="1"/>
          <p:nvPr/>
        </p:nvSpPr>
        <p:spPr>
          <a:xfrm>
            <a:off x="2292057" y="4237567"/>
            <a:ext cx="19621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7" name="object 7"/>
          <p:cNvSpPr/>
          <p:nvPr/>
        </p:nvSpPr>
        <p:spPr>
          <a:xfrm>
            <a:off x="2543327" y="4406531"/>
            <a:ext cx="2717800" cy="12700"/>
          </a:xfrm>
          <a:custGeom>
            <a:avLst/>
            <a:gdLst/>
            <a:ahLst/>
            <a:cxnLst/>
            <a:rect l="l" t="t" r="r" b="b"/>
            <a:pathLst>
              <a:path w="2717800" h="12700">
                <a:moveTo>
                  <a:pt x="2717800" y="0"/>
                </a:moveTo>
                <a:lnTo>
                  <a:pt x="0" y="0"/>
                </a:lnTo>
                <a:lnTo>
                  <a:pt x="0" y="12700"/>
                </a:lnTo>
                <a:lnTo>
                  <a:pt x="2717800" y="12700"/>
                </a:lnTo>
                <a:lnTo>
                  <a:pt x="27178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object 8"/>
          <p:cNvSpPr txBox="1"/>
          <p:nvPr/>
        </p:nvSpPr>
        <p:spPr>
          <a:xfrm>
            <a:off x="2833141" y="4068225"/>
            <a:ext cx="212852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260" normalizeH="0" baseline="0" noProof="0" dirty="0">
                <a:ln>
                  <a:noFill/>
                </a:ln>
                <a:solidFill>
                  <a:prstClr val="black"/>
                </a:solidFill>
                <a:effectLst/>
                <a:uLnTx/>
                <a:uFillTx/>
                <a:latin typeface="DejaVu Serif Condensed"/>
                <a:ea typeface="+mn-ea"/>
                <a:cs typeface="DejaVu Serif Condensed"/>
              </a:rPr>
              <a:t>#</a:t>
            </a:r>
            <a:r>
              <a:rPr kumimoji="0" sz="1800" b="0" i="0" u="none" strike="noStrike" kern="1200" cap="none" spc="-114"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𝑚𝑎𝑡𝑐ℎ𝑖𝑛𝑔</a:t>
            </a:r>
            <a:r>
              <a:rPr kumimoji="0" sz="1800" b="0" i="0" u="none" strike="noStrike" kern="1200" cap="none" spc="-7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𝑏𝑖𝑔𝑟𝑎𝑚𝑠</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9" name="object 9"/>
          <p:cNvSpPr txBox="1"/>
          <p:nvPr/>
        </p:nvSpPr>
        <p:spPr>
          <a:xfrm>
            <a:off x="2527007" y="4398425"/>
            <a:ext cx="274066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20" normalizeH="0" baseline="0" noProof="0" dirty="0">
                <a:ln>
                  <a:noFill/>
                </a:ln>
                <a:solidFill>
                  <a:prstClr val="black"/>
                </a:solidFill>
                <a:effectLst/>
                <a:uLnTx/>
                <a:uFillTx/>
                <a:latin typeface="DejaVu Serif Condensed"/>
                <a:ea typeface="+mn-ea"/>
                <a:cs typeface="DejaVu Serif Condensed"/>
              </a:rPr>
              <a:t>#𝑏𝑖𝑔𝑟𝑎𝑚𝑠</a:t>
            </a: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𝑖𝑛</a:t>
            </a: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20" normalizeH="0" baseline="0" noProof="0" dirty="0">
                <a:ln>
                  <a:noFill/>
                </a:ln>
                <a:solidFill>
                  <a:prstClr val="black"/>
                </a:solidFill>
                <a:effectLst/>
                <a:uLnTx/>
                <a:uFillTx/>
                <a:latin typeface="DejaVu Serif Condensed"/>
                <a:ea typeface="+mn-ea"/>
                <a:cs typeface="DejaVu Serif Condensed"/>
              </a:rPr>
              <a:t>𝑟𝑒𝑓</a:t>
            </a:r>
            <a:r>
              <a:rPr kumimoji="0" sz="1800" b="0" i="0" u="none" strike="noStrike" kern="1200" cap="none" spc="-35"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𝑠𝑢𝑚𝑚𝑎𝑟𝑦</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0" name="object 10"/>
          <p:cNvSpPr txBox="1"/>
          <p:nvPr/>
        </p:nvSpPr>
        <p:spPr>
          <a:xfrm>
            <a:off x="6394526" y="4389967"/>
            <a:ext cx="2104390" cy="299720"/>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2700" b="0" i="0" u="none" strike="noStrike" kern="1200" cap="none" spc="0" normalizeH="0" baseline="10802" noProof="0" dirty="0">
                <a:ln>
                  <a:noFill/>
                </a:ln>
                <a:solidFill>
                  <a:prstClr val="black"/>
                </a:solidFill>
                <a:effectLst/>
                <a:uLnTx/>
                <a:uFillTx/>
                <a:latin typeface="DejaVu Serif Condensed"/>
                <a:ea typeface="+mn-ea"/>
                <a:cs typeface="DejaVu Serif Condensed"/>
              </a:rPr>
              <a:t>ROUGE−2</a:t>
            </a:r>
            <a:r>
              <a:rPr kumimoji="0" sz="1300" b="0" i="0" u="none" strike="noStrike" kern="1200" cap="none" spc="0" normalizeH="0" baseline="0" noProof="0" dirty="0">
                <a:ln>
                  <a:noFill/>
                </a:ln>
                <a:solidFill>
                  <a:prstClr val="black"/>
                </a:solidFill>
                <a:effectLst/>
                <a:uLnTx/>
                <a:uFillTx/>
                <a:latin typeface="Noto Sans Math"/>
                <a:ea typeface="+mn-ea"/>
                <a:cs typeface="Noto Sans Math"/>
              </a:rPr>
              <a:t>𝑃𝑟𝑒𝑐𝑖𝑠𝑖𝑜𝑛</a:t>
            </a:r>
            <a:r>
              <a:rPr kumimoji="0" sz="1300" b="0" i="0" u="none" strike="noStrike" kern="1200" cap="none" spc="85" normalizeH="0" baseline="0" noProof="0" dirty="0">
                <a:ln>
                  <a:noFill/>
                </a:ln>
                <a:solidFill>
                  <a:prstClr val="black"/>
                </a:solidFill>
                <a:effectLst/>
                <a:uLnTx/>
                <a:uFillTx/>
                <a:latin typeface="Noto Sans Math"/>
                <a:ea typeface="+mn-ea"/>
                <a:cs typeface="Noto Sans Math"/>
              </a:rPr>
              <a:t>  </a:t>
            </a:r>
            <a:r>
              <a:rPr kumimoji="0" sz="2700" b="0" i="0" u="none" strike="noStrike" kern="1200" cap="none" spc="-75" normalizeH="0" baseline="10802" noProof="0" dirty="0">
                <a:ln>
                  <a:noFill/>
                </a:ln>
                <a:solidFill>
                  <a:prstClr val="black"/>
                </a:solidFill>
                <a:effectLst/>
                <a:uLnTx/>
                <a:uFillTx/>
                <a:latin typeface="DejaVu Serif Condensed"/>
                <a:ea typeface="+mn-ea"/>
                <a:cs typeface="DejaVu Serif Condensed"/>
              </a:rPr>
              <a:t>=</a:t>
            </a:r>
            <a:endParaRPr kumimoji="0" sz="2700" b="0" i="0" u="none" strike="noStrike" kern="1200" cap="none" spc="0" normalizeH="0" baseline="10802" noProof="0">
              <a:ln>
                <a:noFill/>
              </a:ln>
              <a:solidFill>
                <a:prstClr val="black"/>
              </a:solidFill>
              <a:effectLst/>
              <a:uLnTx/>
              <a:uFillTx/>
              <a:latin typeface="DejaVu Serif Condensed"/>
              <a:ea typeface="+mn-ea"/>
              <a:cs typeface="DejaVu Serif Condensed"/>
            </a:endParaRPr>
          </a:p>
        </p:txBody>
      </p:sp>
      <p:sp>
        <p:nvSpPr>
          <p:cNvPr id="11" name="object 11"/>
          <p:cNvSpPr/>
          <p:nvPr/>
        </p:nvSpPr>
        <p:spPr>
          <a:xfrm>
            <a:off x="8527491" y="4510049"/>
            <a:ext cx="3111500" cy="12700"/>
          </a:xfrm>
          <a:custGeom>
            <a:avLst/>
            <a:gdLst/>
            <a:ahLst/>
            <a:cxnLst/>
            <a:rect l="l" t="t" r="r" b="b"/>
            <a:pathLst>
              <a:path w="3111500" h="12700">
                <a:moveTo>
                  <a:pt x="3111500" y="0"/>
                </a:moveTo>
                <a:lnTo>
                  <a:pt x="0" y="0"/>
                </a:lnTo>
                <a:lnTo>
                  <a:pt x="0" y="12700"/>
                </a:lnTo>
                <a:lnTo>
                  <a:pt x="3111500" y="12700"/>
                </a:lnTo>
                <a:lnTo>
                  <a:pt x="31115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object 12"/>
          <p:cNvSpPr txBox="1"/>
          <p:nvPr/>
        </p:nvSpPr>
        <p:spPr>
          <a:xfrm>
            <a:off x="5360822" y="4110567"/>
            <a:ext cx="438150" cy="299720"/>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2700" b="0" i="0" u="none" strike="noStrike" kern="1200" cap="none" spc="0" normalizeH="0" baseline="-41666" noProof="0" dirty="0">
                <a:ln>
                  <a:noFill/>
                </a:ln>
                <a:solidFill>
                  <a:prstClr val="black"/>
                </a:solidFill>
                <a:effectLst/>
                <a:uLnTx/>
                <a:uFillTx/>
                <a:latin typeface="DejaVu Serif Condensed"/>
                <a:ea typeface="+mn-ea"/>
                <a:cs typeface="DejaVu Serif Condensed"/>
              </a:rPr>
              <a:t>=</a:t>
            </a:r>
            <a:r>
              <a:rPr kumimoji="0" sz="2700" b="0" i="0" u="none" strike="noStrike" kern="1200" cap="none" spc="-60" normalizeH="0" baseline="-41666" noProof="0" dirty="0">
                <a:ln>
                  <a:noFill/>
                </a:ln>
                <a:solidFill>
                  <a:prstClr val="black"/>
                </a:solidFill>
                <a:effectLst/>
                <a:uLnTx/>
                <a:uFillTx/>
                <a:latin typeface="DejaVu Serif Condensed"/>
                <a:ea typeface="+mn-ea"/>
                <a:cs typeface="DejaVu Serif Condensed"/>
              </a:rPr>
              <a:t> </a:t>
            </a:r>
            <a:r>
              <a:rPr kumimoji="0" sz="1800" b="0" i="0" u="none" strike="noStrike" kern="1200" cap="none" spc="-60" normalizeH="0" baseline="0" noProof="0" dirty="0">
                <a:ln>
                  <a:noFill/>
                </a:ln>
                <a:solidFill>
                  <a:prstClr val="black"/>
                </a:solidFill>
                <a:effectLst/>
                <a:uLnTx/>
                <a:uFillTx/>
                <a:latin typeface="DejaVu Serif Condensed"/>
                <a:ea typeface="+mn-ea"/>
                <a:cs typeface="DejaVu Serif Condensed"/>
              </a:rPr>
              <a:t>4</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3" name="object 13"/>
          <p:cNvSpPr/>
          <p:nvPr/>
        </p:nvSpPr>
        <p:spPr>
          <a:xfrm>
            <a:off x="5637872" y="4447959"/>
            <a:ext cx="127000" cy="12700"/>
          </a:xfrm>
          <a:custGeom>
            <a:avLst/>
            <a:gdLst/>
            <a:ahLst/>
            <a:cxnLst/>
            <a:rect l="l" t="t" r="r" b="b"/>
            <a:pathLst>
              <a:path w="127000" h="12700">
                <a:moveTo>
                  <a:pt x="127000" y="0"/>
                </a:moveTo>
                <a:lnTo>
                  <a:pt x="0" y="0"/>
                </a:lnTo>
                <a:lnTo>
                  <a:pt x="0" y="12700"/>
                </a:lnTo>
                <a:lnTo>
                  <a:pt x="127000" y="12700"/>
                </a:lnTo>
                <a:lnTo>
                  <a:pt x="1270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object 14"/>
          <p:cNvSpPr txBox="1"/>
          <p:nvPr/>
        </p:nvSpPr>
        <p:spPr>
          <a:xfrm>
            <a:off x="5621172" y="4432296"/>
            <a:ext cx="15240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5</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5" name="object 15"/>
          <p:cNvSpPr txBox="1"/>
          <p:nvPr/>
        </p:nvSpPr>
        <p:spPr>
          <a:xfrm>
            <a:off x="11628170" y="4347625"/>
            <a:ext cx="19621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6" name="object 16"/>
          <p:cNvSpPr/>
          <p:nvPr/>
        </p:nvSpPr>
        <p:spPr>
          <a:xfrm>
            <a:off x="11879821" y="4511560"/>
            <a:ext cx="127000" cy="12700"/>
          </a:xfrm>
          <a:custGeom>
            <a:avLst/>
            <a:gdLst/>
            <a:ahLst/>
            <a:cxnLst/>
            <a:rect l="l" t="t" r="r" b="b"/>
            <a:pathLst>
              <a:path w="127000" h="12700">
                <a:moveTo>
                  <a:pt x="127000" y="0"/>
                </a:moveTo>
                <a:lnTo>
                  <a:pt x="0" y="0"/>
                </a:lnTo>
                <a:lnTo>
                  <a:pt x="0" y="12700"/>
                </a:lnTo>
                <a:lnTo>
                  <a:pt x="127000" y="12700"/>
                </a:lnTo>
                <a:lnTo>
                  <a:pt x="1270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object 17"/>
          <p:cNvSpPr txBox="1"/>
          <p:nvPr/>
        </p:nvSpPr>
        <p:spPr>
          <a:xfrm>
            <a:off x="9011869" y="4169825"/>
            <a:ext cx="300355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2863850" algn="l"/>
              </a:tabLst>
              <a:defRPr/>
            </a:pPr>
            <a:r>
              <a:rPr kumimoji="0" sz="1800" b="0" i="0" u="none" strike="noStrike" kern="1200" cap="none" spc="-260" normalizeH="0" baseline="0" noProof="0" dirty="0">
                <a:ln>
                  <a:noFill/>
                </a:ln>
                <a:solidFill>
                  <a:prstClr val="black"/>
                </a:solidFill>
                <a:effectLst/>
                <a:uLnTx/>
                <a:uFillTx/>
                <a:latin typeface="DejaVu Serif Condensed"/>
                <a:ea typeface="+mn-ea"/>
                <a:cs typeface="DejaVu Serif Condensed"/>
              </a:rPr>
              <a:t>#</a:t>
            </a:r>
            <a:r>
              <a:rPr kumimoji="0" sz="1800" b="0" i="0" u="none" strike="noStrike" kern="1200" cap="none" spc="-114"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𝑚𝑎𝑡𝑐ℎ𝑖𝑛𝑔</a:t>
            </a:r>
            <a:r>
              <a:rPr kumimoji="0" sz="1800" b="0" i="0" u="none" strike="noStrike" kern="1200" cap="none" spc="-7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𝑏𝑖𝑔𝑟𝑎𝑚𝑠</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4</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8" name="object 18"/>
          <p:cNvSpPr txBox="1"/>
          <p:nvPr/>
        </p:nvSpPr>
        <p:spPr>
          <a:xfrm>
            <a:off x="8511870" y="4500025"/>
            <a:ext cx="35032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3363595" algn="l"/>
              </a:tabLst>
              <a:defRPr/>
            </a:pPr>
            <a:r>
              <a:rPr kumimoji="0" sz="1800" b="0" i="0" u="none" strike="noStrike" kern="1200" cap="none" spc="-20" normalizeH="0" baseline="0" noProof="0" dirty="0">
                <a:ln>
                  <a:noFill/>
                </a:ln>
                <a:solidFill>
                  <a:prstClr val="black"/>
                </a:solidFill>
                <a:effectLst/>
                <a:uLnTx/>
                <a:uFillTx/>
                <a:latin typeface="DejaVu Serif Condensed"/>
                <a:ea typeface="+mn-ea"/>
                <a:cs typeface="DejaVu Serif Condensed"/>
              </a:rPr>
              <a:t>#𝑏𝑖𝑔𝑟𝑎𝑚𝑠</a:t>
            </a:r>
            <a:r>
              <a:rPr kumimoji="0" sz="1800" b="0" i="0" u="none" strike="noStrike" kern="1200" cap="none" spc="-35"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𝑖𝑛</a:t>
            </a:r>
            <a:r>
              <a:rPr kumimoji="0" sz="1800" b="0" i="0" u="none" strike="noStrike" kern="1200" cap="none" spc="-4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𝑠𝑦𝑠𝑡𝑒𝑚</a:t>
            </a:r>
            <a:r>
              <a:rPr kumimoji="0" sz="1800" b="0" i="0" u="none" strike="noStrike" kern="1200" cap="none" spc="-45"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𝑠𝑢𝑚𝑚𝑎𝑟𝑦</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6</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19" name="object 19"/>
          <p:cNvSpPr txBox="1"/>
          <p:nvPr/>
        </p:nvSpPr>
        <p:spPr>
          <a:xfrm>
            <a:off x="793266" y="5304367"/>
            <a:ext cx="72478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20" normalizeH="0" baseline="0" noProof="0" dirty="0">
                <a:ln>
                  <a:noFill/>
                </a:ln>
                <a:solidFill>
                  <a:srgbClr val="FF0000"/>
                </a:solidFill>
                <a:effectLst/>
                <a:uLnTx/>
                <a:uFillTx/>
                <a:latin typeface="Lato"/>
                <a:ea typeface="+mn-ea"/>
                <a:cs typeface="Lato"/>
              </a:rPr>
              <a:t>ROUGE-</a:t>
            </a:r>
            <a:r>
              <a:rPr kumimoji="0" sz="1800" b="1" i="0" u="none" strike="noStrike" kern="1200" cap="none" spc="0" normalizeH="0" baseline="0" noProof="0" dirty="0">
                <a:ln>
                  <a:noFill/>
                </a:ln>
                <a:solidFill>
                  <a:srgbClr val="FF0000"/>
                </a:solidFill>
                <a:effectLst/>
                <a:uLnTx/>
                <a:uFillTx/>
                <a:latin typeface="Lato"/>
                <a:ea typeface="+mn-ea"/>
                <a:cs typeface="Lato"/>
              </a:rPr>
              <a:t>L</a:t>
            </a:r>
            <a:r>
              <a:rPr kumimoji="0" sz="1800" b="1" i="0" u="none" strike="noStrike" kern="1200" cap="none" spc="-15" normalizeH="0" baseline="0" noProof="0" dirty="0">
                <a:ln>
                  <a:noFill/>
                </a:ln>
                <a:solidFill>
                  <a:srgbClr val="FF0000"/>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uses</a:t>
            </a:r>
            <a:r>
              <a:rPr kumimoji="0" sz="1800" b="0" i="0" u="none" strike="noStrike" kern="1200" cap="none" spc="-20"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L</a:t>
            </a:r>
            <a:r>
              <a:rPr kumimoji="0" sz="1800" b="0" i="0" u="none" strike="noStrike" kern="1200" cap="none" spc="-15"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as</a:t>
            </a:r>
            <a:r>
              <a:rPr kumimoji="0" sz="1800" b="0" i="0" u="none" strike="noStrike" kern="1200" cap="none" spc="-20"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the</a:t>
            </a:r>
            <a:r>
              <a:rPr kumimoji="0" sz="1800" b="0" i="0" u="none" strike="noStrike" kern="1200" cap="none" spc="-15"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longest</a:t>
            </a:r>
            <a:r>
              <a:rPr kumimoji="0" sz="1800" b="0" i="0" u="none" strike="noStrike" kern="1200" cap="none" spc="-5"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matching</a:t>
            </a:r>
            <a:r>
              <a:rPr kumimoji="0" sz="1800" b="0" i="0" u="none" strike="noStrike" kern="1200" cap="none" spc="-15"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subsequence</a:t>
            </a:r>
            <a:r>
              <a:rPr kumimoji="0" sz="1800" b="0" i="0" u="none" strike="noStrike" kern="1200" cap="none" spc="-15"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in</a:t>
            </a:r>
            <a:r>
              <a:rPr kumimoji="0" sz="1800" b="0" i="0" u="none" strike="noStrike" kern="1200" cap="none" spc="-20" normalizeH="0" baseline="0" noProof="0" dirty="0">
                <a:ln>
                  <a:noFill/>
                </a:ln>
                <a:solidFill>
                  <a:prstClr val="black"/>
                </a:solidFill>
                <a:effectLst/>
                <a:uLnTx/>
                <a:uFillTx/>
                <a:latin typeface="Lato"/>
                <a:ea typeface="+mn-ea"/>
                <a:cs typeface="Lato"/>
              </a:rPr>
              <a:t> </a:t>
            </a:r>
            <a:r>
              <a:rPr kumimoji="0" sz="1800" b="0" i="0" u="none" strike="noStrike" kern="1200" cap="none" spc="0" normalizeH="0" baseline="0" noProof="0" dirty="0">
                <a:ln>
                  <a:noFill/>
                </a:ln>
                <a:solidFill>
                  <a:prstClr val="black"/>
                </a:solidFill>
                <a:effectLst/>
                <a:uLnTx/>
                <a:uFillTx/>
                <a:latin typeface="Lato"/>
                <a:ea typeface="+mn-ea"/>
                <a:cs typeface="Lato"/>
              </a:rPr>
              <a:t>the</a:t>
            </a:r>
            <a:r>
              <a:rPr kumimoji="0" sz="1800" b="0" i="0" u="none" strike="noStrike" kern="1200" cap="none" spc="-15" normalizeH="0" baseline="0" noProof="0" dirty="0">
                <a:ln>
                  <a:noFill/>
                </a:ln>
                <a:solidFill>
                  <a:prstClr val="black"/>
                </a:solidFill>
                <a:effectLst/>
                <a:uLnTx/>
                <a:uFillTx/>
                <a:latin typeface="Lato"/>
                <a:ea typeface="+mn-ea"/>
                <a:cs typeface="Lato"/>
              </a:rPr>
              <a:t> </a:t>
            </a:r>
            <a:r>
              <a:rPr kumimoji="0" sz="1800" b="0" i="0" u="none" strike="noStrike" kern="1200" cap="none" spc="-10" normalizeH="0" baseline="0" noProof="0" dirty="0">
                <a:ln>
                  <a:noFill/>
                </a:ln>
                <a:solidFill>
                  <a:prstClr val="black"/>
                </a:solidFill>
                <a:effectLst/>
                <a:uLnTx/>
                <a:uFillTx/>
                <a:latin typeface="Lato"/>
                <a:ea typeface="+mn-ea"/>
                <a:cs typeface="Lato"/>
              </a:rPr>
              <a:t>numerator</a:t>
            </a:r>
            <a:endParaRPr kumimoji="0" sz="1800" b="0" i="0" u="none" strike="noStrike" kern="1200" cap="none" spc="0" normalizeH="0" baseline="0" noProof="0">
              <a:ln>
                <a:noFill/>
              </a:ln>
              <a:solidFill>
                <a:prstClr val="black"/>
              </a:solidFill>
              <a:effectLst/>
              <a:uLnTx/>
              <a:uFillTx/>
              <a:latin typeface="Lato"/>
              <a:ea typeface="+mn-ea"/>
              <a:cs typeface="Lato"/>
            </a:endParaRPr>
          </a:p>
        </p:txBody>
      </p:sp>
      <p:sp>
        <p:nvSpPr>
          <p:cNvPr id="20" name="object 20"/>
          <p:cNvSpPr txBox="1"/>
          <p:nvPr/>
        </p:nvSpPr>
        <p:spPr>
          <a:xfrm>
            <a:off x="825500" y="6032496"/>
            <a:ext cx="10248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40" normalizeH="0" baseline="0" noProof="0" dirty="0">
                <a:ln>
                  <a:noFill/>
                </a:ln>
                <a:solidFill>
                  <a:prstClr val="black"/>
                </a:solidFill>
                <a:effectLst/>
                <a:uLnTx/>
                <a:uFillTx/>
                <a:latin typeface="DejaVu Serif Condensed"/>
                <a:ea typeface="+mn-ea"/>
                <a:cs typeface="DejaVu Serif Condensed"/>
              </a:rPr>
              <a:t>ROUGE−𝐿</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1" name="object 21"/>
          <p:cNvSpPr txBox="1"/>
          <p:nvPr/>
        </p:nvSpPr>
        <p:spPr>
          <a:xfrm>
            <a:off x="1825625" y="6146796"/>
            <a:ext cx="531495" cy="2235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300" b="0" i="0" u="none" strike="noStrike" kern="1200" cap="none" spc="90" normalizeH="0" baseline="0" noProof="0" dirty="0">
                <a:ln>
                  <a:noFill/>
                </a:ln>
                <a:solidFill>
                  <a:prstClr val="black"/>
                </a:solidFill>
                <a:effectLst/>
                <a:uLnTx/>
                <a:uFillTx/>
                <a:latin typeface="Noto Sans Math"/>
                <a:ea typeface="+mn-ea"/>
                <a:cs typeface="Noto Sans Math"/>
              </a:rPr>
              <a:t>𝑅𝑒𝑐𝑎𝑙𝑙</a:t>
            </a:r>
            <a:endParaRPr kumimoji="0" sz="1300" b="0" i="0" u="none" strike="noStrike" kern="1200" cap="none" spc="0" normalizeH="0" baseline="0" noProof="0">
              <a:ln>
                <a:noFill/>
              </a:ln>
              <a:solidFill>
                <a:prstClr val="black"/>
              </a:solidFill>
              <a:effectLst/>
              <a:uLnTx/>
              <a:uFillTx/>
              <a:latin typeface="Noto Sans Math"/>
              <a:ea typeface="+mn-ea"/>
              <a:cs typeface="Noto Sans Math"/>
            </a:endParaRPr>
          </a:p>
        </p:txBody>
      </p:sp>
      <p:sp>
        <p:nvSpPr>
          <p:cNvPr id="22" name="object 22"/>
          <p:cNvSpPr txBox="1"/>
          <p:nvPr/>
        </p:nvSpPr>
        <p:spPr>
          <a:xfrm>
            <a:off x="2410714" y="6032496"/>
            <a:ext cx="19621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3" name="object 23"/>
          <p:cNvSpPr/>
          <p:nvPr/>
        </p:nvSpPr>
        <p:spPr>
          <a:xfrm>
            <a:off x="2654300" y="6197760"/>
            <a:ext cx="2489200" cy="12700"/>
          </a:xfrm>
          <a:custGeom>
            <a:avLst/>
            <a:gdLst/>
            <a:ahLst/>
            <a:cxnLst/>
            <a:rect l="l" t="t" r="r" b="b"/>
            <a:pathLst>
              <a:path w="2489200" h="12700">
                <a:moveTo>
                  <a:pt x="2489200" y="0"/>
                </a:moveTo>
                <a:lnTo>
                  <a:pt x="0" y="0"/>
                </a:lnTo>
                <a:lnTo>
                  <a:pt x="0" y="12699"/>
                </a:lnTo>
                <a:lnTo>
                  <a:pt x="2489200" y="12699"/>
                </a:lnTo>
                <a:lnTo>
                  <a:pt x="24892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4" name="object 24"/>
          <p:cNvSpPr txBox="1"/>
          <p:nvPr/>
        </p:nvSpPr>
        <p:spPr>
          <a:xfrm>
            <a:off x="3696842" y="5863167"/>
            <a:ext cx="40513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35" normalizeH="0" baseline="0" noProof="0" dirty="0">
                <a:ln>
                  <a:noFill/>
                </a:ln>
                <a:solidFill>
                  <a:prstClr val="black"/>
                </a:solidFill>
                <a:effectLst/>
                <a:uLnTx/>
                <a:uFillTx/>
                <a:latin typeface="DejaVu Serif Condensed"/>
                <a:ea typeface="+mn-ea"/>
                <a:cs typeface="DejaVu Serif Condensed"/>
              </a:rPr>
              <a:t>𝐿𝐶𝑆</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5" name="object 25"/>
          <p:cNvSpPr txBox="1"/>
          <p:nvPr/>
        </p:nvSpPr>
        <p:spPr>
          <a:xfrm>
            <a:off x="2645664" y="6184896"/>
            <a:ext cx="250761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60" normalizeH="0" baseline="0" noProof="0" dirty="0">
                <a:ln>
                  <a:noFill/>
                </a:ln>
                <a:solidFill>
                  <a:prstClr val="black"/>
                </a:solidFill>
                <a:effectLst/>
                <a:uLnTx/>
                <a:uFillTx/>
                <a:latin typeface="DejaVu Serif Condensed"/>
                <a:ea typeface="+mn-ea"/>
                <a:cs typeface="DejaVu Serif Condensed"/>
              </a:rPr>
              <a:t>#𝑤𝑜𝑟𝑑𝑠</a:t>
            </a:r>
            <a:r>
              <a:rPr kumimoji="0" sz="1800" b="0" i="0" u="none" strike="noStrike" kern="1200" cap="none" spc="-45"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𝑖𝑛</a:t>
            </a:r>
            <a:r>
              <a:rPr kumimoji="0" sz="1800" b="0" i="0" u="none" strike="noStrike" kern="1200" cap="none" spc="-45"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20" normalizeH="0" baseline="0" noProof="0" dirty="0">
                <a:ln>
                  <a:noFill/>
                </a:ln>
                <a:solidFill>
                  <a:prstClr val="black"/>
                </a:solidFill>
                <a:effectLst/>
                <a:uLnTx/>
                <a:uFillTx/>
                <a:latin typeface="DejaVu Serif Condensed"/>
                <a:ea typeface="+mn-ea"/>
                <a:cs typeface="DejaVu Serif Condensed"/>
              </a:rPr>
              <a:t>𝑟𝑒𝑓</a:t>
            </a:r>
            <a:r>
              <a:rPr kumimoji="0" sz="1800" b="0" i="0" u="none" strike="noStrike" kern="1200" cap="none" spc="-3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𝑠𝑢𝑚𝑚𝑎𝑟𝑦</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6" name="object 26"/>
          <p:cNvSpPr txBox="1"/>
          <p:nvPr/>
        </p:nvSpPr>
        <p:spPr>
          <a:xfrm>
            <a:off x="6085522" y="6015567"/>
            <a:ext cx="10248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40" normalizeH="0" baseline="0" noProof="0" dirty="0">
                <a:ln>
                  <a:noFill/>
                </a:ln>
                <a:solidFill>
                  <a:prstClr val="black"/>
                </a:solidFill>
                <a:effectLst/>
                <a:uLnTx/>
                <a:uFillTx/>
                <a:latin typeface="DejaVu Serif Condensed"/>
                <a:ea typeface="+mn-ea"/>
                <a:cs typeface="DejaVu Serif Condensed"/>
              </a:rPr>
              <a:t>ROUGE−𝐿</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7" name="object 27"/>
          <p:cNvSpPr txBox="1"/>
          <p:nvPr/>
        </p:nvSpPr>
        <p:spPr>
          <a:xfrm>
            <a:off x="7085647" y="6129867"/>
            <a:ext cx="801370" cy="2235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300" b="0" i="0" u="none" strike="noStrike" kern="1200" cap="none" spc="120" normalizeH="0" baseline="0" noProof="0" dirty="0">
                <a:ln>
                  <a:noFill/>
                </a:ln>
                <a:solidFill>
                  <a:prstClr val="black"/>
                </a:solidFill>
                <a:effectLst/>
                <a:uLnTx/>
                <a:uFillTx/>
                <a:latin typeface="Noto Sans Math"/>
                <a:ea typeface="+mn-ea"/>
                <a:cs typeface="Noto Sans Math"/>
              </a:rPr>
              <a:t>𝑃𝑟𝑒𝑐𝑖𝑠𝑖𝑜𝑛</a:t>
            </a:r>
            <a:endParaRPr kumimoji="0" sz="1300" b="0" i="0" u="none" strike="noStrike" kern="1200" cap="none" spc="0" normalizeH="0" baseline="0" noProof="0">
              <a:ln>
                <a:noFill/>
              </a:ln>
              <a:solidFill>
                <a:prstClr val="black"/>
              </a:solidFill>
              <a:effectLst/>
              <a:uLnTx/>
              <a:uFillTx/>
              <a:latin typeface="Noto Sans Math"/>
              <a:ea typeface="+mn-ea"/>
              <a:cs typeface="Noto Sans Math"/>
            </a:endParaRPr>
          </a:p>
        </p:txBody>
      </p:sp>
      <p:sp>
        <p:nvSpPr>
          <p:cNvPr id="28" name="object 28"/>
          <p:cNvSpPr txBox="1"/>
          <p:nvPr/>
        </p:nvSpPr>
        <p:spPr>
          <a:xfrm>
            <a:off x="7937754" y="6015567"/>
            <a:ext cx="19621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0" normalizeH="0" baseline="0" noProof="0" dirty="0">
                <a:ln>
                  <a:noFill/>
                </a:ln>
                <a:solidFill>
                  <a:prstClr val="black"/>
                </a:solidFill>
                <a:effectLst/>
                <a:uLnTx/>
                <a:uFillTx/>
                <a:latin typeface="DejaVu Serif Condensed"/>
                <a:ea typeface="+mn-ea"/>
                <a:cs typeface="DejaVu Serif Condensed"/>
              </a:rPr>
              <a:t>=</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29" name="object 29"/>
          <p:cNvSpPr/>
          <p:nvPr/>
        </p:nvSpPr>
        <p:spPr>
          <a:xfrm>
            <a:off x="8191500" y="6183807"/>
            <a:ext cx="2870200" cy="12700"/>
          </a:xfrm>
          <a:custGeom>
            <a:avLst/>
            <a:gdLst/>
            <a:ahLst/>
            <a:cxnLst/>
            <a:rect l="l" t="t" r="r" b="b"/>
            <a:pathLst>
              <a:path w="2870200" h="12700">
                <a:moveTo>
                  <a:pt x="2870200" y="0"/>
                </a:moveTo>
                <a:lnTo>
                  <a:pt x="0" y="0"/>
                </a:lnTo>
                <a:lnTo>
                  <a:pt x="0" y="12698"/>
                </a:lnTo>
                <a:lnTo>
                  <a:pt x="2870200" y="12698"/>
                </a:lnTo>
                <a:lnTo>
                  <a:pt x="28702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bject 30"/>
          <p:cNvSpPr txBox="1"/>
          <p:nvPr/>
        </p:nvSpPr>
        <p:spPr>
          <a:xfrm>
            <a:off x="9417748" y="5846225"/>
            <a:ext cx="40513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35" normalizeH="0" baseline="0" noProof="0" dirty="0">
                <a:ln>
                  <a:noFill/>
                </a:ln>
                <a:solidFill>
                  <a:prstClr val="black"/>
                </a:solidFill>
                <a:effectLst/>
                <a:uLnTx/>
                <a:uFillTx/>
                <a:latin typeface="DejaVu Serif Condensed"/>
                <a:ea typeface="+mn-ea"/>
                <a:cs typeface="DejaVu Serif Condensed"/>
              </a:rPr>
              <a:t>𝐿𝐶𝑆</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
        <p:nvSpPr>
          <p:cNvPr id="31" name="object 31"/>
          <p:cNvSpPr txBox="1"/>
          <p:nvPr/>
        </p:nvSpPr>
        <p:spPr>
          <a:xfrm>
            <a:off x="8172704" y="6167967"/>
            <a:ext cx="289496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60" normalizeH="0" baseline="0" noProof="0" dirty="0">
                <a:ln>
                  <a:noFill/>
                </a:ln>
                <a:solidFill>
                  <a:prstClr val="black"/>
                </a:solidFill>
                <a:effectLst/>
                <a:uLnTx/>
                <a:uFillTx/>
                <a:latin typeface="DejaVu Serif Condensed"/>
                <a:ea typeface="+mn-ea"/>
                <a:cs typeface="DejaVu Serif Condensed"/>
              </a:rPr>
              <a:t>#𝑤𝑜𝑟𝑑𝑠</a:t>
            </a:r>
            <a:r>
              <a:rPr kumimoji="0" sz="1800" b="0" i="0" u="none" strike="noStrike" kern="1200" cap="none" spc="-3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𝑖𝑛</a:t>
            </a:r>
            <a:r>
              <a:rPr kumimoji="0" sz="1800" b="0" i="0" u="none" strike="noStrike" kern="1200" cap="none" spc="-3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0" normalizeH="0" baseline="0" noProof="0" dirty="0">
                <a:ln>
                  <a:noFill/>
                </a:ln>
                <a:solidFill>
                  <a:prstClr val="black"/>
                </a:solidFill>
                <a:effectLst/>
                <a:uLnTx/>
                <a:uFillTx/>
                <a:latin typeface="DejaVu Serif Condensed"/>
                <a:ea typeface="+mn-ea"/>
                <a:cs typeface="DejaVu Serif Condensed"/>
              </a:rPr>
              <a:t>𝑠𝑦𝑠𝑡𝑒𝑚</a:t>
            </a:r>
            <a:r>
              <a:rPr kumimoji="0" sz="1800" b="0" i="0" u="none" strike="noStrike" kern="1200" cap="none" spc="-40" normalizeH="0" baseline="0" noProof="0" dirty="0">
                <a:ln>
                  <a:noFill/>
                </a:ln>
                <a:solidFill>
                  <a:prstClr val="black"/>
                </a:solidFill>
                <a:effectLst/>
                <a:uLnTx/>
                <a:uFillTx/>
                <a:latin typeface="DejaVu Serif Condensed"/>
                <a:ea typeface="+mn-ea"/>
                <a:cs typeface="DejaVu Serif Condensed"/>
              </a:rPr>
              <a:t> </a:t>
            </a:r>
            <a:r>
              <a:rPr kumimoji="0" sz="1800" b="0" i="0" u="none" strike="noStrike" kern="1200" cap="none" spc="-10" normalizeH="0" baseline="0" noProof="0" dirty="0">
                <a:ln>
                  <a:noFill/>
                </a:ln>
                <a:solidFill>
                  <a:prstClr val="black"/>
                </a:solidFill>
                <a:effectLst/>
                <a:uLnTx/>
                <a:uFillTx/>
                <a:latin typeface="DejaVu Serif Condensed"/>
                <a:ea typeface="+mn-ea"/>
                <a:cs typeface="DejaVu Serif Condensed"/>
              </a:rPr>
              <a:t>𝑠𝑢𝑚𝑚𝑎𝑟𝑦</a:t>
            </a:r>
            <a:endParaRPr kumimoji="0" sz="1800" b="0" i="0" u="none" strike="noStrike" kern="1200" cap="none" spc="0" normalizeH="0" baseline="0" noProof="0">
              <a:ln>
                <a:noFill/>
              </a:ln>
              <a:solidFill>
                <a:prstClr val="black"/>
              </a:solidFill>
              <a:effectLst/>
              <a:uLnTx/>
              <a:uFillTx/>
              <a:latin typeface="DejaVu Serif Condensed"/>
              <a:ea typeface="+mn-ea"/>
              <a:cs typeface="DejaVu Serif Condense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383" y="74080"/>
            <a:ext cx="5567680" cy="6151880"/>
          </a:xfrm>
          <a:prstGeom prst="rect">
            <a:avLst/>
          </a:prstGeom>
        </p:spPr>
        <p:txBody>
          <a:bodyPr vert="horz" wrap="square" lIns="0" tIns="128905" rIns="0" bIns="0" rtlCol="0">
            <a:spAutoFit/>
          </a:bodyPr>
          <a:lstStyle/>
          <a:p>
            <a:pPr marL="240665" marR="0" lvl="0" indent="-227965" algn="l" defTabSz="914400" rtl="0" eaLnBrk="1" fontAlgn="auto" latinLnBrk="0" hangingPunct="1">
              <a:lnSpc>
                <a:spcPct val="100000"/>
              </a:lnSpc>
              <a:spcBef>
                <a:spcPts val="1015"/>
              </a:spcBef>
              <a:spcAft>
                <a:spcPts val="0"/>
              </a:spcAft>
              <a:buClrTx/>
              <a:buSzTx/>
              <a:buFont typeface="Arial"/>
              <a:buChar char="•"/>
              <a:tabLst>
                <a:tab pos="240665" algn="l"/>
              </a:tabLst>
              <a:defRPr/>
            </a:pPr>
            <a:r>
              <a:rPr kumimoji="0" sz="2000" b="1" i="0" u="none" strike="noStrike" kern="1200" cap="none" spc="-50" normalizeH="0" baseline="0" noProof="0" dirty="0">
                <a:ln>
                  <a:noFill/>
                </a:ln>
                <a:solidFill>
                  <a:srgbClr val="ED7D31"/>
                </a:solidFill>
                <a:effectLst/>
                <a:uLnTx/>
                <a:uFillTx/>
                <a:latin typeface="Carlito"/>
                <a:ea typeface="+mn-ea"/>
                <a:cs typeface="Carlito"/>
              </a:rPr>
              <a:t>Text</a:t>
            </a:r>
            <a:r>
              <a:rPr kumimoji="0" sz="2000" b="1" i="0" u="none" strike="noStrike" kern="1200" cap="none" spc="-25" normalizeH="0" baseline="0" noProof="0" dirty="0">
                <a:ln>
                  <a:noFill/>
                </a:ln>
                <a:solidFill>
                  <a:srgbClr val="ED7D31"/>
                </a:solidFill>
                <a:effectLst/>
                <a:uLnTx/>
                <a:uFillTx/>
                <a:latin typeface="Carlito"/>
                <a:ea typeface="+mn-ea"/>
                <a:cs typeface="Carlito"/>
              </a:rPr>
              <a:t> </a:t>
            </a:r>
            <a:r>
              <a:rPr kumimoji="0" sz="2000" b="1" i="0" u="none" strike="noStrike" kern="1200" cap="none" spc="-10" normalizeH="0" baseline="0" noProof="0" dirty="0">
                <a:ln>
                  <a:noFill/>
                </a:ln>
                <a:solidFill>
                  <a:srgbClr val="ED7D31"/>
                </a:solidFill>
                <a:effectLst/>
                <a:uLnTx/>
                <a:uFillTx/>
                <a:latin typeface="Carlito"/>
                <a:ea typeface="+mn-ea"/>
                <a:cs typeface="Carlito"/>
              </a:rPr>
              <a:t>Classification</a:t>
            </a:r>
            <a:r>
              <a:rPr kumimoji="0" sz="2000" b="1" i="0" u="none" strike="noStrike" kern="1200" cap="none" spc="-20" normalizeH="0" baseline="0" noProof="0" dirty="0">
                <a:ln>
                  <a:noFill/>
                </a:ln>
                <a:solidFill>
                  <a:srgbClr val="ED7D31"/>
                </a:solidFill>
                <a:effectLst/>
                <a:uLnTx/>
                <a:uFillTx/>
                <a:latin typeface="Carlito"/>
                <a:ea typeface="+mn-ea"/>
                <a:cs typeface="Carlito"/>
              </a:rPr>
              <a:t> </a:t>
            </a:r>
            <a:r>
              <a:rPr kumimoji="0" sz="2000" b="1" i="0" u="none" strike="noStrike" kern="1200" cap="none" spc="-10" normalizeH="0" baseline="0" noProof="0" dirty="0">
                <a:ln>
                  <a:noFill/>
                </a:ln>
                <a:solidFill>
                  <a:srgbClr val="ED7D31"/>
                </a:solidFill>
                <a:effectLst/>
                <a:uLnTx/>
                <a:uFillTx/>
                <a:latin typeface="Carlito"/>
                <a:ea typeface="+mn-ea"/>
                <a:cs typeface="Carlito"/>
              </a:rPr>
              <a:t>Metrics</a:t>
            </a:r>
            <a:endParaRPr kumimoji="0" sz="2000" b="0" i="0" u="none" strike="noStrike" kern="1200" cap="none" spc="0" normalizeH="0" baseline="0" noProof="0">
              <a:ln>
                <a:noFill/>
              </a:ln>
              <a:solidFill>
                <a:prstClr val="black"/>
              </a:solidFill>
              <a:effectLst/>
              <a:uLnTx/>
              <a:uFillTx/>
              <a:latin typeface="Carlito"/>
              <a:ea typeface="+mn-ea"/>
              <a:cs typeface="Carlito"/>
            </a:endParaRPr>
          </a:p>
          <a:p>
            <a:pPr marL="240665" marR="150495" lvl="0" indent="-228600" algn="l" defTabSz="914400" rtl="0" eaLnBrk="1" fontAlgn="auto" latinLnBrk="0" hangingPunct="1">
              <a:lnSpc>
                <a:spcPct val="76400"/>
              </a:lnSpc>
              <a:spcBef>
                <a:spcPts val="1185"/>
              </a:spcBef>
              <a:spcAft>
                <a:spcPts val="0"/>
              </a:spcAft>
              <a:buClrTx/>
              <a:buSzTx/>
              <a:buFont typeface="Arial"/>
              <a:buChar char="•"/>
              <a:tabLst>
                <a:tab pos="240665" algn="l"/>
              </a:tabLst>
              <a:defRPr/>
            </a:pPr>
            <a:r>
              <a:rPr kumimoji="0" sz="1600" b="0" i="0" u="none" strike="noStrike" kern="1200" cap="none" spc="-85" normalizeH="0" baseline="0" noProof="0" dirty="0">
                <a:ln>
                  <a:noFill/>
                </a:ln>
                <a:solidFill>
                  <a:srgbClr val="ED7D31"/>
                </a:solidFill>
                <a:effectLst/>
                <a:uLnTx/>
                <a:uFillTx/>
                <a:latin typeface="Verdana"/>
                <a:ea typeface="+mn-ea"/>
                <a:cs typeface="Verdana"/>
              </a:rPr>
              <a:t>Accuracy</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7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proportion</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correct</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predictions</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among</a:t>
            </a:r>
            <a:r>
              <a:rPr kumimoji="0" sz="1600" b="0" i="0" u="none" strike="noStrike" kern="1200" cap="none" spc="-25" normalizeH="0" baseline="0" noProof="0" dirty="0">
                <a:ln>
                  <a:noFill/>
                </a:ln>
                <a:solidFill>
                  <a:prstClr val="black"/>
                </a:solidFill>
                <a:effectLst/>
                <a:uLnTx/>
                <a:uFillTx/>
                <a:latin typeface="Carlito"/>
                <a:ea typeface="+mn-ea"/>
                <a:cs typeface="Carlito"/>
              </a:rPr>
              <a:t> the </a:t>
            </a:r>
            <a:r>
              <a:rPr kumimoji="0" sz="1600" b="0" i="0" u="none" strike="noStrike" kern="1200" cap="none" spc="0" normalizeH="0" baseline="0" noProof="0" dirty="0">
                <a:ln>
                  <a:noFill/>
                </a:ln>
                <a:solidFill>
                  <a:prstClr val="black"/>
                </a:solidFill>
                <a:effectLst/>
                <a:uLnTx/>
                <a:uFillTx/>
                <a:latin typeface="Carlito"/>
                <a:ea typeface="+mn-ea"/>
                <a:cs typeface="Carlito"/>
              </a:rPr>
              <a:t>total</a:t>
            </a:r>
            <a:r>
              <a:rPr kumimoji="0" sz="1600" b="0" i="0" u="none" strike="noStrike" kern="1200" cap="none" spc="-4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number</a:t>
            </a:r>
            <a:r>
              <a:rPr kumimoji="0" sz="1600" b="0" i="0" u="none" strike="noStrike" kern="1200" cap="none" spc="-3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3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cases</a:t>
            </a:r>
            <a:r>
              <a:rPr kumimoji="0" sz="1600" b="0" i="0" u="none" strike="noStrike" kern="1200" cap="none" spc="-4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processed.</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5080" lvl="0" indent="-228600" algn="l" defTabSz="914400" rtl="0" eaLnBrk="1" fontAlgn="auto" latinLnBrk="0" hangingPunct="1">
              <a:lnSpc>
                <a:spcPts val="1600"/>
              </a:lnSpc>
              <a:spcBef>
                <a:spcPts val="400"/>
              </a:spcBef>
              <a:spcAft>
                <a:spcPts val="0"/>
              </a:spcAft>
              <a:buClrTx/>
              <a:buSzPct val="87500"/>
              <a:buFont typeface="Arial"/>
              <a:buChar char="•"/>
              <a:tabLst>
                <a:tab pos="240665" algn="l"/>
              </a:tabLst>
              <a:defRPr/>
            </a:pPr>
            <a:r>
              <a:rPr kumimoji="0" sz="1600" b="0" i="0" u="none" strike="noStrike" kern="1200" cap="none" spc="-60" normalizeH="0" baseline="0" noProof="0" dirty="0">
                <a:ln>
                  <a:noFill/>
                </a:ln>
                <a:solidFill>
                  <a:srgbClr val="ED7D31"/>
                </a:solidFill>
                <a:effectLst/>
                <a:uLnTx/>
                <a:uFillTx/>
                <a:latin typeface="Verdana"/>
                <a:ea typeface="+mn-ea"/>
                <a:cs typeface="Verdana"/>
              </a:rPr>
              <a:t>Precision</a:t>
            </a:r>
            <a:r>
              <a:rPr kumimoji="0" sz="1600" b="0" i="0" u="none" strike="noStrike" kern="1200" cap="none" spc="-195"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6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fraction</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correctly</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labeled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positive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examples </a:t>
            </a:r>
            <a:r>
              <a:rPr kumimoji="0" sz="1600" b="0" i="0" u="none" strike="noStrike" kern="1200" cap="none" spc="0" normalizeH="0" baseline="0" noProof="0" dirty="0">
                <a:ln>
                  <a:noFill/>
                </a:ln>
                <a:solidFill>
                  <a:prstClr val="black"/>
                </a:solidFill>
                <a:effectLst/>
                <a:uLnTx/>
                <a:uFillTx/>
                <a:latin typeface="Carlito"/>
                <a:ea typeface="+mn-ea"/>
                <a:cs typeface="Carlito"/>
              </a:rPr>
              <a:t>out</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all</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examples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that</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were</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labeled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positive.</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490855" lvl="0" indent="-228600" algn="l" defTabSz="914400" rtl="0" eaLnBrk="1" fontAlgn="auto" latinLnBrk="0" hangingPunct="1">
              <a:lnSpc>
                <a:spcPts val="1600"/>
              </a:lnSpc>
              <a:spcBef>
                <a:spcPts val="935"/>
              </a:spcBef>
              <a:spcAft>
                <a:spcPts val="0"/>
              </a:spcAft>
              <a:buClrTx/>
              <a:buSzTx/>
              <a:buFont typeface="Arial"/>
              <a:buChar char="•"/>
              <a:tabLst>
                <a:tab pos="240665" algn="l"/>
              </a:tabLst>
              <a:defRPr/>
            </a:pPr>
            <a:r>
              <a:rPr kumimoji="0" sz="1600" b="0" i="0" u="none" strike="noStrike" kern="1200" cap="none" spc="-95" normalizeH="0" baseline="0" noProof="0" dirty="0">
                <a:ln>
                  <a:noFill/>
                </a:ln>
                <a:solidFill>
                  <a:srgbClr val="ED7D31"/>
                </a:solidFill>
                <a:effectLst/>
                <a:uLnTx/>
                <a:uFillTx/>
                <a:latin typeface="Verdana"/>
                <a:ea typeface="+mn-ea"/>
                <a:cs typeface="Verdana"/>
              </a:rPr>
              <a:t>r_squared</a:t>
            </a:r>
            <a:r>
              <a:rPr kumimoji="0" sz="1600" b="0" i="0" u="none" strike="noStrike" kern="1200" cap="none" spc="-190"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measure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goodness</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fit</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a:t>
            </a:r>
            <a:r>
              <a:rPr kumimoji="0" sz="1600" b="0" i="0" u="none" strike="noStrike" kern="1200" cap="none" spc="-10" normalizeH="0" baseline="0" noProof="0" dirty="0">
                <a:ln>
                  <a:noFill/>
                </a:ln>
                <a:solidFill>
                  <a:prstClr val="black"/>
                </a:solidFill>
                <a:effectLst/>
                <a:uLnTx/>
                <a:uFillTx/>
                <a:latin typeface="Carlito"/>
                <a:ea typeface="+mn-ea"/>
                <a:cs typeface="Carlito"/>
              </a:rPr>
              <a:t> linear regression</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model.</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561340" lvl="0" indent="-228600" algn="l" defTabSz="914400" rtl="0" eaLnBrk="1" fontAlgn="auto" latinLnBrk="0" hangingPunct="1">
              <a:lnSpc>
                <a:spcPct val="79900"/>
              </a:lnSpc>
              <a:spcBef>
                <a:spcPts val="935"/>
              </a:spcBef>
              <a:spcAft>
                <a:spcPts val="0"/>
              </a:spcAft>
              <a:buClrTx/>
              <a:buSzTx/>
              <a:buFont typeface="Arial"/>
              <a:buChar char="•"/>
              <a:tabLst>
                <a:tab pos="240665" algn="l"/>
              </a:tabLst>
              <a:defRPr/>
            </a:pPr>
            <a:r>
              <a:rPr kumimoji="0" sz="1600" b="0" i="0" u="none" strike="noStrike" kern="1200" cap="none" spc="-55" normalizeH="0" baseline="0" noProof="0" dirty="0">
                <a:ln>
                  <a:noFill/>
                </a:ln>
                <a:solidFill>
                  <a:srgbClr val="ED7D31"/>
                </a:solidFill>
                <a:effectLst/>
                <a:uLnTx/>
                <a:uFillTx/>
                <a:latin typeface="Verdana"/>
                <a:ea typeface="+mn-ea"/>
                <a:cs typeface="Verdana"/>
              </a:rPr>
              <a:t>Recall</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a:t>
            </a:r>
            <a:r>
              <a:rPr kumimoji="0" sz="1600" b="0" i="0" u="none" strike="noStrike" kern="1200" cap="none" spc="-5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fraction</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3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positive</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examples</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that</a:t>
            </a:r>
            <a:r>
              <a:rPr kumimoji="0" sz="1600" b="0" i="0" u="none" strike="noStrike" kern="1200" cap="none" spc="-20" normalizeH="0" baseline="0" noProof="0" dirty="0">
                <a:ln>
                  <a:noFill/>
                </a:ln>
                <a:solidFill>
                  <a:prstClr val="black"/>
                </a:solidFill>
                <a:effectLst/>
                <a:uLnTx/>
                <a:uFillTx/>
                <a:latin typeface="Carlito"/>
                <a:ea typeface="+mn-ea"/>
                <a:cs typeface="Carlito"/>
              </a:rPr>
              <a:t> were </a:t>
            </a:r>
            <a:r>
              <a:rPr kumimoji="0" sz="1600" b="0" i="0" u="none" strike="noStrike" kern="1200" cap="none" spc="-10" normalizeH="0" baseline="0" noProof="0" dirty="0">
                <a:ln>
                  <a:noFill/>
                </a:ln>
                <a:solidFill>
                  <a:prstClr val="black"/>
                </a:solidFill>
                <a:effectLst/>
                <a:uLnTx/>
                <a:uFillTx/>
                <a:latin typeface="Carlito"/>
                <a:ea typeface="+mn-ea"/>
                <a:cs typeface="Carlito"/>
              </a:rPr>
              <a:t>correctly</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0" lvl="0" indent="0" algn="l" defTabSz="914400" rtl="0" eaLnBrk="1" fontAlgn="auto" latinLnBrk="0" hangingPunct="1">
              <a:lnSpc>
                <a:spcPts val="1600"/>
              </a:lnSpc>
              <a:spcBef>
                <a:spcPts val="0"/>
              </a:spcBef>
              <a:spcAft>
                <a:spcPts val="0"/>
              </a:spcAft>
              <a:buClrTx/>
              <a:buSzTx/>
              <a:buFontTx/>
              <a:buNone/>
              <a:tabLst/>
              <a:defRPr/>
            </a:pPr>
            <a:r>
              <a:rPr kumimoji="0" sz="1600" b="0" i="0" u="none" strike="noStrike" kern="1200" cap="none" spc="0" normalizeH="0" baseline="0" noProof="0" dirty="0">
                <a:ln>
                  <a:noFill/>
                </a:ln>
                <a:solidFill>
                  <a:prstClr val="black"/>
                </a:solidFill>
                <a:effectLst/>
                <a:uLnTx/>
                <a:uFillTx/>
                <a:latin typeface="Carlito"/>
                <a:ea typeface="+mn-ea"/>
                <a:cs typeface="Carlito"/>
              </a:rPr>
              <a:t>labeled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by</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model</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positive.</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257175" lvl="0" indent="-228600" algn="l" defTabSz="914400" rtl="0" eaLnBrk="1" fontAlgn="auto" latinLnBrk="0" hangingPunct="1">
              <a:lnSpc>
                <a:spcPct val="79900"/>
              </a:lnSpc>
              <a:spcBef>
                <a:spcPts val="930"/>
              </a:spcBef>
              <a:spcAft>
                <a:spcPts val="0"/>
              </a:spcAft>
              <a:buClrTx/>
              <a:buSzTx/>
              <a:buFont typeface="Arial"/>
              <a:buChar char="•"/>
              <a:tabLst>
                <a:tab pos="240665" algn="l"/>
              </a:tabLst>
              <a:defRPr/>
            </a:pPr>
            <a:r>
              <a:rPr kumimoji="0" sz="1600" b="0" i="0" u="none" strike="noStrike" kern="1200" cap="none" spc="-114" normalizeH="0" baseline="0" noProof="0" dirty="0">
                <a:ln>
                  <a:noFill/>
                </a:ln>
                <a:solidFill>
                  <a:srgbClr val="ED7D31"/>
                </a:solidFill>
                <a:effectLst/>
                <a:uLnTx/>
                <a:uFillTx/>
                <a:latin typeface="Verdana"/>
                <a:ea typeface="+mn-ea"/>
                <a:cs typeface="Verdana"/>
              </a:rPr>
              <a:t>ROC</a:t>
            </a:r>
            <a:r>
              <a:rPr kumimoji="0" sz="1600" b="0" i="0" u="none" strike="noStrike" kern="1200" cap="none" spc="-190" normalizeH="0" baseline="0" noProof="0" dirty="0">
                <a:ln>
                  <a:noFill/>
                </a:ln>
                <a:solidFill>
                  <a:srgbClr val="ED7D31"/>
                </a:solidFill>
                <a:effectLst/>
                <a:uLnTx/>
                <a:uFillTx/>
                <a:latin typeface="Verdana"/>
                <a:ea typeface="+mn-ea"/>
                <a:cs typeface="Verdana"/>
              </a:rPr>
              <a:t> </a:t>
            </a:r>
            <a:r>
              <a:rPr kumimoji="0" sz="1600" b="0" i="0" u="none" strike="noStrike" kern="1200" cap="none" spc="-100" normalizeH="0" baseline="0" noProof="0" dirty="0">
                <a:ln>
                  <a:noFill/>
                </a:ln>
                <a:solidFill>
                  <a:srgbClr val="ED7D31"/>
                </a:solidFill>
                <a:effectLst/>
                <a:uLnTx/>
                <a:uFillTx/>
                <a:latin typeface="Verdana"/>
                <a:ea typeface="+mn-ea"/>
                <a:cs typeface="Verdana"/>
              </a:rPr>
              <a:t>AUC</a:t>
            </a:r>
            <a:r>
              <a:rPr kumimoji="0" sz="1600" b="0" i="0" u="none" strike="noStrike" kern="1200" cap="none" spc="-195"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computes</a:t>
            </a:r>
            <a:r>
              <a:rPr kumimoji="0" sz="1600" b="0" i="0" u="none" strike="noStrike" kern="1200" cap="none" spc="-9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area</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under</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curve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(AUC)</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for</a:t>
            </a:r>
            <a:r>
              <a:rPr kumimoji="0" sz="1600" b="0" i="0" u="none" strike="noStrike" kern="1200" cap="none" spc="-25" normalizeH="0" baseline="0" noProof="0" dirty="0">
                <a:ln>
                  <a:noFill/>
                </a:ln>
                <a:solidFill>
                  <a:prstClr val="black"/>
                </a:solidFill>
                <a:effectLst/>
                <a:uLnTx/>
                <a:uFillTx/>
                <a:latin typeface="Carlito"/>
                <a:ea typeface="+mn-ea"/>
                <a:cs typeface="Carlito"/>
              </a:rPr>
              <a:t> the </a:t>
            </a:r>
            <a:r>
              <a:rPr kumimoji="0" sz="1600" b="0" i="0" u="none" strike="noStrike" kern="1200" cap="none" spc="-10" normalizeH="0" baseline="0" noProof="0" dirty="0">
                <a:ln>
                  <a:noFill/>
                </a:ln>
                <a:solidFill>
                  <a:prstClr val="black"/>
                </a:solidFill>
                <a:effectLst/>
                <a:uLnTx/>
                <a:uFillTx/>
                <a:latin typeface="Carlito"/>
                <a:ea typeface="+mn-ea"/>
                <a:cs typeface="Carlito"/>
              </a:rPr>
              <a:t>Receiver Operating Characteristic </a:t>
            </a:r>
            <a:r>
              <a:rPr kumimoji="0" sz="1600" b="0" i="0" u="none" strike="noStrike" kern="1200" cap="none" spc="0" normalizeH="0" baseline="0" noProof="0" dirty="0">
                <a:ln>
                  <a:noFill/>
                </a:ln>
                <a:solidFill>
                  <a:prstClr val="black"/>
                </a:solidFill>
                <a:effectLst/>
                <a:uLnTx/>
                <a:uFillTx/>
                <a:latin typeface="Carlito"/>
                <a:ea typeface="+mn-ea"/>
                <a:cs typeface="Carlito"/>
              </a:rPr>
              <a:t>Curve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(ROC).</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0" lvl="0" indent="-227965" algn="l" defTabSz="914400" rtl="0" eaLnBrk="1" fontAlgn="auto" latinLnBrk="0" hangingPunct="1">
              <a:lnSpc>
                <a:spcPct val="100000"/>
              </a:lnSpc>
              <a:spcBef>
                <a:spcPts val="680"/>
              </a:spcBef>
              <a:spcAft>
                <a:spcPts val="0"/>
              </a:spcAft>
              <a:buClrTx/>
              <a:buSzTx/>
              <a:buFont typeface="Arial"/>
              <a:buChar char="•"/>
              <a:tabLst>
                <a:tab pos="240665" algn="l"/>
              </a:tabLst>
              <a:defRPr/>
            </a:pPr>
            <a:r>
              <a:rPr kumimoji="0" sz="1600" b="0" i="0" u="none" strike="noStrike" kern="1200" cap="none" spc="-55" normalizeH="0" baseline="0" noProof="0" dirty="0">
                <a:ln>
                  <a:noFill/>
                </a:ln>
                <a:solidFill>
                  <a:srgbClr val="ED7D31"/>
                </a:solidFill>
                <a:effectLst/>
                <a:uLnTx/>
                <a:uFillTx/>
                <a:latin typeface="Verdana"/>
                <a:ea typeface="+mn-ea"/>
                <a:cs typeface="Verdana"/>
              </a:rPr>
              <a:t>F1</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srgbClr val="ED7D31"/>
                </a:solidFill>
                <a:effectLst/>
                <a:uLnTx/>
                <a:uFillTx/>
                <a:latin typeface="Verdana"/>
                <a:ea typeface="+mn-ea"/>
                <a:cs typeface="Verdana"/>
              </a:rPr>
              <a:t>Score</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6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harmonic</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mean</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precision</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and</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recall.</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25400" lvl="0" indent="-228600" algn="l" defTabSz="914400" rtl="0" eaLnBrk="1" fontAlgn="auto" latinLnBrk="0" hangingPunct="1">
              <a:lnSpc>
                <a:spcPct val="79900"/>
              </a:lnSpc>
              <a:spcBef>
                <a:spcPts val="935"/>
              </a:spcBef>
              <a:spcAft>
                <a:spcPts val="0"/>
              </a:spcAft>
              <a:buClrTx/>
              <a:buSzTx/>
              <a:buFont typeface="Arial"/>
              <a:buChar char="•"/>
              <a:tabLst>
                <a:tab pos="240665" algn="l"/>
              </a:tabLst>
              <a:defRPr/>
            </a:pPr>
            <a:r>
              <a:rPr kumimoji="0" sz="1600" b="0" i="0" u="none" strike="noStrike" kern="1200" cap="none" spc="-75" normalizeH="0" baseline="0" noProof="0" dirty="0">
                <a:ln>
                  <a:noFill/>
                </a:ln>
                <a:solidFill>
                  <a:srgbClr val="ED7D31"/>
                </a:solidFill>
                <a:effectLst/>
                <a:uLnTx/>
                <a:uFillTx/>
                <a:latin typeface="Verdana"/>
                <a:ea typeface="+mn-ea"/>
                <a:cs typeface="Verdana"/>
              </a:rPr>
              <a:t>Brier</a:t>
            </a:r>
            <a:r>
              <a:rPr kumimoji="0" sz="1600" b="0" i="0" u="none" strike="noStrike" kern="1200" cap="none" spc="-190"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srgbClr val="ED7D31"/>
                </a:solidFill>
                <a:effectLst/>
                <a:uLnTx/>
                <a:uFillTx/>
                <a:latin typeface="Verdana"/>
                <a:ea typeface="+mn-ea"/>
                <a:cs typeface="Verdana"/>
              </a:rPr>
              <a:t>Score</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a:t>
            </a:r>
            <a:r>
              <a:rPr kumimoji="0" sz="1600" b="0" i="0" u="none" strike="noStrike" kern="1200" cap="none" spc="-6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measure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error</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between</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two</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probability distributions.</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204470" lvl="0" indent="-228600" algn="just" defTabSz="914400" rtl="0" eaLnBrk="1" fontAlgn="auto" latinLnBrk="0" hangingPunct="1">
              <a:lnSpc>
                <a:spcPct val="78100"/>
              </a:lnSpc>
              <a:spcBef>
                <a:spcPts val="1100"/>
              </a:spcBef>
              <a:spcAft>
                <a:spcPts val="0"/>
              </a:spcAft>
              <a:buClrTx/>
              <a:buSzTx/>
              <a:buFont typeface="Arial"/>
              <a:buChar char="•"/>
              <a:tabLst>
                <a:tab pos="240665" algn="l"/>
                <a:tab pos="242570" algn="l"/>
              </a:tabLst>
              <a:defRPr/>
            </a:pPr>
            <a:r>
              <a:rPr kumimoji="0" sz="1600" b="0" i="0" u="none" strike="noStrike" kern="1200" cap="none" spc="0" normalizeH="0" baseline="0" noProof="0" dirty="0">
                <a:ln>
                  <a:noFill/>
                </a:ln>
                <a:solidFill>
                  <a:srgbClr val="ED7D31"/>
                </a:solidFill>
                <a:effectLst/>
                <a:uLnTx/>
                <a:uFillTx/>
                <a:latin typeface="Verdana"/>
                <a:ea typeface="+mn-ea"/>
                <a:cs typeface="Verdana"/>
              </a:rPr>
              <a:t>	</a:t>
            </a:r>
            <a:r>
              <a:rPr kumimoji="0" sz="1600" b="0" i="0" u="none" strike="noStrike" kern="1200" cap="none" spc="-100" normalizeH="0" baseline="0" noProof="0" dirty="0">
                <a:ln>
                  <a:noFill/>
                </a:ln>
                <a:solidFill>
                  <a:srgbClr val="ED7D31"/>
                </a:solidFill>
                <a:effectLst/>
                <a:uLnTx/>
                <a:uFillTx/>
                <a:latin typeface="Verdana"/>
                <a:ea typeface="+mn-ea"/>
                <a:cs typeface="Verdana"/>
              </a:rPr>
              <a:t>GLUE</a:t>
            </a:r>
            <a:r>
              <a:rPr kumimoji="0" sz="1600" b="0" i="0" u="none" strike="noStrike" kern="1200" cap="none" spc="-195" normalizeH="0" baseline="0" noProof="0" dirty="0">
                <a:ln>
                  <a:noFill/>
                </a:ln>
                <a:solidFill>
                  <a:srgbClr val="ED7D31"/>
                </a:solidFill>
                <a:effectLst/>
                <a:uLnTx/>
                <a:uFillTx/>
                <a:latin typeface="Verdana"/>
                <a:ea typeface="+mn-ea"/>
                <a:cs typeface="Verdana"/>
              </a:rPr>
              <a:t> </a:t>
            </a:r>
            <a:r>
              <a:rPr kumimoji="0" sz="1600" b="0" i="0" u="none" strike="noStrike" kern="1200" cap="none" spc="-75" normalizeH="0" baseline="0" noProof="0" dirty="0">
                <a:ln>
                  <a:noFill/>
                </a:ln>
                <a:solidFill>
                  <a:srgbClr val="ED7D31"/>
                </a:solidFill>
                <a:effectLst/>
                <a:uLnTx/>
                <a:uFillTx/>
                <a:latin typeface="Verdana"/>
                <a:ea typeface="+mn-ea"/>
                <a:cs typeface="Verdana"/>
              </a:rPr>
              <a:t>metrics</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90"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15" normalizeH="0" baseline="0" noProof="0" dirty="0">
                <a:ln>
                  <a:noFill/>
                </a:ln>
                <a:solidFill>
                  <a:prstClr val="black"/>
                </a:solidFill>
                <a:effectLst/>
                <a:uLnTx/>
                <a:uFillTx/>
                <a:latin typeface="Carlito"/>
                <a:ea typeface="+mn-ea"/>
                <a:cs typeface="Carlito"/>
              </a:rPr>
              <a:t>General</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Language</a:t>
            </a:r>
            <a:r>
              <a:rPr kumimoji="0" sz="1600" b="0" i="0" u="none" strike="noStrike" kern="1200" cap="none" spc="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Understanding</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5" normalizeH="0" baseline="0" noProof="0" dirty="0">
                <a:ln>
                  <a:noFill/>
                </a:ln>
                <a:solidFill>
                  <a:prstClr val="black"/>
                </a:solidFill>
                <a:effectLst/>
                <a:uLnTx/>
                <a:uFillTx/>
                <a:latin typeface="Carlito"/>
                <a:ea typeface="+mn-ea"/>
                <a:cs typeface="Carlito"/>
              </a:rPr>
              <a:t>Evaluation</a:t>
            </a:r>
            <a:r>
              <a:rPr kumimoji="0" sz="1600" b="0" i="0" u="none" strike="noStrike" kern="1200" cap="none" spc="0" normalizeH="0" baseline="0" noProof="0" dirty="0">
                <a:ln>
                  <a:noFill/>
                </a:ln>
                <a:solidFill>
                  <a:prstClr val="black"/>
                </a:solidFill>
                <a:effectLst/>
                <a:uLnTx/>
                <a:uFillTx/>
                <a:latin typeface="Carlito"/>
                <a:ea typeface="+mn-ea"/>
                <a:cs typeface="Carlito"/>
              </a:rPr>
              <a:t> </a:t>
            </a:r>
            <a:r>
              <a:rPr kumimoji="0" sz="1600" b="0" i="0" u="none" strike="noStrike" kern="1200" cap="none" spc="-5" normalizeH="0" baseline="0" noProof="0" dirty="0">
                <a:ln>
                  <a:noFill/>
                </a:ln>
                <a:solidFill>
                  <a:prstClr val="black"/>
                </a:solidFill>
                <a:effectLst/>
                <a:uLnTx/>
                <a:uFillTx/>
                <a:latin typeface="Carlito"/>
                <a:ea typeface="+mn-ea"/>
                <a:cs typeface="Carlito"/>
              </a:rPr>
              <a:t>benchmark is</a:t>
            </a:r>
            <a:r>
              <a:rPr kumimoji="0" sz="1600" b="0" i="0" u="none" strike="noStrike" kern="1200" cap="none" spc="0" normalizeH="0" baseline="0" noProof="0" dirty="0">
                <a:ln>
                  <a:noFill/>
                </a:ln>
                <a:solidFill>
                  <a:prstClr val="black"/>
                </a:solidFill>
                <a:effectLst/>
                <a:uLnTx/>
                <a:uFillTx/>
                <a:latin typeface="Carlito"/>
                <a:ea typeface="+mn-ea"/>
                <a:cs typeface="Carlito"/>
              </a:rPr>
              <a:t> a</a:t>
            </a:r>
            <a:r>
              <a:rPr kumimoji="0" sz="1600" b="0" i="0" u="none" strike="noStrike" kern="1200" cap="none" spc="-5" normalizeH="0" baseline="0" noProof="0" dirty="0">
                <a:ln>
                  <a:noFill/>
                </a:ln>
                <a:solidFill>
                  <a:prstClr val="black"/>
                </a:solidFill>
                <a:effectLst/>
                <a:uLnTx/>
                <a:uFillTx/>
                <a:latin typeface="Carlito"/>
                <a:ea typeface="+mn-ea"/>
                <a:cs typeface="Carlito"/>
              </a:rPr>
              <a:t> collection of</a:t>
            </a:r>
            <a:r>
              <a:rPr kumimoji="0" sz="1600" b="0" i="0" u="none" strike="noStrike" kern="1200" cap="none" spc="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resources</a:t>
            </a:r>
            <a:r>
              <a:rPr kumimoji="0" sz="1600" b="0" i="0" u="none" strike="noStrike" kern="1200" cap="none" spc="0" normalizeH="0" baseline="0" noProof="0" dirty="0">
                <a:ln>
                  <a:noFill/>
                </a:ln>
                <a:solidFill>
                  <a:prstClr val="black"/>
                </a:solidFill>
                <a:effectLst/>
                <a:uLnTx/>
                <a:uFillTx/>
                <a:latin typeface="Carlito"/>
                <a:ea typeface="+mn-ea"/>
                <a:cs typeface="Carlito"/>
              </a:rPr>
              <a:t> </a:t>
            </a:r>
            <a:r>
              <a:rPr kumimoji="0" sz="1600" b="0" i="0" u="none" strike="noStrike" kern="1200" cap="none" spc="-15" normalizeH="0" baseline="0" noProof="0" dirty="0">
                <a:ln>
                  <a:noFill/>
                </a:ln>
                <a:solidFill>
                  <a:prstClr val="black"/>
                </a:solidFill>
                <a:effectLst/>
                <a:uLnTx/>
                <a:uFillTx/>
                <a:latin typeface="Carlito"/>
                <a:ea typeface="+mn-ea"/>
                <a:cs typeface="Carlito"/>
              </a:rPr>
              <a:t>for</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training,</a:t>
            </a:r>
            <a:r>
              <a:rPr kumimoji="0" sz="1600" b="0" i="0" u="none" strike="noStrike" kern="1200" cap="none" spc="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evaluating,</a:t>
            </a:r>
            <a:r>
              <a:rPr kumimoji="0" sz="1600" b="0" i="0" u="none" strike="noStrike" kern="1200" cap="none" spc="-5" normalizeH="0" baseline="0" noProof="0" dirty="0">
                <a:ln>
                  <a:noFill/>
                </a:ln>
                <a:solidFill>
                  <a:prstClr val="black"/>
                </a:solidFill>
                <a:effectLst/>
                <a:uLnTx/>
                <a:uFillTx/>
                <a:latin typeface="Carlito"/>
                <a:ea typeface="+mn-ea"/>
                <a:cs typeface="Carlito"/>
              </a:rPr>
              <a:t> an</a:t>
            </a:r>
            <a:r>
              <a:rPr kumimoji="0" sz="1600" b="0" i="0" u="none" strike="noStrike" kern="1200" cap="none" spc="0" normalizeH="0" baseline="0" noProof="0" dirty="0">
                <a:ln>
                  <a:noFill/>
                </a:ln>
                <a:solidFill>
                  <a:prstClr val="black"/>
                </a:solidFill>
                <a:effectLst/>
                <a:uLnTx/>
                <a:uFillTx/>
                <a:latin typeface="Carlito"/>
                <a:ea typeface="+mn-ea"/>
                <a:cs typeface="Carlito"/>
              </a:rPr>
              <a:t>d</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analyzing</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5" normalizeH="0" baseline="0" noProof="0" dirty="0">
                <a:ln>
                  <a:noFill/>
                </a:ln>
                <a:solidFill>
                  <a:prstClr val="black"/>
                </a:solidFill>
                <a:effectLst/>
                <a:uLnTx/>
                <a:uFillTx/>
                <a:latin typeface="Carlito"/>
                <a:ea typeface="+mn-ea"/>
                <a:cs typeface="Carlito"/>
              </a:rPr>
              <a:t>natural</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language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understanding</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5" normalizeH="0" baseline="0" noProof="0" dirty="0">
                <a:ln>
                  <a:noFill/>
                </a:ln>
                <a:solidFill>
                  <a:prstClr val="black"/>
                </a:solidFill>
                <a:effectLst/>
                <a:uLnTx/>
                <a:uFillTx/>
                <a:latin typeface="Carlito"/>
                <a:ea typeface="+mn-ea"/>
                <a:cs typeface="Carlito"/>
              </a:rPr>
              <a:t>systems.</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55244" lvl="0" indent="-228600" algn="l" defTabSz="914400" rtl="0" eaLnBrk="1" fontAlgn="auto" latinLnBrk="0" hangingPunct="1">
              <a:lnSpc>
                <a:spcPct val="79900"/>
              </a:lnSpc>
              <a:spcBef>
                <a:spcPts val="1065"/>
              </a:spcBef>
              <a:spcAft>
                <a:spcPts val="0"/>
              </a:spcAft>
              <a:buClrTx/>
              <a:buSzTx/>
              <a:buFont typeface="Arial"/>
              <a:buChar char="•"/>
              <a:tabLst>
                <a:tab pos="240665" algn="l"/>
              </a:tabLst>
              <a:defRPr/>
            </a:pPr>
            <a:r>
              <a:rPr kumimoji="0" sz="1600" b="0" i="0" u="none" strike="noStrike" kern="1200" cap="none" spc="-80" normalizeH="0" baseline="0" noProof="0" dirty="0">
                <a:ln>
                  <a:noFill/>
                </a:ln>
                <a:solidFill>
                  <a:srgbClr val="ED7D31"/>
                </a:solidFill>
                <a:effectLst/>
                <a:uLnTx/>
                <a:uFillTx/>
                <a:latin typeface="Verdana"/>
                <a:ea typeface="+mn-ea"/>
                <a:cs typeface="Verdana"/>
              </a:rPr>
              <a:t>Matthews</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80" normalizeH="0" baseline="0" noProof="0" dirty="0">
                <a:ln>
                  <a:noFill/>
                </a:ln>
                <a:solidFill>
                  <a:srgbClr val="ED7D31"/>
                </a:solidFill>
                <a:effectLst/>
                <a:uLnTx/>
                <a:uFillTx/>
                <a:latin typeface="Verdana"/>
                <a:ea typeface="+mn-ea"/>
                <a:cs typeface="Verdana"/>
              </a:rPr>
              <a:t>Correlation</a:t>
            </a:r>
            <a:r>
              <a:rPr kumimoji="0" sz="1600" b="0" i="0" u="none" strike="noStrike" kern="1200" cap="none" spc="-195" normalizeH="0" baseline="0" noProof="0" dirty="0">
                <a:ln>
                  <a:noFill/>
                </a:ln>
                <a:solidFill>
                  <a:srgbClr val="ED7D31"/>
                </a:solidFill>
                <a:effectLst/>
                <a:uLnTx/>
                <a:uFillTx/>
                <a:latin typeface="Verdana"/>
                <a:ea typeface="+mn-ea"/>
                <a:cs typeface="Verdana"/>
              </a:rPr>
              <a:t> </a:t>
            </a:r>
            <a:r>
              <a:rPr kumimoji="0" sz="1600" b="0" i="0" u="none" strike="noStrike" kern="1200" cap="none" spc="-70" normalizeH="0" baseline="0" noProof="0" dirty="0">
                <a:ln>
                  <a:noFill/>
                </a:ln>
                <a:solidFill>
                  <a:srgbClr val="ED7D31"/>
                </a:solidFill>
                <a:effectLst/>
                <a:uLnTx/>
                <a:uFillTx/>
                <a:latin typeface="Verdana"/>
                <a:ea typeface="+mn-ea"/>
                <a:cs typeface="Verdana"/>
              </a:rPr>
              <a:t>Coefficient</a:t>
            </a:r>
            <a:r>
              <a:rPr kumimoji="0" sz="1600" b="0" i="0" u="none" strike="noStrike" kern="1200" cap="none" spc="-180" normalizeH="0" baseline="0" noProof="0" dirty="0">
                <a:ln>
                  <a:noFill/>
                </a:ln>
                <a:solidFill>
                  <a:srgbClr val="ED7D31"/>
                </a:solidFill>
                <a:effectLst/>
                <a:uLnTx/>
                <a:uFillTx/>
                <a:latin typeface="Verdana"/>
                <a:ea typeface="+mn-ea"/>
                <a:cs typeface="Verdana"/>
              </a:rPr>
              <a:t> </a:t>
            </a:r>
            <a:r>
              <a:rPr kumimoji="0" sz="1600" b="0" i="0" u="none" strike="noStrike" kern="1200" cap="none" spc="-95" normalizeH="0" baseline="0" noProof="0" dirty="0">
                <a:ln>
                  <a:noFill/>
                </a:ln>
                <a:solidFill>
                  <a:prstClr val="black"/>
                </a:solidFill>
                <a:effectLst/>
                <a:uLnTx/>
                <a:uFillTx/>
                <a:latin typeface="Verdana"/>
                <a:ea typeface="+mn-ea"/>
                <a:cs typeface="Verdana"/>
              </a:rPr>
              <a:t>-</a:t>
            </a:r>
            <a:r>
              <a:rPr kumimoji="0" sz="1600" b="0" i="0" u="none" strike="noStrike" kern="1200" cap="none" spc="-19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It</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takes into</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account</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20" normalizeH="0" baseline="0" noProof="0" dirty="0">
                <a:ln>
                  <a:noFill/>
                </a:ln>
                <a:solidFill>
                  <a:prstClr val="black"/>
                </a:solidFill>
                <a:effectLst/>
                <a:uLnTx/>
                <a:uFillTx/>
                <a:latin typeface="Carlito"/>
                <a:ea typeface="+mn-ea"/>
                <a:cs typeface="Carlito"/>
              </a:rPr>
              <a:t>true </a:t>
            </a:r>
            <a:r>
              <a:rPr kumimoji="0" sz="1600" b="0" i="0" u="none" strike="noStrike" kern="1200" cap="none" spc="0" normalizeH="0" baseline="0" noProof="0" dirty="0">
                <a:ln>
                  <a:noFill/>
                </a:ln>
                <a:solidFill>
                  <a:prstClr val="black"/>
                </a:solidFill>
                <a:effectLst/>
                <a:uLnTx/>
                <a:uFillTx/>
                <a:latin typeface="Carlito"/>
                <a:ea typeface="+mn-ea"/>
                <a:cs typeface="Carlito"/>
              </a:rPr>
              <a:t>and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false</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positives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and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negatives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and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is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generally</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regarded</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as</a:t>
            </a:r>
            <a:r>
              <a:rPr kumimoji="0" sz="1600" b="0" i="0" u="none" strike="noStrike" kern="1200" cap="none" spc="-20" normalizeH="0" baseline="0" noProof="0" dirty="0">
                <a:ln>
                  <a:noFill/>
                </a:ln>
                <a:solidFill>
                  <a:prstClr val="black"/>
                </a:solidFill>
                <a:effectLst/>
                <a:uLnTx/>
                <a:uFillTx/>
                <a:latin typeface="Carlito"/>
                <a:ea typeface="+mn-ea"/>
                <a:cs typeface="Carlito"/>
              </a:rPr>
              <a:t> </a:t>
            </a:r>
            <a:r>
              <a:rPr kumimoji="0" sz="1600" b="0" i="0" u="none" strike="noStrike" kern="1200" cap="none" spc="-50" normalizeH="0" baseline="0" noProof="0" dirty="0">
                <a:ln>
                  <a:noFill/>
                </a:ln>
                <a:solidFill>
                  <a:prstClr val="black"/>
                </a:solidFill>
                <a:effectLst/>
                <a:uLnTx/>
                <a:uFillTx/>
                <a:latin typeface="Carlito"/>
                <a:ea typeface="+mn-ea"/>
                <a:cs typeface="Carlito"/>
              </a:rPr>
              <a:t>a </a:t>
            </a:r>
            <a:r>
              <a:rPr kumimoji="0" sz="1600" b="0" i="0" u="none" strike="noStrike" kern="1200" cap="none" spc="0" normalizeH="0" baseline="0" noProof="0" dirty="0">
                <a:ln>
                  <a:noFill/>
                </a:ln>
                <a:solidFill>
                  <a:prstClr val="black"/>
                </a:solidFill>
                <a:effectLst/>
                <a:uLnTx/>
                <a:uFillTx/>
                <a:latin typeface="Carlito"/>
                <a:ea typeface="+mn-ea"/>
                <a:cs typeface="Carlito"/>
              </a:rPr>
              <a:t>balanced</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measure</a:t>
            </a:r>
            <a:r>
              <a:rPr kumimoji="0" sz="1600" b="0" i="0" u="none" strike="noStrike" kern="1200" cap="none" spc="-3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which</a:t>
            </a:r>
            <a:r>
              <a:rPr kumimoji="0" sz="1600" b="0" i="0" u="none" strike="noStrike" kern="1200" cap="none" spc="-3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can</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be</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used</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even</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if</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2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classes</a:t>
            </a:r>
            <a:r>
              <a:rPr kumimoji="0" sz="1600" b="0" i="0" u="none" strike="noStrike" kern="1200" cap="none" spc="-3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are</a:t>
            </a:r>
            <a:r>
              <a:rPr kumimoji="0" sz="1600" b="0" i="0" u="none" strike="noStrike" kern="1200" cap="none" spc="-25" normalizeH="0" baseline="0" noProof="0" dirty="0">
                <a:ln>
                  <a:noFill/>
                </a:ln>
                <a:solidFill>
                  <a:prstClr val="black"/>
                </a:solidFill>
                <a:effectLst/>
                <a:uLnTx/>
                <a:uFillTx/>
                <a:latin typeface="Carlito"/>
                <a:ea typeface="+mn-ea"/>
                <a:cs typeface="Carlito"/>
              </a:rPr>
              <a:t> of </a:t>
            </a:r>
            <a:r>
              <a:rPr kumimoji="0" sz="1600" b="0" i="0" u="none" strike="noStrike" kern="1200" cap="none" spc="0" normalizeH="0" baseline="0" noProof="0" dirty="0">
                <a:ln>
                  <a:noFill/>
                </a:ln>
                <a:solidFill>
                  <a:prstClr val="black"/>
                </a:solidFill>
                <a:effectLst/>
                <a:uLnTx/>
                <a:uFillTx/>
                <a:latin typeface="Carlito"/>
                <a:ea typeface="+mn-ea"/>
                <a:cs typeface="Carlito"/>
              </a:rPr>
              <a:t>very</a:t>
            </a:r>
            <a:r>
              <a:rPr kumimoji="0" sz="1600" b="0" i="0" u="none" strike="noStrike" kern="1200" cap="none" spc="-4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different</a:t>
            </a:r>
            <a:r>
              <a:rPr kumimoji="0" sz="1600" b="0" i="0" u="none" strike="noStrike" kern="1200" cap="none" spc="-40"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sizes.</a:t>
            </a:r>
            <a:endParaRPr kumimoji="0" sz="1600" b="0" i="0" u="none" strike="noStrike" kern="1200" cap="none" spc="0" normalizeH="0" baseline="0" noProof="0">
              <a:ln>
                <a:noFill/>
              </a:ln>
              <a:solidFill>
                <a:prstClr val="black"/>
              </a:solidFill>
              <a:effectLst/>
              <a:uLnTx/>
              <a:uFillTx/>
              <a:latin typeface="Carlito"/>
              <a:ea typeface="+mn-ea"/>
              <a:cs typeface="Carlito"/>
            </a:endParaRPr>
          </a:p>
          <a:p>
            <a:pPr marL="240665" marR="666750" lvl="0" indent="-228600" algn="l" defTabSz="914400" rtl="0" eaLnBrk="1" fontAlgn="auto" latinLnBrk="0" hangingPunct="1">
              <a:lnSpc>
                <a:spcPts val="1600"/>
              </a:lnSpc>
              <a:spcBef>
                <a:spcPts val="865"/>
              </a:spcBef>
              <a:spcAft>
                <a:spcPts val="0"/>
              </a:spcAft>
              <a:buClrTx/>
              <a:buSzTx/>
              <a:buFont typeface="Arial"/>
              <a:buChar char="•"/>
              <a:tabLst>
                <a:tab pos="240665" algn="l"/>
              </a:tabLst>
              <a:defRPr/>
            </a:pPr>
            <a:r>
              <a:rPr kumimoji="0" sz="1600" b="0" i="0" u="none" strike="noStrike" kern="1200" cap="none" spc="-70" normalizeH="0" baseline="0" noProof="0" dirty="0">
                <a:ln>
                  <a:noFill/>
                </a:ln>
                <a:solidFill>
                  <a:srgbClr val="ED7D31"/>
                </a:solidFill>
                <a:effectLst/>
                <a:uLnTx/>
                <a:uFillTx/>
                <a:latin typeface="Verdana"/>
                <a:ea typeface="+mn-ea"/>
                <a:cs typeface="Verdana"/>
              </a:rPr>
              <a:t>Label</a:t>
            </a:r>
            <a:r>
              <a:rPr kumimoji="0" sz="1600" b="0" i="0" u="none" strike="noStrike" kern="1200" cap="none" spc="-185" normalizeH="0" baseline="0" noProof="0" dirty="0">
                <a:ln>
                  <a:noFill/>
                </a:ln>
                <a:solidFill>
                  <a:srgbClr val="ED7D31"/>
                </a:solidFill>
                <a:effectLst/>
                <a:uLnTx/>
                <a:uFillTx/>
                <a:latin typeface="Verdana"/>
                <a:ea typeface="+mn-ea"/>
                <a:cs typeface="Verdana"/>
              </a:rPr>
              <a:t> </a:t>
            </a:r>
            <a:r>
              <a:rPr kumimoji="0" sz="1600" b="0" i="0" u="none" strike="noStrike" kern="1200" cap="none" spc="-110" normalizeH="0" baseline="0" noProof="0" dirty="0">
                <a:ln>
                  <a:noFill/>
                </a:ln>
                <a:solidFill>
                  <a:srgbClr val="ED7D31"/>
                </a:solidFill>
                <a:effectLst/>
                <a:uLnTx/>
                <a:uFillTx/>
                <a:latin typeface="Verdana"/>
                <a:ea typeface="+mn-ea"/>
                <a:cs typeface="Verdana"/>
              </a:rPr>
              <a:t>Skew</a:t>
            </a:r>
            <a:r>
              <a:rPr kumimoji="0" sz="1600" b="0" i="0" u="none" strike="noStrike" kern="1200" cap="none" spc="-190" normalizeH="0" baseline="0" noProof="0" dirty="0">
                <a:ln>
                  <a:noFill/>
                </a:ln>
                <a:solidFill>
                  <a:srgbClr val="ED7D31"/>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Carlito"/>
                <a:ea typeface="+mn-ea"/>
                <a:cs typeface="Carlito"/>
              </a:rPr>
              <a:t>-</a:t>
            </a:r>
            <a:r>
              <a:rPr kumimoji="0" sz="1600" b="0" i="0" u="none" strike="noStrike" kern="1200" cap="none" spc="-4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Measures</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34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asymmetry</a:t>
            </a:r>
            <a:r>
              <a:rPr kumimoji="0" sz="1600" b="0" i="0" u="none" strike="noStrike" kern="1200" cap="none" spc="-15"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of</a:t>
            </a:r>
            <a:r>
              <a:rPr kumimoji="0" sz="1600" b="0" i="0" u="none" strike="noStrike" kern="1200" cap="none" spc="-10" normalizeH="0" baseline="0" noProof="0" dirty="0">
                <a:ln>
                  <a:noFill/>
                </a:ln>
                <a:solidFill>
                  <a:prstClr val="black"/>
                </a:solidFill>
                <a:effectLst/>
                <a:uLnTx/>
                <a:uFillTx/>
                <a:latin typeface="Carlito"/>
                <a:ea typeface="+mn-ea"/>
                <a:cs typeface="Carlito"/>
              </a:rPr>
              <a:t> </a:t>
            </a:r>
            <a:r>
              <a:rPr kumimoji="0" sz="1600" b="0" i="0" u="none" strike="noStrike" kern="1200" cap="none" spc="0" normalizeH="0" baseline="0" noProof="0" dirty="0">
                <a:ln>
                  <a:noFill/>
                </a:ln>
                <a:solidFill>
                  <a:prstClr val="black"/>
                </a:solidFill>
                <a:effectLst/>
                <a:uLnTx/>
                <a:uFillTx/>
                <a:latin typeface="Carlito"/>
                <a:ea typeface="+mn-ea"/>
                <a:cs typeface="Carlito"/>
              </a:rPr>
              <a:t>the</a:t>
            </a:r>
            <a:r>
              <a:rPr kumimoji="0" sz="1600" b="0" i="0" u="none" strike="noStrike" kern="1200" cap="none" spc="-5" normalizeH="0" baseline="0" noProof="0" dirty="0">
                <a:ln>
                  <a:noFill/>
                </a:ln>
                <a:solidFill>
                  <a:prstClr val="black"/>
                </a:solidFill>
                <a:effectLst/>
                <a:uLnTx/>
                <a:uFillTx/>
                <a:latin typeface="Carlito"/>
                <a:ea typeface="+mn-ea"/>
                <a:cs typeface="Carlito"/>
              </a:rPr>
              <a:t> </a:t>
            </a:r>
            <a:r>
              <a:rPr kumimoji="0" sz="1600" b="0" i="0" u="none" strike="noStrike" kern="1200" cap="none" spc="-10" normalizeH="0" baseline="0" noProof="0" dirty="0">
                <a:ln>
                  <a:noFill/>
                </a:ln>
                <a:solidFill>
                  <a:prstClr val="black"/>
                </a:solidFill>
                <a:effectLst/>
                <a:uLnTx/>
                <a:uFillTx/>
                <a:latin typeface="Carlito"/>
                <a:ea typeface="+mn-ea"/>
                <a:cs typeface="Carlito"/>
              </a:rPr>
              <a:t>label distribution</a:t>
            </a:r>
            <a:endParaRPr kumimoji="0" sz="1600" b="0" i="0" u="none" strike="noStrike" kern="1200" cap="none" spc="0" normalizeH="0" baseline="0" noProof="0">
              <a:ln>
                <a:noFill/>
              </a:ln>
              <a:solidFill>
                <a:prstClr val="black"/>
              </a:solidFill>
              <a:effectLst/>
              <a:uLnTx/>
              <a:uFillTx/>
              <a:latin typeface="Carlito"/>
              <a:ea typeface="+mn-ea"/>
              <a:cs typeface="Carlito"/>
            </a:endParaRPr>
          </a:p>
        </p:txBody>
      </p:sp>
      <p:sp>
        <p:nvSpPr>
          <p:cNvPr id="3" name="object 3"/>
          <p:cNvSpPr txBox="1"/>
          <p:nvPr/>
        </p:nvSpPr>
        <p:spPr>
          <a:xfrm>
            <a:off x="11092815" y="6421967"/>
            <a:ext cx="18097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25" normalizeH="0" baseline="0" noProof="0" dirty="0">
                <a:ln>
                  <a:noFill/>
                </a:ln>
                <a:solidFill>
                  <a:prstClr val="black"/>
                </a:solidFill>
                <a:effectLst/>
                <a:uLnTx/>
                <a:uFillTx/>
                <a:latin typeface="Carlito"/>
                <a:ea typeface="+mn-ea"/>
                <a:cs typeface="Carlito"/>
              </a:rPr>
              <a:t>43</a:t>
            </a:r>
            <a:endParaRPr kumimoji="0" sz="1200" b="0" i="0" u="none" strike="noStrike" kern="1200" cap="none" spc="0" normalizeH="0" baseline="0" noProof="0">
              <a:ln>
                <a:noFill/>
              </a:ln>
              <a:solidFill>
                <a:prstClr val="black"/>
              </a:solidFill>
              <a:effectLst/>
              <a:uLnTx/>
              <a:uFillTx/>
              <a:latin typeface="Carlito"/>
              <a:ea typeface="+mn-ea"/>
              <a:cs typeface="Carlito"/>
            </a:endParaRPr>
          </a:p>
        </p:txBody>
      </p:sp>
    </p:spTree>
  </p:cSld>
  <p:clrMapOvr>
    <a:masterClrMapping/>
  </p:clrMapOvr>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5" id="{26D9F8C3-84D9-214F-B010-AE4DB7622A8F}" vid="{8CB83D0C-C75B-6B4B-86B4-95A9940AC749}"/>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27223</TotalTime>
  <Words>2191</Words>
  <Application>Microsoft Macintosh PowerPoint</Application>
  <PresentationFormat>Widescreen</PresentationFormat>
  <Paragraphs>346</Paragraphs>
  <Slides>32</Slides>
  <Notes>30</Notes>
  <HiddenSlides>1</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32</vt:i4>
      </vt:variant>
    </vt:vector>
  </HeadingPairs>
  <TitlesOfParts>
    <vt:vector size="49" baseType="lpstr">
      <vt:lpstr>Aptos</vt:lpstr>
      <vt:lpstr>Aptos Display</vt:lpstr>
      <vt:lpstr>Arial</vt:lpstr>
      <vt:lpstr>Carlito</vt:lpstr>
      <vt:lpstr>Courier New</vt:lpstr>
      <vt:lpstr>DejaVu Serif Condensed</vt:lpstr>
      <vt:lpstr>Helvetica Neue</vt:lpstr>
      <vt:lpstr>IBM Plex Sans</vt:lpstr>
      <vt:lpstr>IBM Plex Sans ExtLt</vt:lpstr>
      <vt:lpstr>IBM Plex Sans Light</vt:lpstr>
      <vt:lpstr>Lato</vt:lpstr>
      <vt:lpstr>Noto Sans Math</vt:lpstr>
      <vt:lpstr>Slack-Lato</vt:lpstr>
      <vt:lpstr>Trebuchet MS</vt:lpstr>
      <vt:lpstr>Verdana</vt:lpstr>
      <vt:lpstr>IBM presentation template</vt:lpstr>
      <vt:lpstr>1_Office Theme</vt:lpstr>
      <vt:lpstr>Watson X Governance </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ROUGE-2, ROUGE-L, ROUGE-N score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Garrett Young</dc:creator>
  <cp:lastModifiedBy>Garrett Young</cp:lastModifiedBy>
  <cp:revision>23</cp:revision>
  <dcterms:created xsi:type="dcterms:W3CDTF">2024-10-04T15:15:37Z</dcterms:created>
  <dcterms:modified xsi:type="dcterms:W3CDTF">2024-10-23T16:45:45Z</dcterms:modified>
</cp:coreProperties>
</file>